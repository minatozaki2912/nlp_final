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04" r:id="rId3"/>
    <p:sldId id="380" r:id="rId4"/>
    <p:sldId id="379" r:id="rId5"/>
    <p:sldId id="442" r:id="rId6"/>
    <p:sldId id="402" r:id="rId7"/>
    <p:sldId id="429" r:id="rId8"/>
    <p:sldId id="430" r:id="rId9"/>
    <p:sldId id="450" r:id="rId10"/>
    <p:sldId id="431" r:id="rId11"/>
    <p:sldId id="451" r:id="rId12"/>
    <p:sldId id="432" r:id="rId13"/>
    <p:sldId id="452" r:id="rId14"/>
    <p:sldId id="454" r:id="rId15"/>
    <p:sldId id="453" r:id="rId16"/>
    <p:sldId id="455" r:id="rId17"/>
    <p:sldId id="456" r:id="rId18"/>
    <p:sldId id="457" r:id="rId19"/>
    <p:sldId id="404" r:id="rId20"/>
    <p:sldId id="419" r:id="rId21"/>
    <p:sldId id="420" r:id="rId22"/>
    <p:sldId id="421" r:id="rId23"/>
    <p:sldId id="433" r:id="rId24"/>
    <p:sldId id="458" r:id="rId25"/>
    <p:sldId id="434" r:id="rId26"/>
    <p:sldId id="436" r:id="rId27"/>
    <p:sldId id="437" r:id="rId28"/>
    <p:sldId id="438" r:id="rId29"/>
    <p:sldId id="459" r:id="rId30"/>
    <p:sldId id="439" r:id="rId31"/>
    <p:sldId id="441" r:id="rId32"/>
    <p:sldId id="440" r:id="rId33"/>
    <p:sldId id="403" r:id="rId34"/>
    <p:sldId id="422" r:id="rId35"/>
    <p:sldId id="424" r:id="rId36"/>
    <p:sldId id="447" r:id="rId37"/>
    <p:sldId id="448" r:id="rId38"/>
    <p:sldId id="425" r:id="rId39"/>
    <p:sldId id="423" r:id="rId40"/>
    <p:sldId id="426" r:id="rId41"/>
    <p:sldId id="449" r:id="rId42"/>
    <p:sldId id="427" r:id="rId43"/>
    <p:sldId id="428" r:id="rId44"/>
    <p:sldId id="443" r:id="rId45"/>
    <p:sldId id="444" r:id="rId46"/>
    <p:sldId id="445" r:id="rId47"/>
    <p:sldId id="446" r:id="rId48"/>
    <p:sldId id="305"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3" d="100"/>
          <a:sy n="153" d="100"/>
        </p:scale>
        <p:origin x="203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11/30/2025</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27530"/>
            <a:ext cx="9144000" cy="805180"/>
          </a:xfrm>
        </p:spPr>
        <p:txBody>
          <a:bodyPr/>
          <a:lstStyle/>
          <a:p>
            <a:r>
              <a:rPr lang="en-US" sz="44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BÁO CÁO 	CUỐI KÌ</a:t>
            </a:r>
          </a:p>
        </p:txBody>
      </p:sp>
      <p:sp>
        <p:nvSpPr>
          <p:cNvPr id="3" name="Subtitle 2"/>
          <p:cNvSpPr>
            <a:spLocks noGrp="1"/>
          </p:cNvSpPr>
          <p:nvPr>
            <p:ph type="subTitle" idx="1"/>
          </p:nvPr>
        </p:nvSpPr>
        <p:spPr>
          <a:xfrm>
            <a:off x="0" y="3016885"/>
            <a:ext cx="9144000" cy="1042670"/>
          </a:xfrm>
        </p:spPr>
        <p:txBody>
          <a:bodyPr/>
          <a:lstStyle/>
          <a:p>
            <a:r>
              <a:rPr lang="en-US" sz="28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MÔN: </a:t>
            </a:r>
            <a:r>
              <a:rPr lang="en-US" sz="2800" b="1">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NATURAL LANGUAGE PROCESSING</a:t>
            </a:r>
            <a:endParaRPr lang="en-US" sz="28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endParaRPr lang="en-US" sz="28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p:txBody>
      </p:sp>
      <p:sp>
        <p:nvSpPr>
          <p:cNvPr id="5" name="Text Box 4"/>
          <p:cNvSpPr txBox="1"/>
          <p:nvPr/>
        </p:nvSpPr>
        <p:spPr>
          <a:xfrm>
            <a:off x="329205" y="4297680"/>
            <a:ext cx="8502733" cy="1077218"/>
          </a:xfrm>
          <a:prstGeom prst="rect">
            <a:avLst/>
          </a:prstGeom>
          <a:noFill/>
        </p:spPr>
        <p:txBody>
          <a:bodyPr wrap="square" rtlCol="0">
            <a:spAutoFit/>
          </a:bodyPr>
          <a:lstStyle/>
          <a:p>
            <a:pPr algn="ctr"/>
            <a:r>
              <a:rPr lang="en-US" sz="3200" b="1" err="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Đề</a:t>
            </a:r>
            <a:r>
              <a:rPr lang="en-US" sz="32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 </a:t>
            </a:r>
            <a:r>
              <a:rPr lang="en-US" sz="3200" b="1" err="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tài</a:t>
            </a:r>
            <a:r>
              <a:rPr lang="en-US" sz="32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Tìm</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hiểu</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fine-tune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và</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đánh</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giá</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mô</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hình</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Transformer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trên</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dữ</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liệu</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tiếng</a:t>
            </a:r>
            <a:r>
              <a:rPr lang="en-US" sz="3200" b="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 </a:t>
            </a:r>
            <a:r>
              <a:rPr lang="en-US" sz="3200" b="1"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charset="0"/>
              </a:rPr>
              <a:t>việt</a:t>
            </a:r>
            <a:r>
              <a:rPr lang="en-US" sz="28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t>
            </a:r>
          </a:p>
        </p:txBody>
      </p:sp>
      <p:pic>
        <p:nvPicPr>
          <p:cNvPr id="100" name="Picture 99"/>
          <p:cNvPicPr/>
          <p:nvPr/>
        </p:nvPicPr>
        <p:blipFill>
          <a:blip r:embed="rId2"/>
          <a:stretch>
            <a:fillRect/>
          </a:stretch>
        </p:blipFill>
        <p:spPr>
          <a:xfrm>
            <a:off x="3586480" y="288925"/>
            <a:ext cx="1988185" cy="1253490"/>
          </a:xfrm>
          <a:prstGeom prst="rect">
            <a:avLst/>
          </a:prstGeom>
          <a:noFill/>
          <a:ln w="9525">
            <a:noFill/>
          </a:ln>
        </p:spPr>
      </p:pic>
      <p:sp>
        <p:nvSpPr>
          <p:cNvPr id="7" name="Rectangles 6"/>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4" name="Text Box 3"/>
          <p:cNvSpPr txBox="1"/>
          <p:nvPr/>
        </p:nvSpPr>
        <p:spPr>
          <a:xfrm>
            <a:off x="5111115" y="6080760"/>
            <a:ext cx="4337050" cy="368300"/>
          </a:xfrm>
          <a:prstGeom prst="rect">
            <a:avLst/>
          </a:prstGeom>
          <a:noFill/>
        </p:spPr>
        <p:txBody>
          <a:bodyPr wrap="square" rtlCol="0">
            <a:spAutoFit/>
          </a:bodyPr>
          <a:lstStyle/>
          <a:p>
            <a:r>
              <a:rPr lang="en-US" err="1"/>
              <a:t>Người</a:t>
            </a:r>
            <a:r>
              <a:rPr lang="en-US"/>
              <a:t> </a:t>
            </a:r>
            <a:r>
              <a:rPr lang="en-US" err="1"/>
              <a:t>hướng</a:t>
            </a:r>
            <a:r>
              <a:rPr lang="en-US"/>
              <a:t> </a:t>
            </a:r>
            <a:r>
              <a:rPr lang="en-US" err="1"/>
              <a:t>dẫn</a:t>
            </a:r>
            <a:r>
              <a:rPr lang="en-US"/>
              <a:t>: PGS TS. Lê Anh </a:t>
            </a:r>
            <a:r>
              <a:rPr lang="en-US" err="1"/>
              <a:t>Cường</a:t>
            </a:r>
            <a:endParaRPr 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latin typeface="Times New Roman" panose="02020603050405020304" charset="0"/>
                <a:cs typeface="Times New Roman" panose="02020603050405020304" charset="0"/>
              </a:rPr>
              <a:t>Thành</a:t>
            </a:r>
            <a:r>
              <a:rPr lang="en-US">
                <a:latin typeface="Times New Roman" panose="02020603050405020304" charset="0"/>
                <a:cs typeface="Times New Roman" panose="02020603050405020304" charset="0"/>
              </a:rPr>
              <a:t> </a:t>
            </a:r>
            <a:r>
              <a:rPr lang="en-US" err="1">
                <a:latin typeface="Times New Roman" panose="02020603050405020304" charset="0"/>
                <a:cs typeface="Times New Roman" panose="02020603050405020304" charset="0"/>
              </a:rPr>
              <a:t>viên</a:t>
            </a:r>
            <a:r>
              <a:rPr lang="en-US">
                <a:latin typeface="Times New Roman" panose="02020603050405020304" charset="0"/>
                <a:cs typeface="Times New Roman" panose="02020603050405020304" charset="0"/>
              </a:rPr>
              <a:t> </a:t>
            </a:r>
            <a:r>
              <a:rPr lang="en-US" err="1">
                <a:latin typeface="Times New Roman" panose="02020603050405020304" charset="0"/>
                <a:cs typeface="Times New Roman" panose="02020603050405020304" charset="0"/>
              </a:rPr>
              <a:t>nhóm</a:t>
            </a:r>
            <a:endParaRPr lang="en-US">
              <a:latin typeface="Times New Roman" panose="02020603050405020304" charset="0"/>
              <a:cs typeface="Times New Roman" panose="0202060305040502030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3068937"/>
              </p:ext>
            </p:extLst>
          </p:nvPr>
        </p:nvGraphicFramePr>
        <p:xfrm>
          <a:off x="628650" y="2903220"/>
          <a:ext cx="7886700" cy="1538224"/>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384556">
                <a:tc>
                  <a:txBody>
                    <a:bodyPr/>
                    <a:lstStyle/>
                    <a:p>
                      <a:pPr algn="ctr">
                        <a:buNone/>
                      </a:pPr>
                      <a:r>
                        <a:rPr lang="en-US" err="1"/>
                        <a:t>Thành</a:t>
                      </a:r>
                      <a:r>
                        <a:rPr lang="en-US"/>
                        <a:t> </a:t>
                      </a:r>
                      <a:r>
                        <a:rPr lang="en-US" err="1"/>
                        <a:t>viên</a:t>
                      </a:r>
                      <a:endParaRPr lang="en-US"/>
                    </a:p>
                  </a:txBody>
                  <a:tcPr anchor="ctr"/>
                </a:tc>
                <a:tc>
                  <a:txBody>
                    <a:bodyPr/>
                    <a:lstStyle/>
                    <a:p>
                      <a:pPr algn="ctr">
                        <a:buNone/>
                      </a:pPr>
                      <a:r>
                        <a:rPr lang="en-US" err="1"/>
                        <a:t>Mã</a:t>
                      </a:r>
                      <a:r>
                        <a:rPr lang="en-US"/>
                        <a:t> </a:t>
                      </a:r>
                      <a:r>
                        <a:rPr lang="en-US" err="1"/>
                        <a:t>số</a:t>
                      </a:r>
                      <a:r>
                        <a:rPr lang="en-US"/>
                        <a:t> </a:t>
                      </a:r>
                      <a:r>
                        <a:rPr lang="en-US" err="1"/>
                        <a:t>sinh</a:t>
                      </a:r>
                      <a:r>
                        <a:rPr lang="en-US"/>
                        <a:t> </a:t>
                      </a:r>
                      <a:r>
                        <a:rPr lang="en-US" err="1"/>
                        <a:t>viên</a:t>
                      </a:r>
                      <a:endParaRPr lang="en-US"/>
                    </a:p>
                  </a:txBody>
                  <a:tcPr anchor="ctr"/>
                </a:tc>
                <a:extLst>
                  <a:ext uri="{0D108BD9-81ED-4DB2-BD59-A6C34878D82A}">
                    <a16:rowId xmlns:a16="http://schemas.microsoft.com/office/drawing/2014/main" val="10000"/>
                  </a:ext>
                </a:extLst>
              </a:tr>
              <a:tr h="384556">
                <a:tc>
                  <a:txBody>
                    <a:bodyPr/>
                    <a:lstStyle/>
                    <a:p>
                      <a:pPr algn="ctr">
                        <a:buNone/>
                      </a:pPr>
                      <a:r>
                        <a:rPr lang="en-US"/>
                        <a:t>Lê </a:t>
                      </a:r>
                      <a:r>
                        <a:rPr lang="en-US" err="1"/>
                        <a:t>Ngọc</a:t>
                      </a:r>
                      <a:r>
                        <a:rPr lang="en-US"/>
                        <a:t> </a:t>
                      </a:r>
                      <a:r>
                        <a:rPr lang="en-US" err="1"/>
                        <a:t>Sơn</a:t>
                      </a:r>
                      <a:endParaRPr lang="en-US"/>
                    </a:p>
                  </a:txBody>
                  <a:tcPr anchor="ctr"/>
                </a:tc>
                <a:tc>
                  <a:txBody>
                    <a:bodyPr/>
                    <a:lstStyle/>
                    <a:p>
                      <a:pPr algn="ctr">
                        <a:buNone/>
                      </a:pPr>
                      <a:r>
                        <a:rPr lang="en-US"/>
                        <a:t>52200158</a:t>
                      </a:r>
                    </a:p>
                  </a:txBody>
                  <a:tcPr anchor="ctr"/>
                </a:tc>
                <a:extLst>
                  <a:ext uri="{0D108BD9-81ED-4DB2-BD59-A6C34878D82A}">
                    <a16:rowId xmlns:a16="http://schemas.microsoft.com/office/drawing/2014/main" val="10001"/>
                  </a:ext>
                </a:extLst>
              </a:tr>
              <a:tr h="384556">
                <a:tc>
                  <a:txBody>
                    <a:bodyPr/>
                    <a:lstStyle/>
                    <a:p>
                      <a:pPr algn="ctr">
                        <a:buNone/>
                      </a:pPr>
                      <a:r>
                        <a:rPr lang="en-US"/>
                        <a:t>Lê </a:t>
                      </a:r>
                      <a:r>
                        <a:rPr lang="en-US" err="1"/>
                        <a:t>Huỳnh</a:t>
                      </a:r>
                      <a:r>
                        <a:rPr lang="en-US"/>
                        <a:t> </a:t>
                      </a:r>
                      <a:r>
                        <a:rPr lang="en-US" err="1"/>
                        <a:t>Quý</a:t>
                      </a:r>
                      <a:r>
                        <a:rPr lang="en-US"/>
                        <a:t> </a:t>
                      </a:r>
                    </a:p>
                  </a:txBody>
                  <a:tcPr anchor="ctr"/>
                </a:tc>
                <a:tc>
                  <a:txBody>
                    <a:bodyPr/>
                    <a:lstStyle/>
                    <a:p>
                      <a:pPr algn="ctr">
                        <a:buNone/>
                      </a:pPr>
                      <a:r>
                        <a:rPr lang="en-US"/>
                        <a:t>52200157</a:t>
                      </a:r>
                    </a:p>
                  </a:txBody>
                  <a:tcPr anchor="ctr"/>
                </a:tc>
                <a:extLst>
                  <a:ext uri="{0D108BD9-81ED-4DB2-BD59-A6C34878D82A}">
                    <a16:rowId xmlns:a16="http://schemas.microsoft.com/office/drawing/2014/main" val="10002"/>
                  </a:ext>
                </a:extLst>
              </a:tr>
              <a:tr h="384556">
                <a:tc>
                  <a:txBody>
                    <a:bodyPr/>
                    <a:lstStyle/>
                    <a:p>
                      <a:pPr algn="ctr">
                        <a:buNone/>
                      </a:pPr>
                      <a:r>
                        <a:rPr lang="en-US"/>
                        <a:t>Lê </a:t>
                      </a:r>
                      <a:r>
                        <a:rPr lang="en-US" err="1"/>
                        <a:t>Nguyễn</a:t>
                      </a:r>
                      <a:r>
                        <a:rPr lang="en-US"/>
                        <a:t> </a:t>
                      </a:r>
                      <a:r>
                        <a:rPr lang="en-US" err="1"/>
                        <a:t>Hoàng</a:t>
                      </a:r>
                      <a:r>
                        <a:rPr lang="en-US"/>
                        <a:t> </a:t>
                      </a:r>
                      <a:r>
                        <a:rPr lang="en-US" err="1"/>
                        <a:t>Vương</a:t>
                      </a:r>
                      <a:r>
                        <a:rPr lang="en-US"/>
                        <a:t> </a:t>
                      </a:r>
                    </a:p>
                  </a:txBody>
                  <a:tcPr anchor="ctr"/>
                </a:tc>
                <a:tc>
                  <a:txBody>
                    <a:bodyPr/>
                    <a:lstStyle/>
                    <a:p>
                      <a:pPr algn="ctr">
                        <a:buNone/>
                      </a:pPr>
                      <a:r>
                        <a:rPr lang="en-US"/>
                        <a:t>52200159</a:t>
                      </a:r>
                    </a:p>
                  </a:txBody>
                  <a:tcPr anchor="ctr"/>
                </a:tc>
                <a:extLst>
                  <a:ext uri="{0D108BD9-81ED-4DB2-BD59-A6C34878D82A}">
                    <a16:rowId xmlns:a16="http://schemas.microsoft.com/office/drawing/2014/main" val="10003"/>
                  </a:ext>
                </a:extLst>
              </a:tr>
            </a:tbl>
          </a:graphicData>
        </a:graphic>
      </p:graphicFrame>
      <p:pic>
        <p:nvPicPr>
          <p:cNvPr id="100" name="Picture 99"/>
          <p:cNvPicPr/>
          <p:nvPr/>
        </p:nvPicPr>
        <p:blipFill>
          <a:blip r:embed="rId2"/>
          <a:stretch>
            <a:fillRect/>
          </a:stretch>
        </p:blipFill>
        <p:spPr>
          <a:xfrm>
            <a:off x="7622540" y="88900"/>
            <a:ext cx="1440180" cy="935355"/>
          </a:xfrm>
          <a:prstGeom prst="rect">
            <a:avLst/>
          </a:prstGeom>
          <a:noFill/>
          <a:ln w="9525">
            <a:noFill/>
          </a:ln>
        </p:spPr>
      </p:pic>
      <p:sp>
        <p:nvSpPr>
          <p:cNvPr id="6" name="Rectangles 5"/>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4" name="Rectangles 3"/>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err="1">
                <a:latin typeface="Times New Roman" panose="02020603050405020304" charset="0"/>
                <a:cs typeface="Times New Roman" panose="02020603050405020304" charset="0"/>
              </a:rPr>
              <a:t>Giới</a:t>
            </a:r>
            <a:r>
              <a:rPr lang="en-US">
                <a:latin typeface="Times New Roman" panose="02020603050405020304" charset="0"/>
                <a:cs typeface="Times New Roman" panose="02020603050405020304" charset="0"/>
              </a:rPr>
              <a:t> </a:t>
            </a:r>
            <a:r>
              <a:rPr lang="en-US" err="1">
                <a:latin typeface="Times New Roman" panose="02020603050405020304" charset="0"/>
                <a:cs typeface="Times New Roman" panose="02020603050405020304" charset="0"/>
              </a:rPr>
              <a:t>thiệu</a:t>
            </a:r>
            <a:r>
              <a:rPr lang="en-US">
                <a:latin typeface="Times New Roman" panose="02020603050405020304" charset="0"/>
                <a:cs typeface="Times New Roman" panose="02020603050405020304" charset="0"/>
              </a:rPr>
              <a:t> </a:t>
            </a:r>
            <a:r>
              <a:rPr lang="en-US" err="1">
                <a:latin typeface="Times New Roman" panose="02020603050405020304" charset="0"/>
                <a:cs typeface="Times New Roman" panose="02020603050405020304" charset="0"/>
              </a:rPr>
              <a:t>nội</a:t>
            </a:r>
            <a:r>
              <a:rPr lang="en-US">
                <a:latin typeface="Times New Roman" panose="02020603050405020304" charset="0"/>
                <a:cs typeface="Times New Roman" panose="02020603050405020304" charset="0"/>
              </a:rPr>
              <a:t> dung</a:t>
            </a:r>
          </a:p>
        </p:txBody>
      </p:sp>
      <p:sp>
        <p:nvSpPr>
          <p:cNvPr id="3" name="Content Placeholder 2"/>
          <p:cNvSpPr>
            <a:spLocks noGrp="1"/>
          </p:cNvSpPr>
          <p:nvPr>
            <p:ph idx="1"/>
          </p:nvPr>
        </p:nvSpPr>
        <p:spPr/>
        <p:txBody>
          <a:bodyPr vert="horz" lIns="91440" tIns="45720" rIns="91440" bIns="45720" rtlCol="0" anchor="t">
            <a:normAutofit/>
          </a:bodyPr>
          <a:lstStyle/>
          <a:p>
            <a:r>
              <a:rPr lang="en-US" err="1">
                <a:solidFill>
                  <a:srgbClr val="373A3C"/>
                </a:solidFill>
                <a:latin typeface="Times New Roman"/>
                <a:cs typeface="Times New Roman"/>
              </a:rPr>
              <a:t>Tổng</a:t>
            </a:r>
            <a:r>
              <a:rPr lang="en-US">
                <a:solidFill>
                  <a:srgbClr val="373A3C"/>
                </a:solidFill>
                <a:latin typeface="Times New Roman"/>
                <a:cs typeface="Times New Roman"/>
              </a:rPr>
              <a:t> </a:t>
            </a:r>
            <a:r>
              <a:rPr lang="en-US" err="1">
                <a:solidFill>
                  <a:srgbClr val="373A3C"/>
                </a:solidFill>
                <a:latin typeface="Times New Roman"/>
                <a:cs typeface="Times New Roman"/>
              </a:rPr>
              <a:t>quan</a:t>
            </a:r>
            <a:r>
              <a:rPr lang="en-US">
                <a:solidFill>
                  <a:srgbClr val="373A3C"/>
                </a:solidFill>
                <a:latin typeface="Times New Roman"/>
                <a:cs typeface="Times New Roman"/>
              </a:rPr>
              <a:t> </a:t>
            </a:r>
            <a:r>
              <a:rPr lang="en-US" err="1">
                <a:solidFill>
                  <a:srgbClr val="373A3C"/>
                </a:solidFill>
                <a:latin typeface="Times New Roman"/>
                <a:cs typeface="Times New Roman"/>
              </a:rPr>
              <a:t>về</a:t>
            </a:r>
            <a:r>
              <a:rPr lang="en-US">
                <a:solidFill>
                  <a:srgbClr val="373A3C"/>
                </a:solidFill>
                <a:latin typeface="Times New Roman"/>
                <a:cs typeface="Times New Roman"/>
              </a:rPr>
              <a:t> </a:t>
            </a:r>
            <a:r>
              <a:rPr lang="en-US" err="1">
                <a:solidFill>
                  <a:srgbClr val="373A3C"/>
                </a:solidFill>
                <a:latin typeface="Times New Roman"/>
                <a:cs typeface="Times New Roman"/>
              </a:rPr>
              <a:t>mô</a:t>
            </a:r>
            <a:r>
              <a:rPr lang="en-US">
                <a:solidFill>
                  <a:srgbClr val="373A3C"/>
                </a:solidFill>
                <a:latin typeface="Times New Roman"/>
                <a:cs typeface="Times New Roman"/>
              </a:rPr>
              <a:t> </a:t>
            </a:r>
            <a:r>
              <a:rPr lang="en-US" err="1">
                <a:solidFill>
                  <a:srgbClr val="373A3C"/>
                </a:solidFill>
                <a:latin typeface="Times New Roman"/>
                <a:cs typeface="Times New Roman"/>
              </a:rPr>
              <a:t>hình</a:t>
            </a:r>
            <a:r>
              <a:rPr lang="en-US">
                <a:solidFill>
                  <a:srgbClr val="373A3C"/>
                </a:solidFill>
                <a:latin typeface="Times New Roman"/>
                <a:cs typeface="Times New Roman"/>
              </a:rPr>
              <a:t> Transformer</a:t>
            </a:r>
            <a:endParaRPr lang="en-US" b="0" i="0">
              <a:solidFill>
                <a:srgbClr val="373A3C"/>
              </a:solidFill>
              <a:effectLst/>
              <a:latin typeface="Times New Roman" panose="02020603050405020304" pitchFamily="18" charset="0"/>
              <a:cs typeface="Times New Roman" panose="02020603050405020304" pitchFamily="18" charset="0"/>
            </a:endParaRPr>
          </a:p>
          <a:p>
            <a:r>
              <a:rPr lang="en-US">
                <a:solidFill>
                  <a:srgbClr val="373A3C"/>
                </a:solidFill>
                <a:latin typeface="Times New Roman"/>
                <a:cs typeface="Times New Roman"/>
              </a:rPr>
              <a:t>Encoder-only</a:t>
            </a:r>
            <a:endParaRPr lang="en-US">
              <a:solidFill>
                <a:srgbClr val="373A3C"/>
              </a:solidFill>
              <a:latin typeface="Times New Roman" panose="02020603050405020304" pitchFamily="18" charset="0"/>
              <a:cs typeface="Times New Roman" panose="02020603050405020304" pitchFamily="18" charset="0"/>
            </a:endParaRPr>
          </a:p>
          <a:p>
            <a:r>
              <a:rPr lang="en-US">
                <a:solidFill>
                  <a:srgbClr val="373A3C"/>
                </a:solidFill>
                <a:latin typeface="Times New Roman"/>
                <a:cs typeface="Times New Roman"/>
              </a:rPr>
              <a:t>Decoder-only</a:t>
            </a:r>
          </a:p>
          <a:p>
            <a:r>
              <a:rPr lang="en-US">
                <a:solidFill>
                  <a:srgbClr val="373A3C"/>
                </a:solidFill>
                <a:latin typeface="Times New Roman"/>
                <a:cs typeface="Times New Roman"/>
              </a:rPr>
              <a:t>Encoder-Decoder</a:t>
            </a:r>
          </a:p>
          <a:p>
            <a:r>
              <a:rPr lang="en-US" err="1">
                <a:solidFill>
                  <a:srgbClr val="373A3C"/>
                </a:solidFill>
                <a:latin typeface="Times New Roman"/>
                <a:cs typeface="Times New Roman"/>
              </a:rPr>
              <a:t>Phân</a:t>
            </a:r>
            <a:r>
              <a:rPr lang="en-US">
                <a:solidFill>
                  <a:srgbClr val="373A3C"/>
                </a:solidFill>
                <a:latin typeface="Times New Roman"/>
                <a:cs typeface="Times New Roman"/>
              </a:rPr>
              <a:t> </a:t>
            </a:r>
            <a:r>
              <a:rPr lang="en-US" err="1">
                <a:solidFill>
                  <a:srgbClr val="373A3C"/>
                </a:solidFill>
                <a:latin typeface="Times New Roman"/>
                <a:cs typeface="Times New Roman"/>
              </a:rPr>
              <a:t>tích</a:t>
            </a:r>
            <a:r>
              <a:rPr lang="en-US">
                <a:solidFill>
                  <a:srgbClr val="373A3C"/>
                </a:solidFill>
                <a:latin typeface="Times New Roman"/>
                <a:cs typeface="Times New Roman"/>
              </a:rPr>
              <a:t> </a:t>
            </a:r>
            <a:r>
              <a:rPr lang="en-US" err="1">
                <a:solidFill>
                  <a:srgbClr val="373A3C"/>
                </a:solidFill>
                <a:latin typeface="Times New Roman"/>
                <a:cs typeface="Times New Roman"/>
              </a:rPr>
              <a:t>thực</a:t>
            </a:r>
            <a:r>
              <a:rPr lang="en-US">
                <a:solidFill>
                  <a:srgbClr val="373A3C"/>
                </a:solidFill>
                <a:latin typeface="Times New Roman"/>
                <a:cs typeface="Times New Roman"/>
              </a:rPr>
              <a:t> </a:t>
            </a:r>
            <a:r>
              <a:rPr lang="en-US" err="1">
                <a:solidFill>
                  <a:srgbClr val="373A3C"/>
                </a:solidFill>
                <a:latin typeface="Times New Roman"/>
                <a:cs typeface="Times New Roman"/>
              </a:rPr>
              <a:t>nghiệm</a:t>
            </a:r>
            <a:r>
              <a:rPr lang="en-US">
                <a:solidFill>
                  <a:srgbClr val="373A3C"/>
                </a:solidFill>
                <a:latin typeface="Times New Roman"/>
                <a:cs typeface="Times New Roman"/>
              </a:rPr>
              <a:t> </a:t>
            </a:r>
            <a:r>
              <a:rPr lang="en-US" err="1">
                <a:solidFill>
                  <a:srgbClr val="373A3C"/>
                </a:solidFill>
                <a:latin typeface="Times New Roman"/>
                <a:cs typeface="Times New Roman"/>
              </a:rPr>
              <a:t>và</a:t>
            </a:r>
            <a:r>
              <a:rPr lang="en-US">
                <a:solidFill>
                  <a:srgbClr val="373A3C"/>
                </a:solidFill>
                <a:latin typeface="Times New Roman"/>
                <a:cs typeface="Times New Roman"/>
              </a:rPr>
              <a:t> </a:t>
            </a:r>
            <a:r>
              <a:rPr lang="en-US" err="1">
                <a:solidFill>
                  <a:srgbClr val="373A3C"/>
                </a:solidFill>
                <a:latin typeface="Times New Roman"/>
                <a:cs typeface="Times New Roman"/>
              </a:rPr>
              <a:t>kết</a:t>
            </a:r>
            <a:r>
              <a:rPr lang="en-US">
                <a:solidFill>
                  <a:srgbClr val="373A3C"/>
                </a:solidFill>
                <a:latin typeface="Times New Roman"/>
                <a:cs typeface="Times New Roman"/>
              </a:rPr>
              <a:t> </a:t>
            </a:r>
            <a:r>
              <a:rPr lang="en-US" err="1">
                <a:solidFill>
                  <a:srgbClr val="373A3C"/>
                </a:solidFill>
                <a:latin typeface="Times New Roman"/>
                <a:cs typeface="Times New Roman"/>
              </a:rPr>
              <a:t>luận</a:t>
            </a:r>
            <a:endParaRPr lang="en-US" err="1">
              <a:solidFill>
                <a:srgbClr val="000000"/>
              </a:solidFill>
              <a:latin typeface="Times New Roman"/>
              <a:cs typeface="Times New Roman"/>
            </a:endParaRPr>
          </a:p>
          <a:p>
            <a:endParaRPr lang="en-US">
              <a:solidFill>
                <a:srgbClr val="373A3C"/>
              </a:solidFill>
              <a:latin typeface="Times New Roman" panose="02020603050405020304" pitchFamily="18" charset="0"/>
              <a:cs typeface="Times New Roman" panose="02020603050405020304" pitchFamily="18" charset="0"/>
            </a:endParaRPr>
          </a:p>
          <a:p>
            <a:endParaRPr lang="en-US">
              <a:solidFill>
                <a:srgbClr val="373A3C"/>
              </a:solidFill>
              <a:latin typeface="Times New Roman" panose="02020603050405020304" pitchFamily="18" charset="0"/>
              <a:cs typeface="Times New Roman" panose="02020603050405020304" pitchFamily="18" charset="0"/>
            </a:endParaRPr>
          </a:p>
        </p:txBody>
      </p:sp>
      <p:pic>
        <p:nvPicPr>
          <p:cNvPr id="100" name="Picture 99"/>
          <p:cNvPicPr/>
          <p:nvPr/>
        </p:nvPicPr>
        <p:blipFill>
          <a:blip r:embed="rId2"/>
          <a:stretch>
            <a:fillRect/>
          </a:stretch>
        </p:blipFill>
        <p:spPr>
          <a:xfrm>
            <a:off x="7622540" y="88900"/>
            <a:ext cx="1440180" cy="935355"/>
          </a:xfrm>
          <a:prstGeom prst="rect">
            <a:avLst/>
          </a:prstGeom>
          <a:noFill/>
          <a:ln w="9525">
            <a:noFill/>
          </a:ln>
        </p:spPr>
      </p:pic>
      <p:sp>
        <p:nvSpPr>
          <p:cNvPr id="6" name="Rectangles 5"/>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4" name="Rectangles 3"/>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10665"/>
            <a:ext cx="9143365" cy="5177155"/>
          </a:xfrm>
        </p:spPr>
        <p:txBody>
          <a:bodyPr anchor="ctr" anchorCtr="0">
            <a:normAutofit/>
          </a:bodyPr>
          <a:lstStyle/>
          <a:p>
            <a:pPr algn="ctr"/>
            <a:r>
              <a:rPr lang="en-US" err="1">
                <a:solidFill>
                  <a:srgbClr val="373A3C"/>
                </a:solidFill>
                <a:latin typeface="Times New Roman"/>
                <a:cs typeface="Times New Roman"/>
              </a:rPr>
              <a:t>Tổng</a:t>
            </a:r>
            <a:r>
              <a:rPr lang="en-US">
                <a:solidFill>
                  <a:srgbClr val="373A3C"/>
                </a:solidFill>
                <a:latin typeface="Times New Roman"/>
                <a:cs typeface="Times New Roman"/>
              </a:rPr>
              <a:t> </a:t>
            </a:r>
            <a:r>
              <a:rPr lang="en-US" err="1">
                <a:solidFill>
                  <a:srgbClr val="373A3C"/>
                </a:solidFill>
                <a:latin typeface="Times New Roman"/>
                <a:cs typeface="Times New Roman"/>
              </a:rPr>
              <a:t>quan</a:t>
            </a:r>
            <a:r>
              <a:rPr lang="en-US">
                <a:solidFill>
                  <a:srgbClr val="373A3C"/>
                </a:solidFill>
                <a:latin typeface="Times New Roman"/>
                <a:cs typeface="Times New Roman"/>
              </a:rPr>
              <a:t> </a:t>
            </a:r>
            <a:r>
              <a:rPr lang="en-US" err="1">
                <a:solidFill>
                  <a:srgbClr val="373A3C"/>
                </a:solidFill>
                <a:latin typeface="Times New Roman"/>
                <a:cs typeface="Times New Roman"/>
              </a:rPr>
              <a:t>về</a:t>
            </a:r>
            <a:r>
              <a:rPr lang="en-US">
                <a:solidFill>
                  <a:srgbClr val="373A3C"/>
                </a:solidFill>
                <a:latin typeface="Times New Roman"/>
                <a:cs typeface="Times New Roman"/>
              </a:rPr>
              <a:t> </a:t>
            </a:r>
            <a:r>
              <a:rPr lang="en-US" err="1">
                <a:solidFill>
                  <a:srgbClr val="373A3C"/>
                </a:solidFill>
                <a:latin typeface="Times New Roman"/>
                <a:cs typeface="Times New Roman"/>
              </a:rPr>
              <a:t>mô</a:t>
            </a:r>
            <a:r>
              <a:rPr lang="en-US">
                <a:solidFill>
                  <a:srgbClr val="373A3C"/>
                </a:solidFill>
                <a:latin typeface="Times New Roman"/>
                <a:cs typeface="Times New Roman"/>
              </a:rPr>
              <a:t> </a:t>
            </a:r>
            <a:r>
              <a:rPr lang="en-US" err="1">
                <a:solidFill>
                  <a:srgbClr val="373A3C"/>
                </a:solidFill>
                <a:latin typeface="Times New Roman"/>
                <a:cs typeface="Times New Roman"/>
              </a:rPr>
              <a:t>hình</a:t>
            </a:r>
            <a:r>
              <a:rPr lang="en-US">
                <a:solidFill>
                  <a:srgbClr val="373A3C"/>
                </a:solidFill>
                <a:latin typeface="Times New Roman"/>
                <a:cs typeface="Times New Roman"/>
              </a:rPr>
              <a:t> Transformer</a:t>
            </a:r>
            <a:endParaRPr lang="vi-VN"/>
          </a:p>
        </p:txBody>
      </p:sp>
      <p:pic>
        <p:nvPicPr>
          <p:cNvPr id="100" name="Picture 99"/>
          <p:cNvPicPr/>
          <p:nvPr/>
        </p:nvPicPr>
        <p:blipFill>
          <a:blip r:embed="rId2"/>
          <a:stretch>
            <a:fillRect/>
          </a:stretch>
        </p:blipFill>
        <p:spPr>
          <a:xfrm>
            <a:off x="7622540" y="88900"/>
            <a:ext cx="1440180" cy="935355"/>
          </a:xfrm>
          <a:prstGeom prst="rect">
            <a:avLst/>
          </a:prstGeom>
          <a:noFill/>
          <a:ln w="9525">
            <a:noFill/>
          </a:ln>
        </p:spPr>
      </p:pic>
      <p:sp>
        <p:nvSpPr>
          <p:cNvPr id="4" name="Text Box 3"/>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2437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8B1BD-519E-2211-6BFB-78DF18B736BF}"/>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5DEE19B7-BF71-194B-CB75-DBE510D9AB5C}"/>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2A990D74-0BD8-6497-5B42-047B73DDB37A}"/>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C2079696-88B5-4A4D-697D-13FD75745C0B}"/>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44DE2EDE-AF41-58D4-183C-FBAC6933FF6C}"/>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7691C9CD-B96F-A462-DF6D-BBD6CC7C96E5}"/>
              </a:ext>
            </a:extLst>
          </p:cNvPr>
          <p:cNvSpPr>
            <a:spLocks noGrp="1"/>
          </p:cNvSpPr>
          <p:nvPr>
            <p:ph type="title"/>
          </p:nvPr>
        </p:nvSpPr>
        <p:spPr>
          <a:xfrm>
            <a:off x="-2415" y="10956"/>
            <a:ext cx="7886700" cy="1325563"/>
          </a:xfrm>
        </p:spPr>
        <p:txBody>
          <a:bodyPr/>
          <a:lstStyle/>
          <a:p>
            <a:r>
              <a:rPr lang="vi-VN" sz="4000">
                <a:latin typeface="Times New Roman"/>
                <a:ea typeface="+mj-lt"/>
                <a:cs typeface="Times New Roman"/>
              </a:rPr>
              <a:t>Giới thiệu mô hình Transformer</a:t>
            </a:r>
            <a:endParaRPr lang="vi-VN">
              <a:latin typeface="Times New Roman"/>
              <a:cs typeface="Times New Roman"/>
            </a:endParaRPr>
          </a:p>
        </p:txBody>
      </p:sp>
      <p:sp>
        <p:nvSpPr>
          <p:cNvPr id="9" name="Content Placeholder 2">
            <a:extLst>
              <a:ext uri="{FF2B5EF4-FFF2-40B4-BE49-F238E27FC236}">
                <a16:creationId xmlns:a16="http://schemas.microsoft.com/office/drawing/2014/main" id="{0C22579F-B166-FA67-82FA-1600A50E0B7C}"/>
              </a:ext>
            </a:extLst>
          </p:cNvPr>
          <p:cNvSpPr>
            <a:spLocks noGrp="1"/>
          </p:cNvSpPr>
          <p:nvPr>
            <p:ph idx="1"/>
          </p:nvPr>
        </p:nvSpPr>
        <p:spPr>
          <a:xfrm>
            <a:off x="-2415" y="1582094"/>
            <a:ext cx="9148829" cy="5188464"/>
          </a:xfrm>
        </p:spPr>
        <p:txBody>
          <a:bodyPr vert="horz" lIns="91440" tIns="45720" rIns="91440" bIns="45720" rtlCol="0" anchor="t">
            <a:normAutofit/>
          </a:bodyPr>
          <a:lstStyle/>
          <a:p>
            <a:pPr>
              <a:buFont typeface="Arial"/>
              <a:buChar char="•"/>
            </a:pPr>
            <a:r>
              <a:rPr lang="en-US" sz="1800" b="1">
                <a:solidFill>
                  <a:srgbClr val="373A3C"/>
                </a:solidFill>
                <a:ea typeface="+mn-lt"/>
                <a:cs typeface="+mn-lt"/>
              </a:rPr>
              <a:t>Sự ra đời &amp; Đột phá:</a:t>
            </a:r>
            <a:endParaRPr lang="vi-VN" sz="1800">
              <a:solidFill>
                <a:srgbClr val="000000"/>
              </a:solidFill>
              <a:latin typeface="Arial"/>
              <a:ea typeface="+mn-lt"/>
              <a:cs typeface="Arial"/>
            </a:endParaRPr>
          </a:p>
          <a:p>
            <a:pPr lvl="1" indent="-285750">
              <a:buFont typeface="Courier New"/>
              <a:buChar char="o"/>
            </a:pPr>
            <a:r>
              <a:rPr lang="en-US" sz="1800">
                <a:solidFill>
                  <a:srgbClr val="373A3C"/>
                </a:solidFill>
                <a:ea typeface="+mn-lt"/>
                <a:cs typeface="+mn-lt"/>
              </a:rPr>
              <a:t>Giới thiệu năm 2017 trong bài báo </a:t>
            </a:r>
            <a:r>
              <a:rPr lang="en-US" sz="1800" i="1">
                <a:solidFill>
                  <a:srgbClr val="373A3C"/>
                </a:solidFill>
                <a:ea typeface="+mn-lt"/>
                <a:cs typeface="+mn-lt"/>
              </a:rPr>
              <a:t>"Attention Is All You Need"</a:t>
            </a:r>
            <a:r>
              <a:rPr lang="en-US" sz="1800">
                <a:solidFill>
                  <a:srgbClr val="373A3C"/>
                </a:solidFill>
                <a:ea typeface="+mn-lt"/>
                <a:cs typeface="+mn-lt"/>
              </a:rPr>
              <a:t>.</a:t>
            </a:r>
            <a:endParaRPr lang="en-US" sz="1800">
              <a:ea typeface="Calibri"/>
              <a:cs typeface="Calibri"/>
            </a:endParaRPr>
          </a:p>
          <a:p>
            <a:pPr lvl="1" indent="-285750">
              <a:buFont typeface="Courier New"/>
              <a:buChar char="o"/>
            </a:pPr>
            <a:r>
              <a:rPr lang="en-US" sz="1800" b="1">
                <a:solidFill>
                  <a:srgbClr val="373A3C"/>
                </a:solidFill>
                <a:ea typeface="+mn-lt"/>
                <a:cs typeface="+mn-lt"/>
              </a:rPr>
              <a:t>Thay thế RNN/LSTM:</a:t>
            </a:r>
            <a:r>
              <a:rPr lang="en-US" sz="1800">
                <a:solidFill>
                  <a:srgbClr val="373A3C"/>
                </a:solidFill>
                <a:ea typeface="+mn-lt"/>
                <a:cs typeface="+mn-lt"/>
              </a:rPr>
              <a:t> Giải quyết triệt để hạn chế về xử lý tuần tự và mất mát thông tin trong chuỗi dài.</a:t>
            </a:r>
            <a:endParaRPr lang="vi-VN" sz="1800">
              <a:latin typeface="Arial"/>
              <a:ea typeface="+mn-lt"/>
              <a:cs typeface="Arial"/>
            </a:endParaRPr>
          </a:p>
          <a:p>
            <a:pPr lvl="1" indent="-285750">
              <a:buFont typeface="Courier New"/>
              <a:buChar char="o"/>
            </a:pPr>
            <a:r>
              <a:rPr lang="en-US" sz="1800" b="1">
                <a:solidFill>
                  <a:srgbClr val="373A3C"/>
                </a:solidFill>
                <a:ea typeface="+mn-lt"/>
                <a:cs typeface="+mn-lt"/>
              </a:rPr>
              <a:t>Ưu điểm:</a:t>
            </a:r>
            <a:r>
              <a:rPr lang="en-US" sz="1800">
                <a:solidFill>
                  <a:srgbClr val="373A3C"/>
                </a:solidFill>
                <a:ea typeface="+mn-lt"/>
                <a:cs typeface="+mn-lt"/>
              </a:rPr>
              <a:t> Cho phép huấn luyện song song (tốc độ cao) và học phụ thuộc dài hạn tốt hơn nhờ cơ chế Attention.</a:t>
            </a:r>
            <a:endParaRPr lang="en-US" sz="1800">
              <a:ea typeface="+mn-lt"/>
              <a:cs typeface="+mn-lt"/>
            </a:endParaRPr>
          </a:p>
          <a:p>
            <a:pPr>
              <a:buFont typeface="Arial"/>
              <a:buChar char="•"/>
            </a:pPr>
            <a:r>
              <a:rPr lang="en-US" sz="1800" b="1">
                <a:solidFill>
                  <a:srgbClr val="373A3C"/>
                </a:solidFill>
                <a:ea typeface="+mn-lt"/>
                <a:cs typeface="+mn-lt"/>
              </a:rPr>
              <a:t>Kiến trúc Cốt lõi:</a:t>
            </a:r>
            <a:endParaRPr lang="en-US" sz="1800">
              <a:ea typeface="Calibri"/>
              <a:cs typeface="Calibri"/>
            </a:endParaRPr>
          </a:p>
          <a:p>
            <a:pPr lvl="1" indent="-285750">
              <a:buFont typeface="Courier New"/>
              <a:buChar char="o"/>
            </a:pPr>
            <a:r>
              <a:rPr lang="en-US" sz="1800" b="1">
                <a:solidFill>
                  <a:srgbClr val="373A3C"/>
                </a:solidFill>
                <a:ea typeface="+mn-lt"/>
                <a:cs typeface="+mn-lt"/>
              </a:rPr>
              <a:t>Encoder:</a:t>
            </a:r>
            <a:r>
              <a:rPr lang="en-US" sz="1800">
                <a:solidFill>
                  <a:srgbClr val="373A3C"/>
                </a:solidFill>
                <a:ea typeface="+mn-lt"/>
                <a:cs typeface="+mn-lt"/>
              </a:rPr>
              <a:t> Mã hóa chuỗi đầu vào thành biểu diễn ngữ nghĩa (Dùng cho bài toán Hiểu ngôn ngữ - NLU).</a:t>
            </a:r>
            <a:endParaRPr lang="en-US" sz="1800">
              <a:ea typeface="Calibri"/>
              <a:cs typeface="Calibri"/>
            </a:endParaRPr>
          </a:p>
          <a:p>
            <a:pPr lvl="1" indent="-285750">
              <a:buFont typeface="Courier New"/>
              <a:buChar char="o"/>
            </a:pPr>
            <a:r>
              <a:rPr lang="en-US" sz="1800" b="1">
                <a:solidFill>
                  <a:srgbClr val="373A3C"/>
                </a:solidFill>
                <a:ea typeface="+mn-lt"/>
                <a:cs typeface="+mn-lt"/>
              </a:rPr>
              <a:t>Decoder:</a:t>
            </a:r>
            <a:r>
              <a:rPr lang="en-US" sz="1800">
                <a:solidFill>
                  <a:srgbClr val="373A3C"/>
                </a:solidFill>
                <a:ea typeface="+mn-lt"/>
                <a:cs typeface="+mn-lt"/>
              </a:rPr>
              <a:t> Giải mã vector ngữ nghĩa để sinh ra chuỗi kết quả (Dùng cho bài toán Sinh ngôn ngữ - NLG).</a:t>
            </a:r>
            <a:endParaRPr lang="en-US" sz="1800">
              <a:ea typeface="Calibri"/>
              <a:cs typeface="Calibri"/>
            </a:endParaRPr>
          </a:p>
          <a:p>
            <a:pPr lvl="1" indent="-285750">
              <a:buFont typeface="Courier New"/>
              <a:buChar char="o"/>
            </a:pPr>
            <a:r>
              <a:rPr lang="en-US" sz="1800" b="1">
                <a:solidFill>
                  <a:srgbClr val="373A3C"/>
                </a:solidFill>
                <a:ea typeface="+mn-lt"/>
                <a:cs typeface="+mn-lt"/>
              </a:rPr>
              <a:t>Self-Attention:</a:t>
            </a:r>
            <a:r>
              <a:rPr lang="en-US" sz="1800">
                <a:solidFill>
                  <a:srgbClr val="373A3C"/>
                </a:solidFill>
                <a:ea typeface="+mn-lt"/>
                <a:cs typeface="+mn-lt"/>
              </a:rPr>
              <a:t> Cơ chế trọng tâm giúp mô hình đánh giá mức độ quan trọng của các từ bất kể khoảng cách vị trí.</a:t>
            </a:r>
            <a:endParaRPr lang="en-US" sz="1800">
              <a:ea typeface="+mn-lt"/>
              <a:cs typeface="+mn-lt"/>
            </a:endParaRPr>
          </a:p>
          <a:p>
            <a:pPr>
              <a:buFont typeface="Arial"/>
              <a:buChar char="•"/>
            </a:pPr>
            <a:r>
              <a:rPr lang="en-US" sz="1800" b="1">
                <a:solidFill>
                  <a:srgbClr val="373A3C"/>
                </a:solidFill>
                <a:ea typeface="+mn-lt"/>
                <a:cs typeface="+mn-lt"/>
              </a:rPr>
              <a:t>Ba nhánh phát triển (Phạm vi dự án):</a:t>
            </a:r>
            <a:endParaRPr lang="en-US" sz="1800">
              <a:ea typeface="Calibri"/>
              <a:cs typeface="Calibri"/>
            </a:endParaRPr>
          </a:p>
          <a:p>
            <a:pPr lvl="1" indent="-285750">
              <a:buFont typeface="Courier New"/>
              <a:buChar char="o"/>
            </a:pPr>
            <a:r>
              <a:rPr lang="en-US" sz="1800" b="1">
                <a:solidFill>
                  <a:srgbClr val="373A3C"/>
                </a:solidFill>
                <a:ea typeface="+mn-lt"/>
                <a:cs typeface="+mn-lt"/>
              </a:rPr>
              <a:t>Encoder-only:</a:t>
            </a:r>
            <a:r>
              <a:rPr lang="en-US" sz="1800">
                <a:solidFill>
                  <a:srgbClr val="373A3C"/>
                </a:solidFill>
                <a:ea typeface="+mn-lt"/>
                <a:cs typeface="+mn-lt"/>
              </a:rPr>
              <a:t> Chuyên hiểu và phân loại (Ví dụ: PhoBERT).</a:t>
            </a:r>
            <a:endParaRPr lang="en-US" sz="1800">
              <a:ea typeface="Calibri"/>
              <a:cs typeface="Calibri"/>
            </a:endParaRPr>
          </a:p>
          <a:p>
            <a:pPr lvl="1" indent="-285750">
              <a:buFont typeface="Courier New"/>
              <a:buChar char="o"/>
            </a:pPr>
            <a:r>
              <a:rPr lang="en-US" sz="1800" b="1">
                <a:solidFill>
                  <a:srgbClr val="373A3C"/>
                </a:solidFill>
                <a:ea typeface="+mn-lt"/>
                <a:cs typeface="+mn-lt"/>
              </a:rPr>
              <a:t>Encoder-Decoder:</a:t>
            </a:r>
            <a:r>
              <a:rPr lang="en-US" sz="1800">
                <a:solidFill>
                  <a:srgbClr val="373A3C"/>
                </a:solidFill>
                <a:ea typeface="+mn-lt"/>
                <a:cs typeface="+mn-lt"/>
              </a:rPr>
              <a:t> Chuyên chuyển đổi chuỗi (Ví dụ: ViT5).</a:t>
            </a:r>
            <a:endParaRPr lang="en-US" sz="1800">
              <a:ea typeface="Calibri"/>
              <a:cs typeface="Calibri"/>
            </a:endParaRPr>
          </a:p>
          <a:p>
            <a:pPr lvl="1" indent="-285750">
              <a:buFont typeface="Courier New"/>
              <a:buChar char="o"/>
            </a:pPr>
            <a:r>
              <a:rPr lang="en-US" sz="1800" b="1">
                <a:solidFill>
                  <a:srgbClr val="373A3C"/>
                </a:solidFill>
                <a:ea typeface="+mn-lt"/>
                <a:cs typeface="+mn-lt"/>
              </a:rPr>
              <a:t>Decoder-only:</a:t>
            </a:r>
            <a:r>
              <a:rPr lang="en-US" sz="1800">
                <a:solidFill>
                  <a:srgbClr val="373A3C"/>
                </a:solidFill>
                <a:ea typeface="+mn-lt"/>
                <a:cs typeface="+mn-lt"/>
              </a:rPr>
              <a:t> Chuyên sinh văn bản tự do (Ví dụ: Qwen).</a:t>
            </a:r>
            <a:endParaRPr lang="en-US" sz="1800">
              <a:ea typeface="Calibri"/>
              <a:cs typeface="Calibri"/>
            </a:endParaRPr>
          </a:p>
          <a:p>
            <a:pPr>
              <a:buFont typeface="Arial"/>
              <a:buChar char="•"/>
            </a:pPr>
            <a:endParaRPr lang="en-US">
              <a:solidFill>
                <a:srgbClr val="373A3C"/>
              </a:solidFill>
              <a:latin typeface="Times New Roman"/>
              <a:ea typeface="+mn-lt"/>
              <a:cs typeface="Times New Roman"/>
            </a:endParaRPr>
          </a:p>
        </p:txBody>
      </p:sp>
    </p:spTree>
    <p:extLst>
      <p:ext uri="{BB962C8B-B14F-4D97-AF65-F5344CB8AC3E}">
        <p14:creationId xmlns:p14="http://schemas.microsoft.com/office/powerpoint/2010/main" val="3527809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10665"/>
            <a:ext cx="9143365" cy="5177155"/>
          </a:xfrm>
        </p:spPr>
        <p:txBody>
          <a:bodyPr anchor="ctr" anchorCtr="0">
            <a:normAutofit/>
          </a:bodyPr>
          <a:lstStyle/>
          <a:p>
            <a:pPr algn="ctr"/>
            <a:r>
              <a:rPr lang="en-US" b="0" i="0">
                <a:solidFill>
                  <a:srgbClr val="373A3C"/>
                </a:solidFill>
                <a:effectLst/>
                <a:latin typeface="Times New Roman" panose="02020603050405020304" pitchFamily="18" charset="0"/>
                <a:cs typeface="Times New Roman" panose="02020603050405020304" pitchFamily="18" charset="0"/>
              </a:rPr>
              <a:t>Encoder-only</a:t>
            </a:r>
          </a:p>
        </p:txBody>
      </p:sp>
      <p:pic>
        <p:nvPicPr>
          <p:cNvPr id="100" name="Picture 99"/>
          <p:cNvPicPr/>
          <p:nvPr/>
        </p:nvPicPr>
        <p:blipFill>
          <a:blip r:embed="rId2"/>
          <a:stretch>
            <a:fillRect/>
          </a:stretch>
        </p:blipFill>
        <p:spPr>
          <a:xfrm>
            <a:off x="7622540" y="88900"/>
            <a:ext cx="1440180" cy="935355"/>
          </a:xfrm>
          <a:prstGeom prst="rect">
            <a:avLst/>
          </a:prstGeom>
          <a:noFill/>
          <a:ln w="9525">
            <a:noFill/>
          </a:ln>
        </p:spPr>
      </p:pic>
      <p:sp>
        <p:nvSpPr>
          <p:cNvPr id="4" name="Text Box 3"/>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36132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4177F-1D7E-9C48-2435-491EAD4AA866}"/>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94785B2D-907F-145B-D455-A5614D911D58}"/>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E96F657D-2CAA-7898-E1C7-094867C1825C}"/>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D6F4010B-173D-5BA9-B52D-F73D1B19C7F7}"/>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A60098FC-85FF-1041-C9AA-BA5930668892}"/>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9A2D1658-6D08-D1FE-412F-E10C1AC4305F}"/>
              </a:ext>
            </a:extLst>
          </p:cNvPr>
          <p:cNvSpPr>
            <a:spLocks noGrp="1"/>
          </p:cNvSpPr>
          <p:nvPr>
            <p:ph type="title"/>
          </p:nvPr>
        </p:nvSpPr>
        <p:spPr>
          <a:xfrm>
            <a:off x="-2415" y="10956"/>
            <a:ext cx="7886700" cy="1325563"/>
          </a:xfrm>
        </p:spPr>
        <p:txBody>
          <a:bodyPr/>
          <a:lstStyle/>
          <a:p>
            <a:r>
              <a:rPr lang="vi-VN" sz="4000">
                <a:latin typeface="Times New Roman"/>
                <a:ea typeface="+mj-lt"/>
                <a:cs typeface="Times New Roman"/>
              </a:rPr>
              <a:t>Lý thuyết Kiến trúc </a:t>
            </a:r>
            <a:r>
              <a:rPr lang="vi-VN" sz="4000" err="1">
                <a:latin typeface="Times New Roman"/>
                <a:ea typeface="+mj-lt"/>
                <a:cs typeface="Times New Roman"/>
              </a:rPr>
              <a:t>Encoder-only</a:t>
            </a:r>
            <a:endParaRPr lang="vi-VN" sz="4000">
              <a:latin typeface="Times New Roman"/>
              <a:cs typeface="Times New Roman"/>
            </a:endParaRPr>
          </a:p>
        </p:txBody>
      </p:sp>
      <p:sp>
        <p:nvSpPr>
          <p:cNvPr id="9" name="Content Placeholder 2">
            <a:extLst>
              <a:ext uri="{FF2B5EF4-FFF2-40B4-BE49-F238E27FC236}">
                <a16:creationId xmlns:a16="http://schemas.microsoft.com/office/drawing/2014/main" id="{5293CD6A-A552-FFF0-3453-0CD76B74019D}"/>
              </a:ext>
            </a:extLst>
          </p:cNvPr>
          <p:cNvSpPr>
            <a:spLocks noGrp="1"/>
          </p:cNvSpPr>
          <p:nvPr>
            <p:ph idx="1"/>
          </p:nvPr>
        </p:nvSpPr>
        <p:spPr>
          <a:xfrm>
            <a:off x="-2415" y="1582094"/>
            <a:ext cx="9148829" cy="5188464"/>
          </a:xfrm>
        </p:spPr>
        <p:txBody>
          <a:bodyPr vert="horz" lIns="91440" tIns="45720" rIns="91440" bIns="45720" rtlCol="0" anchor="t">
            <a:normAutofit lnSpcReduction="10000"/>
          </a:bodyPr>
          <a:lstStyle/>
          <a:p>
            <a:pPr>
              <a:buFont typeface="Arial"/>
              <a:buChar char="•"/>
            </a:pPr>
            <a:r>
              <a:rPr lang="en-US" b="1" err="1">
                <a:solidFill>
                  <a:srgbClr val="373A3C"/>
                </a:solidFill>
                <a:latin typeface="Times New Roman"/>
                <a:ea typeface="+mn-lt"/>
                <a:cs typeface="+mn-lt"/>
              </a:rPr>
              <a:t>Khái</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niệm</a:t>
            </a:r>
            <a:r>
              <a:rPr lang="en-US" b="1">
                <a:solidFill>
                  <a:srgbClr val="373A3C"/>
                </a:solidFill>
                <a:latin typeface="Times New Roman"/>
                <a:ea typeface="+mn-lt"/>
                <a:cs typeface="+mn-lt"/>
              </a:rPr>
              <a:t>:</a:t>
            </a:r>
            <a:r>
              <a:rPr lang="en-US">
                <a:solidFill>
                  <a:srgbClr val="373A3C"/>
                </a:solidFill>
                <a:latin typeface="Times New Roman"/>
                <a:ea typeface="+mn-lt"/>
                <a:cs typeface="+mn-lt"/>
              </a:rPr>
              <a:t> </a:t>
            </a:r>
            <a:r>
              <a:rPr lang="en-US" err="1">
                <a:solidFill>
                  <a:srgbClr val="373A3C"/>
                </a:solidFill>
                <a:latin typeface="Times New Roman"/>
                <a:ea typeface="+mn-lt"/>
                <a:cs typeface="+mn-lt"/>
              </a:rPr>
              <a:t>Là</a:t>
            </a:r>
            <a:r>
              <a:rPr lang="en-US">
                <a:solidFill>
                  <a:srgbClr val="373A3C"/>
                </a:solidFill>
                <a:latin typeface="Times New Roman"/>
                <a:ea typeface="+mn-lt"/>
                <a:cs typeface="+mn-lt"/>
              </a:rPr>
              <a:t> </a:t>
            </a:r>
            <a:r>
              <a:rPr lang="en-US" err="1">
                <a:solidFill>
                  <a:srgbClr val="373A3C"/>
                </a:solidFill>
                <a:latin typeface="Times New Roman"/>
                <a:ea typeface="+mn-lt"/>
                <a:cs typeface="+mn-lt"/>
              </a:rPr>
              <a:t>kiến</a:t>
            </a:r>
            <a:r>
              <a:rPr lang="en-US">
                <a:solidFill>
                  <a:srgbClr val="373A3C"/>
                </a:solidFill>
                <a:latin typeface="Times New Roman"/>
                <a:ea typeface="+mn-lt"/>
                <a:cs typeface="+mn-lt"/>
              </a:rPr>
              <a:t> </a:t>
            </a:r>
            <a:r>
              <a:rPr lang="en-US" err="1">
                <a:solidFill>
                  <a:srgbClr val="373A3C"/>
                </a:solidFill>
                <a:latin typeface="Times New Roman"/>
                <a:ea typeface="+mn-lt"/>
                <a:cs typeface="+mn-lt"/>
              </a:rPr>
              <a:t>trúc</a:t>
            </a:r>
            <a:r>
              <a:rPr lang="en-US">
                <a:solidFill>
                  <a:srgbClr val="373A3C"/>
                </a:solidFill>
                <a:latin typeface="Times New Roman"/>
                <a:ea typeface="+mn-lt"/>
                <a:cs typeface="+mn-lt"/>
              </a:rPr>
              <a:t> </a:t>
            </a:r>
            <a:r>
              <a:rPr lang="en-US" err="1">
                <a:solidFill>
                  <a:srgbClr val="373A3C"/>
                </a:solidFill>
                <a:latin typeface="Times New Roman"/>
                <a:ea typeface="+mn-lt"/>
                <a:cs typeface="+mn-lt"/>
              </a:rPr>
              <a:t>chỉ</a:t>
            </a:r>
            <a:r>
              <a:rPr lang="en-US">
                <a:solidFill>
                  <a:srgbClr val="373A3C"/>
                </a:solidFill>
                <a:latin typeface="Times New Roman"/>
                <a:ea typeface="+mn-lt"/>
                <a:cs typeface="+mn-lt"/>
              </a:rPr>
              <a:t> </a:t>
            </a:r>
            <a:r>
              <a:rPr lang="en-US" err="1">
                <a:solidFill>
                  <a:srgbClr val="373A3C"/>
                </a:solidFill>
                <a:latin typeface="Times New Roman"/>
                <a:ea typeface="+mn-lt"/>
                <a:cs typeface="+mn-lt"/>
              </a:rPr>
              <a:t>sử</a:t>
            </a:r>
            <a:r>
              <a:rPr lang="en-US">
                <a:solidFill>
                  <a:srgbClr val="373A3C"/>
                </a:solidFill>
                <a:latin typeface="Times New Roman"/>
                <a:ea typeface="+mn-lt"/>
                <a:cs typeface="+mn-lt"/>
              </a:rPr>
              <a:t> </a:t>
            </a:r>
            <a:r>
              <a:rPr lang="en-US" err="1">
                <a:solidFill>
                  <a:srgbClr val="373A3C"/>
                </a:solidFill>
                <a:latin typeface="Times New Roman"/>
                <a:ea typeface="+mn-lt"/>
                <a:cs typeface="+mn-lt"/>
              </a:rPr>
              <a:t>dụng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phần</a:t>
            </a:r>
            <a:r>
              <a:rPr lang="en-US">
                <a:solidFill>
                  <a:srgbClr val="373A3C"/>
                </a:solidFill>
                <a:latin typeface="Times New Roman"/>
                <a:ea typeface="+mn-lt"/>
                <a:cs typeface="+mn-lt"/>
              </a:rPr>
              <a:t> </a:t>
            </a:r>
            <a:r>
              <a:rPr lang="en-US" err="1">
                <a:solidFill>
                  <a:srgbClr val="373A3C"/>
                </a:solidFill>
                <a:latin typeface="Times New Roman"/>
                <a:ea typeface="+mn-lt"/>
                <a:cs typeface="+mn-lt"/>
              </a:rPr>
              <a:t>Mã</a:t>
            </a:r>
            <a:r>
              <a:rPr lang="en-US">
                <a:solidFill>
                  <a:srgbClr val="373A3C"/>
                </a:solidFill>
                <a:latin typeface="Times New Roman"/>
                <a:ea typeface="+mn-lt"/>
                <a:cs typeface="+mn-lt"/>
              </a:rPr>
              <a:t> </a:t>
            </a:r>
            <a:r>
              <a:rPr lang="en-US" err="1">
                <a:solidFill>
                  <a:srgbClr val="373A3C"/>
                </a:solidFill>
                <a:latin typeface="Times New Roman"/>
                <a:ea typeface="+mn-lt"/>
                <a:cs typeface="+mn-lt"/>
              </a:rPr>
              <a:t>hóa</a:t>
            </a:r>
            <a:r>
              <a:rPr lang="en-US">
                <a:solidFill>
                  <a:srgbClr val="373A3C"/>
                </a:solidFill>
                <a:latin typeface="Times New Roman"/>
                <a:ea typeface="+mn-lt"/>
                <a:cs typeface="+mn-lt"/>
              </a:rPr>
              <a:t> (Encoder) </a:t>
            </a:r>
            <a:r>
              <a:rPr lang="en-US" err="1">
                <a:solidFill>
                  <a:srgbClr val="373A3C"/>
                </a:solidFill>
                <a:latin typeface="Times New Roman"/>
                <a:ea typeface="+mn-lt"/>
                <a:cs typeface="+mn-lt"/>
              </a:rPr>
              <a:t>của</a:t>
            </a:r>
            <a:r>
              <a:rPr lang="en-US">
                <a:solidFill>
                  <a:srgbClr val="373A3C"/>
                </a:solidFill>
                <a:latin typeface="Times New Roman"/>
                <a:ea typeface="+mn-lt"/>
                <a:cs typeface="+mn-lt"/>
              </a:rPr>
              <a:t> Transformer, </a:t>
            </a:r>
            <a:r>
              <a:rPr lang="en-US" err="1">
                <a:solidFill>
                  <a:srgbClr val="373A3C"/>
                </a:solidFill>
                <a:latin typeface="Times New Roman"/>
                <a:ea typeface="+mn-lt"/>
                <a:cs typeface="+mn-lt"/>
              </a:rPr>
              <a:t>loại</a:t>
            </a:r>
            <a:r>
              <a:rPr lang="en-US">
                <a:solidFill>
                  <a:srgbClr val="373A3C"/>
                </a:solidFill>
                <a:latin typeface="Times New Roman"/>
                <a:ea typeface="+mn-lt"/>
                <a:cs typeface="+mn-lt"/>
              </a:rPr>
              <a:t> </a:t>
            </a:r>
            <a:r>
              <a:rPr lang="en-US" err="1">
                <a:solidFill>
                  <a:srgbClr val="373A3C"/>
                </a:solidFill>
                <a:latin typeface="Times New Roman"/>
                <a:ea typeface="+mn-lt"/>
                <a:cs typeface="+mn-lt"/>
              </a:rPr>
              <a:t>bỏ</a:t>
            </a:r>
            <a:r>
              <a:rPr lang="en-US">
                <a:solidFill>
                  <a:srgbClr val="373A3C"/>
                </a:solidFill>
                <a:latin typeface="Times New Roman"/>
                <a:ea typeface="+mn-lt"/>
                <a:cs typeface="+mn-lt"/>
              </a:rPr>
              <a:t> </a:t>
            </a:r>
            <a:r>
              <a:rPr lang="en-US" err="1">
                <a:solidFill>
                  <a:srgbClr val="373A3C"/>
                </a:solidFill>
                <a:latin typeface="Times New Roman"/>
                <a:ea typeface="+mn-lt"/>
                <a:cs typeface="+mn-lt"/>
              </a:rPr>
              <a:t>phần</a:t>
            </a:r>
            <a:r>
              <a:rPr lang="en-US">
                <a:solidFill>
                  <a:srgbClr val="373A3C"/>
                </a:solidFill>
                <a:latin typeface="Times New Roman"/>
                <a:ea typeface="+mn-lt"/>
                <a:cs typeface="+mn-lt"/>
              </a:rPr>
              <a:t> </a:t>
            </a:r>
            <a:r>
              <a:rPr lang="en-US" err="1">
                <a:solidFill>
                  <a:srgbClr val="373A3C"/>
                </a:solidFill>
                <a:latin typeface="Times New Roman"/>
                <a:ea typeface="+mn-lt"/>
                <a:cs typeface="+mn-lt"/>
              </a:rPr>
              <a:t>Giải</a:t>
            </a:r>
            <a:r>
              <a:rPr lang="en-US">
                <a:solidFill>
                  <a:srgbClr val="373A3C"/>
                </a:solidFill>
                <a:latin typeface="Times New Roman"/>
                <a:ea typeface="+mn-lt"/>
                <a:cs typeface="+mn-lt"/>
              </a:rPr>
              <a:t> </a:t>
            </a:r>
            <a:r>
              <a:rPr lang="en-US" err="1">
                <a:solidFill>
                  <a:srgbClr val="373A3C"/>
                </a:solidFill>
                <a:latin typeface="Times New Roman"/>
                <a:ea typeface="+mn-lt"/>
                <a:cs typeface="+mn-lt"/>
              </a:rPr>
              <a:t>mã</a:t>
            </a:r>
            <a:r>
              <a:rPr lang="en-US">
                <a:solidFill>
                  <a:srgbClr val="373A3C"/>
                </a:solidFill>
                <a:latin typeface="Times New Roman"/>
                <a:ea typeface="+mn-lt"/>
                <a:cs typeface="+mn-lt"/>
              </a:rPr>
              <a:t> (Decoder).</a:t>
            </a:r>
            <a:endParaRPr lang="vi-VN">
              <a:latin typeface="Times New Roman"/>
              <a:cs typeface="Times New Roman"/>
            </a:endParaRPr>
          </a:p>
          <a:p>
            <a:pPr>
              <a:buFont typeface="Arial"/>
              <a:buChar char="•"/>
            </a:pPr>
            <a:r>
              <a:rPr lang="en-US" b="1" err="1">
                <a:solidFill>
                  <a:srgbClr val="373A3C"/>
                </a:solidFill>
                <a:latin typeface="Times New Roman"/>
                <a:ea typeface="+mn-lt"/>
                <a:cs typeface="+mn-lt"/>
              </a:rPr>
              <a:t>Cơ</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chế</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hoạt</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động</a:t>
            </a:r>
            <a:r>
              <a:rPr lang="en-US" b="1">
                <a:solidFill>
                  <a:srgbClr val="373A3C"/>
                </a:solidFill>
                <a:latin typeface="Times New Roman"/>
                <a:ea typeface="+mn-lt"/>
                <a:cs typeface="+mn-lt"/>
              </a:rPr>
              <a:t>:</a:t>
            </a:r>
            <a:endParaRPr lang="en-US">
              <a:latin typeface="Times New Roman"/>
              <a:ea typeface="+mn-lt"/>
              <a:cs typeface="+mn-lt"/>
            </a:endParaRPr>
          </a:p>
          <a:p>
            <a:pPr lvl="1">
              <a:buFont typeface="Courier New"/>
              <a:buChar char="o"/>
            </a:pPr>
            <a:r>
              <a:rPr lang="en-US" b="1">
                <a:solidFill>
                  <a:srgbClr val="373A3C"/>
                </a:solidFill>
                <a:latin typeface="Times New Roman"/>
                <a:ea typeface="+mn-lt"/>
                <a:cs typeface="+mn-lt"/>
              </a:rPr>
              <a:t>Bidirectional Self-Attention:</a:t>
            </a:r>
            <a:r>
              <a:rPr lang="en-US">
                <a:solidFill>
                  <a:srgbClr val="373A3C"/>
                </a:solidFill>
                <a:latin typeface="Times New Roman"/>
                <a:ea typeface="+mn-lt"/>
                <a:cs typeface="+mn-lt"/>
              </a:rPr>
              <a:t> Học </a:t>
            </a:r>
            <a:r>
              <a:rPr lang="en-US" err="1">
                <a:solidFill>
                  <a:srgbClr val="373A3C"/>
                </a:solidFill>
                <a:latin typeface="Times New Roman"/>
                <a:ea typeface="+mn-lt"/>
                <a:cs typeface="+mn-lt"/>
              </a:rPr>
              <a:t>ngữ</a:t>
            </a:r>
            <a:r>
              <a:rPr lang="en-US">
                <a:solidFill>
                  <a:srgbClr val="373A3C"/>
                </a:solidFill>
                <a:latin typeface="Times New Roman"/>
                <a:ea typeface="+mn-lt"/>
                <a:cs typeface="+mn-lt"/>
              </a:rPr>
              <a:t> </a:t>
            </a:r>
            <a:r>
              <a:rPr lang="en-US" err="1">
                <a:solidFill>
                  <a:srgbClr val="373A3C"/>
                </a:solidFill>
                <a:latin typeface="Times New Roman"/>
                <a:ea typeface="+mn-lt"/>
                <a:cs typeface="+mn-lt"/>
              </a:rPr>
              <a:t>cảnh</a:t>
            </a:r>
            <a:r>
              <a:rPr lang="en-US">
                <a:solidFill>
                  <a:srgbClr val="373A3C"/>
                </a:solidFill>
                <a:latin typeface="Times New Roman"/>
                <a:ea typeface="+mn-lt"/>
                <a:cs typeface="+mn-lt"/>
              </a:rPr>
              <a:t> </a:t>
            </a:r>
            <a:r>
              <a:rPr lang="en-US" err="1">
                <a:solidFill>
                  <a:srgbClr val="373A3C"/>
                </a:solidFill>
                <a:latin typeface="Times New Roman"/>
                <a:ea typeface="+mn-lt"/>
                <a:cs typeface="+mn-lt"/>
              </a:rPr>
              <a:t>hai</a:t>
            </a:r>
            <a:r>
              <a:rPr lang="en-US">
                <a:solidFill>
                  <a:srgbClr val="373A3C"/>
                </a:solidFill>
                <a:latin typeface="Times New Roman"/>
                <a:ea typeface="+mn-lt"/>
                <a:cs typeface="+mn-lt"/>
              </a:rPr>
              <a:t> </a:t>
            </a:r>
            <a:r>
              <a:rPr lang="en-US" err="1">
                <a:solidFill>
                  <a:srgbClr val="373A3C"/>
                </a:solidFill>
                <a:latin typeface="Times New Roman"/>
                <a:ea typeface="+mn-lt"/>
                <a:cs typeface="+mn-lt"/>
              </a:rPr>
              <a:t>chiều</a:t>
            </a:r>
            <a:r>
              <a:rPr lang="en-US">
                <a:solidFill>
                  <a:srgbClr val="373A3C"/>
                </a:solidFill>
                <a:latin typeface="Times New Roman"/>
                <a:ea typeface="+mn-lt"/>
                <a:cs typeface="+mn-lt"/>
              </a:rPr>
              <a:t> (</a:t>
            </a:r>
            <a:r>
              <a:rPr lang="en-US" err="1">
                <a:solidFill>
                  <a:srgbClr val="373A3C"/>
                </a:solidFill>
                <a:latin typeface="Times New Roman"/>
                <a:ea typeface="+mn-lt"/>
                <a:cs typeface="+mn-lt"/>
              </a:rPr>
              <a:t>trái</a:t>
            </a:r>
            <a:r>
              <a:rPr lang="en-US">
                <a:solidFill>
                  <a:srgbClr val="373A3C"/>
                </a:solidFill>
                <a:latin typeface="Times New Roman"/>
                <a:ea typeface="+mn-lt"/>
                <a:cs typeface="+mn-lt"/>
              </a:rPr>
              <a:t> sang </a:t>
            </a:r>
            <a:r>
              <a:rPr lang="en-US" err="1">
                <a:solidFill>
                  <a:srgbClr val="373A3C"/>
                </a:solidFill>
                <a:latin typeface="Times New Roman"/>
                <a:ea typeface="+mn-lt"/>
                <a:cs typeface="+mn-lt"/>
              </a:rPr>
              <a:t>phải</a:t>
            </a:r>
            <a:r>
              <a:rPr lang="en-US">
                <a:solidFill>
                  <a:srgbClr val="373A3C"/>
                </a:solidFill>
                <a:latin typeface="Times New Roman"/>
                <a:ea typeface="+mn-lt"/>
                <a:cs typeface="+mn-lt"/>
              </a:rPr>
              <a:t> </a:t>
            </a:r>
            <a:r>
              <a:rPr lang="en-US" err="1">
                <a:solidFill>
                  <a:srgbClr val="373A3C"/>
                </a:solidFill>
                <a:latin typeface="Times New Roman"/>
                <a:ea typeface="+mn-lt"/>
                <a:cs typeface="+mn-lt"/>
              </a:rPr>
              <a:t>và</a:t>
            </a:r>
            <a:r>
              <a:rPr lang="en-US">
                <a:solidFill>
                  <a:srgbClr val="373A3C"/>
                </a:solidFill>
                <a:latin typeface="Times New Roman"/>
                <a:ea typeface="+mn-lt"/>
                <a:cs typeface="+mn-lt"/>
              </a:rPr>
              <a:t> </a:t>
            </a:r>
            <a:r>
              <a:rPr lang="en-US" err="1">
                <a:solidFill>
                  <a:srgbClr val="373A3C"/>
                </a:solidFill>
                <a:latin typeface="Times New Roman"/>
                <a:ea typeface="+mn-lt"/>
                <a:cs typeface="+mn-lt"/>
              </a:rPr>
              <a:t>phải</a:t>
            </a:r>
            <a:r>
              <a:rPr lang="en-US">
                <a:solidFill>
                  <a:srgbClr val="373A3C"/>
                </a:solidFill>
                <a:latin typeface="Times New Roman"/>
                <a:ea typeface="+mn-lt"/>
                <a:cs typeface="+mn-lt"/>
              </a:rPr>
              <a:t> sang </a:t>
            </a:r>
            <a:r>
              <a:rPr lang="en-US" err="1">
                <a:solidFill>
                  <a:srgbClr val="373A3C"/>
                </a:solidFill>
                <a:latin typeface="Times New Roman"/>
                <a:ea typeface="+mn-lt"/>
                <a:cs typeface="+mn-lt"/>
              </a:rPr>
              <a:t>trái</a:t>
            </a:r>
            <a:r>
              <a:rPr lang="en-US">
                <a:solidFill>
                  <a:srgbClr val="373A3C"/>
                </a:solidFill>
                <a:latin typeface="Times New Roman"/>
                <a:ea typeface="+mn-lt"/>
                <a:cs typeface="+mn-lt"/>
              </a:rPr>
              <a:t> </a:t>
            </a:r>
            <a:r>
              <a:rPr lang="en-US" err="1">
                <a:solidFill>
                  <a:srgbClr val="373A3C"/>
                </a:solidFill>
                <a:latin typeface="Times New Roman"/>
                <a:ea typeface="+mn-lt"/>
                <a:cs typeface="+mn-lt"/>
              </a:rPr>
              <a:t>cùng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lúc</a:t>
            </a:r>
            <a:r>
              <a:rPr lang="en-US">
                <a:solidFill>
                  <a:srgbClr val="373A3C"/>
                </a:solidFill>
                <a:latin typeface="Times New Roman"/>
                <a:ea typeface="+mn-lt"/>
                <a:cs typeface="+mn-lt"/>
              </a:rPr>
              <a:t>), </a:t>
            </a:r>
            <a:r>
              <a:rPr lang="en-US" err="1">
                <a:solidFill>
                  <a:srgbClr val="373A3C"/>
                </a:solidFill>
                <a:latin typeface="Times New Roman"/>
                <a:ea typeface="+mn-lt"/>
                <a:cs typeface="+mn-lt"/>
              </a:rPr>
              <a:t>giúp</a:t>
            </a:r>
            <a:r>
              <a:rPr lang="en-US">
                <a:solidFill>
                  <a:srgbClr val="373A3C"/>
                </a:solidFill>
                <a:latin typeface="Times New Roman"/>
                <a:ea typeface="+mn-lt"/>
                <a:cs typeface="+mn-lt"/>
              </a:rPr>
              <a:t> </a:t>
            </a:r>
            <a:r>
              <a:rPr lang="en-US" err="1">
                <a:solidFill>
                  <a:srgbClr val="373A3C"/>
                </a:solidFill>
                <a:latin typeface="Times New Roman"/>
                <a:ea typeface="+mn-lt"/>
                <a:cs typeface="+mn-lt"/>
              </a:rPr>
              <a:t>hiểu</a:t>
            </a:r>
            <a:r>
              <a:rPr lang="en-US">
                <a:solidFill>
                  <a:srgbClr val="373A3C"/>
                </a:solidFill>
                <a:latin typeface="Times New Roman"/>
                <a:ea typeface="+mn-lt"/>
                <a:cs typeface="+mn-lt"/>
              </a:rPr>
              <a:t> </a:t>
            </a:r>
            <a:r>
              <a:rPr lang="en-US" err="1">
                <a:solidFill>
                  <a:srgbClr val="373A3C"/>
                </a:solidFill>
                <a:latin typeface="Times New Roman"/>
                <a:ea typeface="+mn-lt"/>
                <a:cs typeface="+mn-lt"/>
              </a:rPr>
              <a:t>sâu</a:t>
            </a:r>
            <a:r>
              <a:rPr lang="en-US">
                <a:solidFill>
                  <a:srgbClr val="373A3C"/>
                </a:solidFill>
                <a:latin typeface="Times New Roman"/>
                <a:ea typeface="+mn-lt"/>
                <a:cs typeface="+mn-lt"/>
              </a:rPr>
              <a:t> </a:t>
            </a:r>
            <a:r>
              <a:rPr lang="en-US" err="1">
                <a:solidFill>
                  <a:srgbClr val="373A3C"/>
                </a:solidFill>
                <a:latin typeface="Times New Roman"/>
                <a:ea typeface="+mn-lt"/>
                <a:cs typeface="+mn-lt"/>
              </a:rPr>
              <a:t>ngữ</a:t>
            </a:r>
            <a:r>
              <a:rPr lang="en-US">
                <a:solidFill>
                  <a:srgbClr val="373A3C"/>
                </a:solidFill>
                <a:latin typeface="Times New Roman"/>
                <a:ea typeface="+mn-lt"/>
                <a:cs typeface="+mn-lt"/>
              </a:rPr>
              <a:t> </a:t>
            </a:r>
            <a:r>
              <a:rPr lang="en-US" err="1">
                <a:solidFill>
                  <a:srgbClr val="373A3C"/>
                </a:solidFill>
                <a:latin typeface="Times New Roman"/>
                <a:ea typeface="+mn-lt"/>
                <a:cs typeface="+mn-lt"/>
              </a:rPr>
              <a:t>nghĩa</a:t>
            </a:r>
            <a:r>
              <a:rPr lang="en-US">
                <a:solidFill>
                  <a:srgbClr val="373A3C"/>
                </a:solidFill>
                <a:latin typeface="Times New Roman"/>
                <a:ea typeface="+mn-lt"/>
                <a:cs typeface="+mn-lt"/>
              </a:rPr>
              <a:t> </a:t>
            </a:r>
            <a:r>
              <a:rPr lang="en-US" err="1">
                <a:solidFill>
                  <a:srgbClr val="373A3C"/>
                </a:solidFill>
                <a:latin typeface="Times New Roman"/>
                <a:ea typeface="+mn-lt"/>
                <a:cs typeface="+mn-lt"/>
              </a:rPr>
              <a:t>từ</a:t>
            </a:r>
            <a:r>
              <a:rPr lang="en-US">
                <a:solidFill>
                  <a:srgbClr val="373A3C"/>
                </a:solidFill>
                <a:latin typeface="Times New Roman"/>
                <a:ea typeface="+mn-lt"/>
                <a:cs typeface="+mn-lt"/>
              </a:rPr>
              <a:t> </a:t>
            </a:r>
            <a:r>
              <a:rPr lang="en-US" err="1">
                <a:solidFill>
                  <a:srgbClr val="373A3C"/>
                </a:solidFill>
                <a:latin typeface="Times New Roman"/>
                <a:ea typeface="+mn-lt"/>
                <a:cs typeface="+mn-lt"/>
              </a:rPr>
              <a:t>vựng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trong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câu</a:t>
            </a:r>
            <a:r>
              <a:rPr lang="en-US">
                <a:solidFill>
                  <a:srgbClr val="373A3C"/>
                </a:solidFill>
                <a:latin typeface="Times New Roman"/>
                <a:ea typeface="+mn-lt"/>
                <a:cs typeface="+mn-lt"/>
              </a:rPr>
              <a:t>.</a:t>
            </a:r>
            <a:endParaRPr lang="en-US">
              <a:latin typeface="Times New Roman"/>
              <a:ea typeface="+mn-lt"/>
              <a:cs typeface="+mn-lt"/>
            </a:endParaRPr>
          </a:p>
          <a:p>
            <a:pPr lvl="1">
              <a:buFont typeface="Courier New"/>
              <a:buChar char="o"/>
            </a:pPr>
            <a:r>
              <a:rPr lang="en-US" b="1" err="1">
                <a:solidFill>
                  <a:srgbClr val="373A3C"/>
                </a:solidFill>
                <a:latin typeface="Times New Roman"/>
                <a:ea typeface="+mn-lt"/>
                <a:cs typeface="+mn-lt"/>
              </a:rPr>
              <a:t>Cấu</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trúc</a:t>
            </a:r>
            <a:r>
              <a:rPr lang="en-US" b="1">
                <a:solidFill>
                  <a:srgbClr val="373A3C"/>
                </a:solidFill>
                <a:latin typeface="Times New Roman"/>
                <a:ea typeface="+mn-lt"/>
                <a:cs typeface="+mn-lt"/>
              </a:rPr>
              <a:t>:</a:t>
            </a:r>
            <a:r>
              <a:rPr lang="en-US">
                <a:solidFill>
                  <a:srgbClr val="373A3C"/>
                </a:solidFill>
                <a:latin typeface="Times New Roman"/>
                <a:ea typeface="+mn-lt"/>
                <a:cs typeface="+mn-lt"/>
              </a:rPr>
              <a:t> </a:t>
            </a:r>
            <a:r>
              <a:rPr lang="en-US" err="1">
                <a:solidFill>
                  <a:srgbClr val="373A3C"/>
                </a:solidFill>
                <a:latin typeface="Times New Roman"/>
                <a:ea typeface="+mn-lt"/>
                <a:cs typeface="+mn-lt"/>
              </a:rPr>
              <a:t>Gồm</a:t>
            </a:r>
            <a:r>
              <a:rPr lang="en-US">
                <a:solidFill>
                  <a:srgbClr val="373A3C"/>
                </a:solidFill>
                <a:latin typeface="Times New Roman"/>
                <a:ea typeface="+mn-lt"/>
                <a:cs typeface="+mn-lt"/>
              </a:rPr>
              <a:t> </a:t>
            </a:r>
            <a:r>
              <a:rPr lang="en-US" err="1">
                <a:solidFill>
                  <a:srgbClr val="373A3C"/>
                </a:solidFill>
                <a:latin typeface="Times New Roman"/>
                <a:ea typeface="+mn-lt"/>
                <a:cs typeface="+mn-lt"/>
              </a:rPr>
              <a:t>nhiều</a:t>
            </a:r>
            <a:r>
              <a:rPr lang="en-US">
                <a:solidFill>
                  <a:srgbClr val="373A3C"/>
                </a:solidFill>
                <a:latin typeface="Times New Roman"/>
                <a:ea typeface="+mn-lt"/>
                <a:cs typeface="+mn-lt"/>
              </a:rPr>
              <a:t> </a:t>
            </a:r>
            <a:r>
              <a:rPr lang="en-US" err="1">
                <a:solidFill>
                  <a:srgbClr val="373A3C"/>
                </a:solidFill>
                <a:latin typeface="Times New Roman"/>
                <a:ea typeface="+mn-lt"/>
                <a:cs typeface="+mn-lt"/>
              </a:rPr>
              <a:t>lớp</a:t>
            </a:r>
            <a:r>
              <a:rPr lang="en-US">
                <a:solidFill>
                  <a:srgbClr val="373A3C"/>
                </a:solidFill>
                <a:latin typeface="Times New Roman"/>
                <a:ea typeface="+mn-lt"/>
                <a:cs typeface="+mn-lt"/>
              </a:rPr>
              <a:t> </a:t>
            </a:r>
            <a:r>
              <a:rPr lang="en-US" err="1">
                <a:solidFill>
                  <a:srgbClr val="373A3C"/>
                </a:solidFill>
                <a:latin typeface="Times New Roman"/>
                <a:ea typeface="+mn-lt"/>
                <a:cs typeface="+mn-lt"/>
              </a:rPr>
              <a:t>xếp</a:t>
            </a:r>
            <a:r>
              <a:rPr lang="en-US">
                <a:solidFill>
                  <a:srgbClr val="373A3C"/>
                </a:solidFill>
                <a:latin typeface="Times New Roman"/>
                <a:ea typeface="+mn-lt"/>
                <a:cs typeface="+mn-lt"/>
              </a:rPr>
              <a:t> </a:t>
            </a:r>
            <a:r>
              <a:rPr lang="en-US" err="1">
                <a:solidFill>
                  <a:srgbClr val="373A3C"/>
                </a:solidFill>
                <a:latin typeface="Times New Roman"/>
                <a:ea typeface="+mn-lt"/>
                <a:cs typeface="+mn-lt"/>
              </a:rPr>
              <a:t>chồng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mỗi</a:t>
            </a:r>
            <a:r>
              <a:rPr lang="en-US">
                <a:solidFill>
                  <a:srgbClr val="373A3C"/>
                </a:solidFill>
                <a:latin typeface="Times New Roman"/>
                <a:ea typeface="+mn-lt"/>
                <a:cs typeface="+mn-lt"/>
              </a:rPr>
              <a:t> </a:t>
            </a:r>
            <a:r>
              <a:rPr lang="en-US" err="1">
                <a:solidFill>
                  <a:srgbClr val="373A3C"/>
                </a:solidFill>
                <a:latin typeface="Times New Roman"/>
                <a:ea typeface="+mn-lt"/>
                <a:cs typeface="+mn-lt"/>
              </a:rPr>
              <a:t>lớp</a:t>
            </a:r>
            <a:r>
              <a:rPr lang="en-US">
                <a:solidFill>
                  <a:srgbClr val="373A3C"/>
                </a:solidFill>
                <a:latin typeface="Times New Roman"/>
                <a:ea typeface="+mn-lt"/>
                <a:cs typeface="+mn-lt"/>
              </a:rPr>
              <a:t> </a:t>
            </a:r>
            <a:r>
              <a:rPr lang="en-US" err="1">
                <a:solidFill>
                  <a:srgbClr val="373A3C"/>
                </a:solidFill>
                <a:latin typeface="Times New Roman"/>
                <a:ea typeface="+mn-lt"/>
                <a:cs typeface="+mn-lt"/>
              </a:rPr>
              <a:t>có</a:t>
            </a:r>
            <a:r>
              <a:rPr lang="en-US">
                <a:solidFill>
                  <a:srgbClr val="373A3C"/>
                </a:solidFill>
                <a:latin typeface="Times New Roman"/>
                <a:ea typeface="+mn-lt"/>
                <a:cs typeface="+mn-lt"/>
              </a:rPr>
              <a:t> Multi-head Attention </a:t>
            </a:r>
            <a:r>
              <a:rPr lang="en-US" err="1">
                <a:solidFill>
                  <a:srgbClr val="373A3C"/>
                </a:solidFill>
                <a:latin typeface="Times New Roman"/>
                <a:ea typeface="+mn-lt"/>
                <a:cs typeface="+mn-lt"/>
              </a:rPr>
              <a:t>và</a:t>
            </a:r>
            <a:r>
              <a:rPr lang="en-US">
                <a:solidFill>
                  <a:srgbClr val="373A3C"/>
                </a:solidFill>
                <a:latin typeface="Times New Roman"/>
                <a:ea typeface="+mn-lt"/>
                <a:cs typeface="+mn-lt"/>
              </a:rPr>
              <a:t> Feed-forward Network.</a:t>
            </a:r>
            <a:endParaRPr lang="en-US">
              <a:latin typeface="Times New Roman"/>
              <a:ea typeface="Calibri"/>
              <a:cs typeface="Calibri"/>
            </a:endParaRPr>
          </a:p>
          <a:p>
            <a:pPr>
              <a:buFont typeface="Arial"/>
              <a:buChar char="•"/>
            </a:pPr>
            <a:r>
              <a:rPr lang="en-US" b="1" err="1">
                <a:solidFill>
                  <a:srgbClr val="373A3C"/>
                </a:solidFill>
                <a:latin typeface="Times New Roman"/>
                <a:ea typeface="+mn-lt"/>
                <a:cs typeface="+mn-lt"/>
              </a:rPr>
              <a:t>Ứng</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dụng</a:t>
            </a:r>
            <a:r>
              <a:rPr lang="en-US" b="1">
                <a:solidFill>
                  <a:srgbClr val="373A3C"/>
                </a:solidFill>
                <a:latin typeface="Times New Roman"/>
                <a:ea typeface="+mn-lt"/>
                <a:cs typeface="+mn-lt"/>
              </a:rPr>
              <a:t> (NLU):</a:t>
            </a:r>
            <a:r>
              <a:rPr lang="en-US">
                <a:solidFill>
                  <a:srgbClr val="373A3C"/>
                </a:solidFill>
                <a:latin typeface="Times New Roman"/>
                <a:ea typeface="+mn-lt"/>
                <a:cs typeface="+mn-lt"/>
              </a:rPr>
              <a:t> </a:t>
            </a:r>
            <a:r>
              <a:rPr lang="en-US" err="1">
                <a:solidFill>
                  <a:srgbClr val="373A3C"/>
                </a:solidFill>
                <a:latin typeface="Times New Roman"/>
                <a:ea typeface="+mn-lt"/>
                <a:cs typeface="+mn-lt"/>
              </a:rPr>
              <a:t>Tối</a:t>
            </a:r>
            <a:r>
              <a:rPr lang="en-US">
                <a:solidFill>
                  <a:srgbClr val="373A3C"/>
                </a:solidFill>
                <a:latin typeface="Times New Roman"/>
                <a:ea typeface="+mn-lt"/>
                <a:cs typeface="+mn-lt"/>
              </a:rPr>
              <a:t> </a:t>
            </a:r>
            <a:r>
              <a:rPr lang="en-US" err="1">
                <a:solidFill>
                  <a:srgbClr val="373A3C"/>
                </a:solidFill>
                <a:latin typeface="Times New Roman"/>
                <a:ea typeface="+mn-lt"/>
                <a:cs typeface="+mn-lt"/>
              </a:rPr>
              <a:t>ưu</a:t>
            </a:r>
            <a:r>
              <a:rPr lang="en-US">
                <a:solidFill>
                  <a:srgbClr val="373A3C"/>
                </a:solidFill>
                <a:latin typeface="Times New Roman"/>
                <a:ea typeface="+mn-lt"/>
                <a:cs typeface="+mn-lt"/>
              </a:rPr>
              <a:t> </a:t>
            </a:r>
            <a:r>
              <a:rPr lang="en-US" err="1">
                <a:solidFill>
                  <a:srgbClr val="373A3C"/>
                </a:solidFill>
                <a:latin typeface="Times New Roman"/>
                <a:ea typeface="+mn-lt"/>
                <a:cs typeface="+mn-lt"/>
              </a:rPr>
              <a:t>cho</a:t>
            </a:r>
            <a:r>
              <a:rPr lang="en-US">
                <a:solidFill>
                  <a:srgbClr val="373A3C"/>
                </a:solidFill>
                <a:latin typeface="Times New Roman"/>
                <a:ea typeface="+mn-lt"/>
                <a:cs typeface="+mn-lt"/>
              </a:rPr>
              <a:t> </a:t>
            </a:r>
            <a:r>
              <a:rPr lang="en-US" err="1">
                <a:solidFill>
                  <a:srgbClr val="373A3C"/>
                </a:solidFill>
                <a:latin typeface="Times New Roman"/>
                <a:ea typeface="+mn-lt"/>
                <a:cs typeface="+mn-lt"/>
              </a:rPr>
              <a:t>các</a:t>
            </a:r>
            <a:r>
              <a:rPr lang="en-US">
                <a:solidFill>
                  <a:srgbClr val="373A3C"/>
                </a:solidFill>
                <a:latin typeface="Times New Roman"/>
                <a:ea typeface="+mn-lt"/>
                <a:cs typeface="+mn-lt"/>
              </a:rPr>
              <a:t> </a:t>
            </a:r>
            <a:r>
              <a:rPr lang="en-US" err="1">
                <a:solidFill>
                  <a:srgbClr val="373A3C"/>
                </a:solidFill>
                <a:latin typeface="Times New Roman"/>
                <a:ea typeface="+mn-lt"/>
                <a:cs typeface="+mn-lt"/>
              </a:rPr>
              <a:t>bài</a:t>
            </a:r>
            <a:r>
              <a:rPr lang="en-US">
                <a:solidFill>
                  <a:srgbClr val="373A3C"/>
                </a:solidFill>
                <a:latin typeface="Times New Roman"/>
                <a:ea typeface="+mn-lt"/>
                <a:cs typeface="+mn-lt"/>
              </a:rPr>
              <a:t> </a:t>
            </a:r>
            <a:r>
              <a:rPr lang="en-US" err="1">
                <a:solidFill>
                  <a:srgbClr val="373A3C"/>
                </a:solidFill>
                <a:latin typeface="Times New Roman"/>
                <a:ea typeface="+mn-lt"/>
                <a:cs typeface="+mn-lt"/>
              </a:rPr>
              <a:t>toán</a:t>
            </a:r>
            <a:r>
              <a:rPr lang="en-US">
                <a:solidFill>
                  <a:srgbClr val="373A3C"/>
                </a:solidFill>
                <a:latin typeface="Times New Roman"/>
                <a:ea typeface="+mn-lt"/>
                <a:cs typeface="+mn-lt"/>
              </a:rPr>
              <a:t> "</a:t>
            </a:r>
            <a:r>
              <a:rPr lang="en-US" err="1">
                <a:solidFill>
                  <a:srgbClr val="373A3C"/>
                </a:solidFill>
                <a:latin typeface="Times New Roman"/>
                <a:ea typeface="+mn-lt"/>
                <a:cs typeface="+mn-lt"/>
              </a:rPr>
              <a:t>Hiểu</a:t>
            </a:r>
            <a:r>
              <a:rPr lang="en-US">
                <a:solidFill>
                  <a:srgbClr val="373A3C"/>
                </a:solidFill>
                <a:latin typeface="Times New Roman"/>
                <a:ea typeface="+mn-lt"/>
                <a:cs typeface="+mn-lt"/>
              </a:rPr>
              <a:t> </a:t>
            </a:r>
            <a:r>
              <a:rPr lang="en-US" err="1">
                <a:solidFill>
                  <a:srgbClr val="373A3C"/>
                </a:solidFill>
                <a:latin typeface="Times New Roman"/>
                <a:ea typeface="+mn-lt"/>
                <a:cs typeface="+mn-lt"/>
              </a:rPr>
              <a:t>ngôn</a:t>
            </a:r>
            <a:r>
              <a:rPr lang="en-US">
                <a:solidFill>
                  <a:srgbClr val="373A3C"/>
                </a:solidFill>
                <a:latin typeface="Times New Roman"/>
                <a:ea typeface="+mn-lt"/>
                <a:cs typeface="+mn-lt"/>
              </a:rPr>
              <a:t> </a:t>
            </a:r>
            <a:r>
              <a:rPr lang="en-US" err="1">
                <a:solidFill>
                  <a:srgbClr val="373A3C"/>
                </a:solidFill>
                <a:latin typeface="Times New Roman"/>
                <a:ea typeface="+mn-lt"/>
                <a:cs typeface="+mn-lt"/>
              </a:rPr>
              <a:t>ngữ</a:t>
            </a:r>
            <a:r>
              <a:rPr lang="en-US">
                <a:solidFill>
                  <a:srgbClr val="373A3C"/>
                </a:solidFill>
                <a:latin typeface="Times New Roman"/>
                <a:ea typeface="+mn-lt"/>
                <a:cs typeface="+mn-lt"/>
              </a:rPr>
              <a:t>" </a:t>
            </a:r>
            <a:r>
              <a:rPr lang="en-US" err="1">
                <a:solidFill>
                  <a:srgbClr val="373A3C"/>
                </a:solidFill>
                <a:latin typeface="Times New Roman"/>
                <a:ea typeface="+mn-lt"/>
                <a:cs typeface="+mn-lt"/>
              </a:rPr>
              <a:t>như</a:t>
            </a:r>
            <a:r>
              <a:rPr lang="en-US">
                <a:solidFill>
                  <a:srgbClr val="373A3C"/>
                </a:solidFill>
                <a:latin typeface="Times New Roman"/>
                <a:ea typeface="+mn-lt"/>
                <a:cs typeface="+mn-lt"/>
              </a:rPr>
              <a:t> </a:t>
            </a:r>
            <a:r>
              <a:rPr lang="en-US" err="1">
                <a:solidFill>
                  <a:srgbClr val="373A3C"/>
                </a:solidFill>
                <a:latin typeface="Times New Roman"/>
                <a:ea typeface="+mn-lt"/>
                <a:cs typeface="+mn-lt"/>
              </a:rPr>
              <a:t>Phân</a:t>
            </a:r>
            <a:r>
              <a:rPr lang="en-US">
                <a:solidFill>
                  <a:srgbClr val="373A3C"/>
                </a:solidFill>
                <a:latin typeface="Times New Roman"/>
                <a:ea typeface="+mn-lt"/>
                <a:cs typeface="+mn-lt"/>
              </a:rPr>
              <a:t> </a:t>
            </a:r>
            <a:r>
              <a:rPr lang="en-US" err="1">
                <a:solidFill>
                  <a:srgbClr val="373A3C"/>
                </a:solidFill>
                <a:latin typeface="Times New Roman"/>
                <a:ea typeface="+mn-lt"/>
                <a:cs typeface="+mn-lt"/>
              </a:rPr>
              <a:t>loại</a:t>
            </a:r>
            <a:r>
              <a:rPr lang="en-US">
                <a:solidFill>
                  <a:srgbClr val="373A3C"/>
                </a:solidFill>
                <a:latin typeface="Times New Roman"/>
                <a:ea typeface="+mn-lt"/>
                <a:cs typeface="+mn-lt"/>
              </a:rPr>
              <a:t> </a:t>
            </a:r>
            <a:r>
              <a:rPr lang="en-US" err="1">
                <a:solidFill>
                  <a:srgbClr val="373A3C"/>
                </a:solidFill>
                <a:latin typeface="Times New Roman"/>
                <a:ea typeface="+mn-lt"/>
                <a:cs typeface="+mn-lt"/>
              </a:rPr>
              <a:t>văn</a:t>
            </a:r>
            <a:r>
              <a:rPr lang="en-US">
                <a:solidFill>
                  <a:srgbClr val="373A3C"/>
                </a:solidFill>
                <a:latin typeface="Times New Roman"/>
                <a:ea typeface="+mn-lt"/>
                <a:cs typeface="+mn-lt"/>
              </a:rPr>
              <a:t> </a:t>
            </a:r>
            <a:r>
              <a:rPr lang="en-US" err="1">
                <a:solidFill>
                  <a:srgbClr val="373A3C"/>
                </a:solidFill>
                <a:latin typeface="Times New Roman"/>
                <a:ea typeface="+mn-lt"/>
                <a:cs typeface="+mn-lt"/>
              </a:rPr>
              <a:t>bản</a:t>
            </a:r>
            <a:r>
              <a:rPr lang="en-US">
                <a:solidFill>
                  <a:srgbClr val="373A3C"/>
                </a:solidFill>
                <a:latin typeface="Times New Roman"/>
                <a:ea typeface="+mn-lt"/>
                <a:cs typeface="+mn-lt"/>
              </a:rPr>
              <a:t>, </a:t>
            </a:r>
            <a:r>
              <a:rPr lang="en-US" err="1">
                <a:solidFill>
                  <a:srgbClr val="373A3C"/>
                </a:solidFill>
                <a:latin typeface="Times New Roman"/>
                <a:ea typeface="+mn-lt"/>
                <a:cs typeface="+mn-lt"/>
              </a:rPr>
              <a:t>Gán</a:t>
            </a:r>
            <a:r>
              <a:rPr lang="en-US">
                <a:solidFill>
                  <a:srgbClr val="373A3C"/>
                </a:solidFill>
                <a:latin typeface="Times New Roman"/>
                <a:ea typeface="+mn-lt"/>
                <a:cs typeface="+mn-lt"/>
              </a:rPr>
              <a:t> </a:t>
            </a:r>
            <a:r>
              <a:rPr lang="en-US" err="1">
                <a:solidFill>
                  <a:srgbClr val="373A3C"/>
                </a:solidFill>
                <a:latin typeface="Times New Roman"/>
                <a:ea typeface="+mn-lt"/>
                <a:cs typeface="+mn-lt"/>
              </a:rPr>
              <a:t>nhãn</a:t>
            </a:r>
            <a:r>
              <a:rPr lang="en-US">
                <a:solidFill>
                  <a:srgbClr val="373A3C"/>
                </a:solidFill>
                <a:latin typeface="Times New Roman"/>
                <a:ea typeface="+mn-lt"/>
                <a:cs typeface="+mn-lt"/>
              </a:rPr>
              <a:t> </a:t>
            </a:r>
            <a:r>
              <a:rPr lang="en-US" err="1">
                <a:solidFill>
                  <a:srgbClr val="373A3C"/>
                </a:solidFill>
                <a:latin typeface="Times New Roman"/>
                <a:ea typeface="+mn-lt"/>
                <a:cs typeface="+mn-lt"/>
              </a:rPr>
              <a:t>thực</a:t>
            </a:r>
            <a:r>
              <a:rPr lang="en-US">
                <a:solidFill>
                  <a:srgbClr val="373A3C"/>
                </a:solidFill>
                <a:latin typeface="Times New Roman"/>
                <a:ea typeface="+mn-lt"/>
                <a:cs typeface="+mn-lt"/>
              </a:rPr>
              <a:t> </a:t>
            </a:r>
            <a:r>
              <a:rPr lang="en-US" err="1">
                <a:solidFill>
                  <a:srgbClr val="373A3C"/>
                </a:solidFill>
                <a:latin typeface="Times New Roman"/>
                <a:ea typeface="+mn-lt"/>
                <a:cs typeface="+mn-lt"/>
              </a:rPr>
              <a:t>thể</a:t>
            </a:r>
            <a:r>
              <a:rPr lang="en-US">
                <a:solidFill>
                  <a:srgbClr val="373A3C"/>
                </a:solidFill>
                <a:latin typeface="Times New Roman"/>
                <a:ea typeface="+mn-lt"/>
                <a:cs typeface="+mn-lt"/>
              </a:rPr>
              <a:t> (NER), </a:t>
            </a:r>
            <a:r>
              <a:rPr lang="en-US" err="1">
                <a:solidFill>
                  <a:srgbClr val="373A3C"/>
                </a:solidFill>
                <a:latin typeface="Times New Roman"/>
                <a:ea typeface="+mn-lt"/>
                <a:cs typeface="+mn-lt"/>
              </a:rPr>
              <a:t>thay</a:t>
            </a:r>
            <a:r>
              <a:rPr lang="en-US">
                <a:solidFill>
                  <a:srgbClr val="373A3C"/>
                </a:solidFill>
                <a:latin typeface="Times New Roman"/>
                <a:ea typeface="+mn-lt"/>
                <a:cs typeface="+mn-lt"/>
              </a:rPr>
              <a:t> </a:t>
            </a:r>
            <a:r>
              <a:rPr lang="en-US" err="1">
                <a:solidFill>
                  <a:srgbClr val="373A3C"/>
                </a:solidFill>
                <a:latin typeface="Times New Roman"/>
                <a:ea typeface="+mn-lt"/>
                <a:cs typeface="+mn-lt"/>
              </a:rPr>
              <a:t>vì</a:t>
            </a:r>
            <a:r>
              <a:rPr lang="en-US">
                <a:solidFill>
                  <a:srgbClr val="373A3C"/>
                </a:solidFill>
                <a:latin typeface="Times New Roman"/>
                <a:ea typeface="+mn-lt"/>
                <a:cs typeface="+mn-lt"/>
              </a:rPr>
              <a:t> </a:t>
            </a:r>
            <a:r>
              <a:rPr lang="en-US" err="1">
                <a:solidFill>
                  <a:srgbClr val="373A3C"/>
                </a:solidFill>
                <a:latin typeface="Times New Roman"/>
                <a:ea typeface="+mn-lt"/>
                <a:cs typeface="+mn-lt"/>
              </a:rPr>
              <a:t>sinh</a:t>
            </a:r>
            <a:r>
              <a:rPr lang="en-US">
                <a:solidFill>
                  <a:srgbClr val="373A3C"/>
                </a:solidFill>
                <a:latin typeface="Times New Roman"/>
                <a:ea typeface="+mn-lt"/>
                <a:cs typeface="+mn-lt"/>
              </a:rPr>
              <a:t> </a:t>
            </a:r>
            <a:r>
              <a:rPr lang="en-US" err="1">
                <a:solidFill>
                  <a:srgbClr val="373A3C"/>
                </a:solidFill>
                <a:latin typeface="Times New Roman"/>
                <a:ea typeface="+mn-lt"/>
                <a:cs typeface="+mn-lt"/>
              </a:rPr>
              <a:t>văn</a:t>
            </a:r>
            <a:r>
              <a:rPr lang="en-US">
                <a:solidFill>
                  <a:srgbClr val="373A3C"/>
                </a:solidFill>
                <a:latin typeface="Times New Roman"/>
                <a:ea typeface="+mn-lt"/>
                <a:cs typeface="+mn-lt"/>
              </a:rPr>
              <a:t> </a:t>
            </a:r>
            <a:r>
              <a:rPr lang="en-US" err="1">
                <a:solidFill>
                  <a:srgbClr val="373A3C"/>
                </a:solidFill>
                <a:latin typeface="Times New Roman"/>
                <a:ea typeface="+mn-lt"/>
                <a:cs typeface="+mn-lt"/>
              </a:rPr>
              <a:t>bản</a:t>
            </a:r>
            <a:r>
              <a:rPr lang="en-US">
                <a:solidFill>
                  <a:srgbClr val="373A3C"/>
                </a:solidFill>
                <a:latin typeface="Times New Roman"/>
                <a:ea typeface="+mn-lt"/>
                <a:cs typeface="+mn-lt"/>
              </a:rPr>
              <a:t>.</a:t>
            </a:r>
            <a:endParaRPr lang="en-US">
              <a:latin typeface="Times New Roman"/>
              <a:cs typeface="Times New Roman"/>
            </a:endParaRPr>
          </a:p>
          <a:p>
            <a:pPr>
              <a:buFont typeface="Arial"/>
              <a:buChar char="•"/>
            </a:pPr>
            <a:r>
              <a:rPr lang="en-US" b="1" err="1">
                <a:solidFill>
                  <a:srgbClr val="373A3C"/>
                </a:solidFill>
                <a:latin typeface="Times New Roman"/>
                <a:ea typeface="+mn-lt"/>
                <a:cs typeface="+mn-lt"/>
              </a:rPr>
              <a:t>Mô</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hình</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áp</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dụng</a:t>
            </a:r>
            <a:r>
              <a:rPr lang="en-US" b="1">
                <a:solidFill>
                  <a:srgbClr val="373A3C"/>
                </a:solidFill>
                <a:latin typeface="Times New Roman"/>
                <a:ea typeface="+mn-lt"/>
                <a:cs typeface="+mn-lt"/>
              </a:rPr>
              <a:t>:</a:t>
            </a:r>
            <a:r>
              <a:rPr lang="en-US">
                <a:solidFill>
                  <a:srgbClr val="373A3C"/>
                </a:solidFill>
                <a:latin typeface="Times New Roman"/>
                <a:ea typeface="+mn-lt"/>
                <a:cs typeface="+mn-lt"/>
              </a:rPr>
              <a:t> </a:t>
            </a:r>
            <a:r>
              <a:rPr lang="en-US" b="1" err="1">
                <a:solidFill>
                  <a:srgbClr val="373A3C"/>
                </a:solidFill>
                <a:latin typeface="Times New Roman"/>
                <a:ea typeface="+mn-lt"/>
                <a:cs typeface="+mn-lt"/>
              </a:rPr>
              <a:t>PhoBERT</a:t>
            </a:r>
            <a:r>
              <a:rPr lang="en-US">
                <a:solidFill>
                  <a:srgbClr val="373A3C"/>
                </a:solidFill>
                <a:latin typeface="Times New Roman"/>
                <a:ea typeface="+mn-lt"/>
                <a:cs typeface="+mn-lt"/>
              </a:rPr>
              <a:t> - </a:t>
            </a:r>
            <a:r>
              <a:rPr lang="en-US" err="1">
                <a:solidFill>
                  <a:srgbClr val="373A3C"/>
                </a:solidFill>
                <a:latin typeface="Times New Roman"/>
                <a:ea typeface="+mn-lt"/>
                <a:cs typeface="+mn-lt"/>
              </a:rPr>
              <a:t>Mô</a:t>
            </a:r>
            <a:r>
              <a:rPr lang="en-US">
                <a:solidFill>
                  <a:srgbClr val="373A3C"/>
                </a:solidFill>
                <a:latin typeface="Times New Roman"/>
                <a:ea typeface="+mn-lt"/>
                <a:cs typeface="+mn-lt"/>
              </a:rPr>
              <a:t> </a:t>
            </a:r>
            <a:r>
              <a:rPr lang="en-US" err="1">
                <a:solidFill>
                  <a:srgbClr val="373A3C"/>
                </a:solidFill>
                <a:latin typeface="Times New Roman"/>
                <a:ea typeface="+mn-lt"/>
                <a:cs typeface="+mn-lt"/>
              </a:rPr>
              <a:t>hình</a:t>
            </a:r>
            <a:r>
              <a:rPr lang="en-US">
                <a:solidFill>
                  <a:srgbClr val="373A3C"/>
                </a:solidFill>
                <a:latin typeface="Times New Roman"/>
                <a:ea typeface="+mn-lt"/>
                <a:cs typeface="+mn-lt"/>
              </a:rPr>
              <a:t> Encoder-only </a:t>
            </a:r>
            <a:r>
              <a:rPr lang="en-US" err="1">
                <a:solidFill>
                  <a:srgbClr val="373A3C"/>
                </a:solidFill>
                <a:latin typeface="Times New Roman"/>
                <a:ea typeface="+mn-lt"/>
                <a:cs typeface="+mn-lt"/>
              </a:rPr>
              <a:t>được</a:t>
            </a:r>
            <a:r>
              <a:rPr lang="en-US">
                <a:solidFill>
                  <a:srgbClr val="373A3C"/>
                </a:solidFill>
                <a:latin typeface="Times New Roman"/>
                <a:ea typeface="+mn-lt"/>
                <a:cs typeface="+mn-lt"/>
              </a:rPr>
              <a:t> </a:t>
            </a:r>
            <a:r>
              <a:rPr lang="en-US" err="1">
                <a:solidFill>
                  <a:srgbClr val="373A3C"/>
                </a:solidFill>
                <a:latin typeface="Times New Roman"/>
                <a:ea typeface="+mn-lt"/>
                <a:cs typeface="+mn-lt"/>
              </a:rPr>
              <a:t>huấn</a:t>
            </a:r>
            <a:r>
              <a:rPr lang="en-US">
                <a:solidFill>
                  <a:srgbClr val="373A3C"/>
                </a:solidFill>
                <a:latin typeface="Times New Roman"/>
                <a:ea typeface="+mn-lt"/>
                <a:cs typeface="+mn-lt"/>
              </a:rPr>
              <a:t> </a:t>
            </a:r>
            <a:r>
              <a:rPr lang="en-US" err="1">
                <a:solidFill>
                  <a:srgbClr val="373A3C"/>
                </a:solidFill>
                <a:latin typeface="Times New Roman"/>
                <a:ea typeface="+mn-lt"/>
                <a:cs typeface="+mn-lt"/>
              </a:rPr>
              <a:t>luyện</a:t>
            </a:r>
            <a:r>
              <a:rPr lang="en-US">
                <a:solidFill>
                  <a:srgbClr val="373A3C"/>
                </a:solidFill>
                <a:latin typeface="Times New Roman"/>
                <a:ea typeface="+mn-lt"/>
                <a:cs typeface="+mn-lt"/>
              </a:rPr>
              <a:t> </a:t>
            </a:r>
            <a:r>
              <a:rPr lang="en-US" err="1">
                <a:solidFill>
                  <a:srgbClr val="373A3C"/>
                </a:solidFill>
                <a:latin typeface="Times New Roman"/>
                <a:ea typeface="+mn-lt"/>
                <a:cs typeface="+mn-lt"/>
              </a:rPr>
              <a:t>trước</a:t>
            </a:r>
            <a:r>
              <a:rPr lang="en-US">
                <a:solidFill>
                  <a:srgbClr val="373A3C"/>
                </a:solidFill>
                <a:latin typeface="Times New Roman"/>
                <a:ea typeface="+mn-lt"/>
                <a:cs typeface="+mn-lt"/>
              </a:rPr>
              <a:t> (Pre-trained) </a:t>
            </a:r>
            <a:r>
              <a:rPr lang="en-US" err="1">
                <a:solidFill>
                  <a:srgbClr val="373A3C"/>
                </a:solidFill>
                <a:latin typeface="Times New Roman"/>
                <a:ea typeface="+mn-lt"/>
                <a:cs typeface="+mn-lt"/>
              </a:rPr>
              <a:t>chuyên</a:t>
            </a:r>
            <a:r>
              <a:rPr lang="en-US">
                <a:solidFill>
                  <a:srgbClr val="373A3C"/>
                </a:solidFill>
                <a:latin typeface="Times New Roman"/>
                <a:ea typeface="+mn-lt"/>
                <a:cs typeface="+mn-lt"/>
              </a:rPr>
              <a:t> </a:t>
            </a:r>
            <a:r>
              <a:rPr lang="en-US" err="1">
                <a:solidFill>
                  <a:srgbClr val="373A3C"/>
                </a:solidFill>
                <a:latin typeface="Times New Roman"/>
                <a:ea typeface="+mn-lt"/>
                <a:cs typeface="+mn-lt"/>
              </a:rPr>
              <a:t>biệt</a:t>
            </a:r>
            <a:r>
              <a:rPr lang="en-US">
                <a:solidFill>
                  <a:srgbClr val="373A3C"/>
                </a:solidFill>
                <a:latin typeface="Times New Roman"/>
                <a:ea typeface="+mn-lt"/>
                <a:cs typeface="+mn-lt"/>
              </a:rPr>
              <a:t> </a:t>
            </a:r>
            <a:r>
              <a:rPr lang="en-US" err="1">
                <a:solidFill>
                  <a:srgbClr val="373A3C"/>
                </a:solidFill>
                <a:latin typeface="Times New Roman"/>
                <a:ea typeface="+mn-lt"/>
                <a:cs typeface="+mn-lt"/>
              </a:rPr>
              <a:t>cho</a:t>
            </a:r>
            <a:r>
              <a:rPr lang="en-US">
                <a:solidFill>
                  <a:srgbClr val="373A3C"/>
                </a:solidFill>
                <a:latin typeface="Times New Roman"/>
                <a:ea typeface="+mn-lt"/>
                <a:cs typeface="+mn-lt"/>
              </a:rPr>
              <a:t> </a:t>
            </a:r>
            <a:r>
              <a:rPr lang="en-US" err="1">
                <a:solidFill>
                  <a:srgbClr val="373A3C"/>
                </a:solidFill>
                <a:latin typeface="Times New Roman"/>
                <a:ea typeface="+mn-lt"/>
                <a:cs typeface="+mn-lt"/>
              </a:rPr>
              <a:t>tiếng</a:t>
            </a:r>
            <a:r>
              <a:rPr lang="en-US">
                <a:solidFill>
                  <a:srgbClr val="373A3C"/>
                </a:solidFill>
                <a:latin typeface="Times New Roman"/>
                <a:ea typeface="+mn-lt"/>
                <a:cs typeface="+mn-lt"/>
              </a:rPr>
              <a:t> Việt.</a:t>
            </a:r>
            <a:endParaRPr lang="en-US">
              <a:latin typeface="Times New Roman"/>
              <a:ea typeface="+mn-lt"/>
              <a:cs typeface="+mn-lt"/>
            </a:endParaRPr>
          </a:p>
        </p:txBody>
      </p:sp>
    </p:spTree>
    <p:extLst>
      <p:ext uri="{BB962C8B-B14F-4D97-AF65-F5344CB8AC3E}">
        <p14:creationId xmlns:p14="http://schemas.microsoft.com/office/powerpoint/2010/main" val="1030614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3B7A7-56E8-056F-6EF1-E93FEAABE597}"/>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9F3E4DAE-AA59-74E5-0FD9-E028F6E4F5ED}"/>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299C2CF4-031D-489C-40E8-951DDF62152C}"/>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6117B41D-9F3D-6260-2BC2-06C6A55CCFC3}"/>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21654583-8B7D-7F66-3C7E-1AA6D9BD3E99}"/>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2284D2CC-AD4F-E332-DAD8-AAB8759212EB}"/>
              </a:ext>
            </a:extLst>
          </p:cNvPr>
          <p:cNvSpPr>
            <a:spLocks noGrp="1"/>
          </p:cNvSpPr>
          <p:nvPr>
            <p:ph type="title"/>
          </p:nvPr>
        </p:nvSpPr>
        <p:spPr>
          <a:xfrm>
            <a:off x="-2415" y="10956"/>
            <a:ext cx="7886700" cy="1325563"/>
          </a:xfrm>
        </p:spPr>
        <p:txBody>
          <a:bodyPr/>
          <a:lstStyle/>
          <a:p>
            <a:r>
              <a:rPr lang="vi-VN" sz="4000">
                <a:latin typeface="Times New Roman"/>
                <a:ea typeface="+mj-lt"/>
                <a:cs typeface="Times New Roman"/>
              </a:rPr>
              <a:t>Bài toán &amp; Xây dựng Dữ liệu</a:t>
            </a:r>
            <a:endParaRPr lang="vi-VN">
              <a:latin typeface="Times New Roman"/>
              <a:cs typeface="Times New Roman"/>
            </a:endParaRPr>
          </a:p>
        </p:txBody>
      </p:sp>
      <p:sp>
        <p:nvSpPr>
          <p:cNvPr id="9" name="Content Placeholder 2">
            <a:extLst>
              <a:ext uri="{FF2B5EF4-FFF2-40B4-BE49-F238E27FC236}">
                <a16:creationId xmlns:a16="http://schemas.microsoft.com/office/drawing/2014/main" id="{BF01FB4F-26AC-24CF-EFB4-ECC949645362}"/>
              </a:ext>
            </a:extLst>
          </p:cNvPr>
          <p:cNvSpPr>
            <a:spLocks noGrp="1"/>
          </p:cNvSpPr>
          <p:nvPr>
            <p:ph idx="1"/>
          </p:nvPr>
        </p:nvSpPr>
        <p:spPr>
          <a:xfrm>
            <a:off x="-2415" y="1582094"/>
            <a:ext cx="9148829" cy="5188464"/>
          </a:xfrm>
        </p:spPr>
        <p:txBody>
          <a:bodyPr vert="horz" lIns="91440" tIns="45720" rIns="91440" bIns="45720" rtlCol="0" anchor="t">
            <a:normAutofit/>
          </a:bodyPr>
          <a:lstStyle/>
          <a:p>
            <a:pPr>
              <a:buFont typeface="Arial"/>
              <a:buChar char="•"/>
            </a:pPr>
            <a:r>
              <a:rPr lang="en-US" b="1" err="1">
                <a:solidFill>
                  <a:srgbClr val="373A3C"/>
                </a:solidFill>
                <a:latin typeface="Times New Roman"/>
                <a:ea typeface="+mn-lt"/>
                <a:cs typeface="Times New Roman"/>
              </a:rPr>
              <a:t>Bài</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toán</a:t>
            </a:r>
            <a:r>
              <a:rPr lang="en-US" b="1">
                <a:solidFill>
                  <a:srgbClr val="373A3C"/>
                </a:solidFill>
                <a:latin typeface="Times New Roman"/>
                <a:ea typeface="+mn-lt"/>
                <a:cs typeface="Times New Roman"/>
              </a:rPr>
              <a:t>:</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Phân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loại</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cảm</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xúc</a:t>
            </a:r>
            <a:r>
              <a:rPr lang="en-US">
                <a:solidFill>
                  <a:srgbClr val="373A3C"/>
                </a:solidFill>
                <a:latin typeface="Times New Roman"/>
                <a:ea typeface="+mn-lt"/>
                <a:cs typeface="Times New Roman"/>
              </a:rPr>
              <a:t> (Sentiment Analysis) </a:t>
            </a:r>
            <a:r>
              <a:rPr lang="en-US" err="1">
                <a:solidFill>
                  <a:srgbClr val="373A3C"/>
                </a:solidFill>
                <a:latin typeface="Times New Roman"/>
                <a:ea typeface="+mn-lt"/>
                <a:cs typeface="Times New Roman"/>
              </a:rPr>
              <a:t>phản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hồi</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của</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sinh</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viên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với</a:t>
            </a:r>
            <a:r>
              <a:rPr lang="en-US">
                <a:solidFill>
                  <a:srgbClr val="373A3C"/>
                </a:solidFill>
                <a:latin typeface="Times New Roman"/>
                <a:ea typeface="+mn-lt"/>
                <a:cs typeface="Times New Roman"/>
              </a:rPr>
              <a:t> 3 </a:t>
            </a:r>
            <a:r>
              <a:rPr lang="en-US" err="1">
                <a:solidFill>
                  <a:srgbClr val="373A3C"/>
                </a:solidFill>
                <a:latin typeface="Times New Roman"/>
                <a:ea typeface="+mn-lt"/>
                <a:cs typeface="Times New Roman"/>
              </a:rPr>
              <a:t>nhãn</a:t>
            </a:r>
            <a:r>
              <a:rPr lang="en-US">
                <a:solidFill>
                  <a:srgbClr val="373A3C"/>
                </a:solidFill>
                <a:latin typeface="Times New Roman"/>
                <a:ea typeface="+mn-lt"/>
                <a:cs typeface="Times New Roman"/>
              </a:rPr>
              <a:t>: </a:t>
            </a:r>
            <a:r>
              <a:rPr lang="en-US" i="1">
                <a:solidFill>
                  <a:srgbClr val="373A3C"/>
                </a:solidFill>
                <a:latin typeface="Times New Roman"/>
                <a:ea typeface="+mn-lt"/>
                <a:cs typeface="Times New Roman"/>
              </a:rPr>
              <a:t>Positive, Negative, Neutral</a:t>
            </a:r>
            <a:r>
              <a:rPr lang="en-US">
                <a:solidFill>
                  <a:srgbClr val="373A3C"/>
                </a:solidFill>
                <a:latin typeface="Times New Roman"/>
                <a:ea typeface="+mn-lt"/>
                <a:cs typeface="Times New Roman"/>
              </a:rPr>
              <a:t>.</a:t>
            </a:r>
            <a:endParaRPr lang="vi-VN">
              <a:solidFill>
                <a:srgbClr val="000000"/>
              </a:solidFill>
              <a:latin typeface="Times New Roman"/>
              <a:ea typeface="+mn-lt"/>
              <a:cs typeface="Times New Roman"/>
            </a:endParaRPr>
          </a:p>
          <a:p>
            <a:pPr>
              <a:buFont typeface="Arial"/>
              <a:buChar char="•"/>
            </a:pPr>
            <a:r>
              <a:rPr lang="en-US" b="1" err="1">
                <a:solidFill>
                  <a:srgbClr val="373A3C"/>
                </a:solidFill>
                <a:latin typeface="Times New Roman"/>
                <a:ea typeface="+mn-lt"/>
                <a:cs typeface="Times New Roman"/>
              </a:rPr>
              <a:t>Dữ</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liệu</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gốc</a:t>
            </a:r>
            <a:r>
              <a:rPr lang="en-US" b="1">
                <a:solidFill>
                  <a:srgbClr val="373A3C"/>
                </a:solidFill>
                <a:latin typeface="Times New Roman"/>
                <a:ea typeface="+mn-lt"/>
                <a:cs typeface="Times New Roman"/>
              </a:rPr>
              <a:t> (Baseline):</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Tập</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vietnamese_students_feedback</a:t>
            </a:r>
            <a:r>
              <a:rPr lang="en-US">
                <a:solidFill>
                  <a:srgbClr val="373A3C"/>
                </a:solidFill>
                <a:latin typeface="Times New Roman"/>
                <a:ea typeface="+mn-lt"/>
                <a:cs typeface="Times New Roman"/>
              </a:rPr>
              <a:t> (~11.400 </a:t>
            </a:r>
            <a:r>
              <a:rPr lang="en-US" err="1">
                <a:solidFill>
                  <a:srgbClr val="373A3C"/>
                </a:solidFill>
                <a:latin typeface="Times New Roman"/>
                <a:ea typeface="+mn-lt"/>
                <a:cs typeface="Times New Roman"/>
              </a:rPr>
              <a:t>mẫu</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Đặc</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trưng</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nhiều</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teencode</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từ</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lóng</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câu</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ngắn</a:t>
            </a:r>
            <a:r>
              <a:rPr lang="en-US">
                <a:solidFill>
                  <a:srgbClr val="373A3C"/>
                </a:solidFill>
                <a:latin typeface="Times New Roman"/>
                <a:ea typeface="+mn-lt"/>
                <a:cs typeface="Times New Roman"/>
              </a:rPr>
              <a:t>.</a:t>
            </a:r>
            <a:endParaRPr lang="en-US">
              <a:latin typeface="Times New Roman"/>
              <a:ea typeface="+mn-lt"/>
              <a:cs typeface="Times New Roman"/>
            </a:endParaRPr>
          </a:p>
          <a:p>
            <a:pPr>
              <a:buFont typeface="Arial"/>
              <a:buChar char="•"/>
            </a:pPr>
            <a:r>
              <a:rPr lang="en-US" b="1" err="1">
                <a:solidFill>
                  <a:srgbClr val="373A3C"/>
                </a:solidFill>
                <a:latin typeface="Times New Roman"/>
                <a:ea typeface="+mn-lt"/>
                <a:cs typeface="Times New Roman"/>
              </a:rPr>
              <a:t>Dữ</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liệu</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nhân</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tạo</a:t>
            </a:r>
            <a:r>
              <a:rPr lang="en-US" b="1">
                <a:solidFill>
                  <a:srgbClr val="373A3C"/>
                </a:solidFill>
                <a:latin typeface="Times New Roman"/>
                <a:ea typeface="+mn-lt"/>
                <a:cs typeface="Times New Roman"/>
              </a:rPr>
              <a:t> (Augmentation):</a:t>
            </a:r>
            <a:endParaRPr lang="en-US">
              <a:latin typeface="Times New Roman"/>
              <a:cs typeface="Times New Roman"/>
            </a:endParaRPr>
          </a:p>
          <a:p>
            <a:pPr lvl="1">
              <a:buFont typeface="Courier New"/>
              <a:buChar char="o"/>
            </a:pPr>
            <a:r>
              <a:rPr lang="en-US" err="1">
                <a:solidFill>
                  <a:srgbClr val="373A3C"/>
                </a:solidFill>
                <a:latin typeface="Times New Roman"/>
                <a:ea typeface="+mn-lt"/>
                <a:cs typeface="Times New Roman"/>
              </a:rPr>
              <a:t>Đã</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sinh</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thêm</a:t>
            </a:r>
            <a:r>
              <a:rPr lang="en-US">
                <a:solidFill>
                  <a:srgbClr val="373A3C"/>
                </a:solidFill>
                <a:latin typeface="Times New Roman"/>
                <a:ea typeface="+mn-lt"/>
                <a:cs typeface="Times New Roman"/>
              </a:rPr>
              <a:t> </a:t>
            </a:r>
            <a:r>
              <a:rPr lang="en-US" b="1">
                <a:solidFill>
                  <a:srgbClr val="373A3C"/>
                </a:solidFill>
                <a:latin typeface="Times New Roman"/>
                <a:ea typeface="+mn-lt"/>
                <a:cs typeface="Times New Roman"/>
              </a:rPr>
              <a:t>5.292 </a:t>
            </a:r>
            <a:r>
              <a:rPr lang="en-US" b="1" err="1">
                <a:solidFill>
                  <a:srgbClr val="373A3C"/>
                </a:solidFill>
                <a:latin typeface="Times New Roman"/>
                <a:ea typeface="+mn-lt"/>
                <a:cs typeface="Times New Roman"/>
              </a:rPr>
              <a:t>mẫu</a:t>
            </a:r>
            <a:r>
              <a:rPr lang="en-US">
                <a:solidFill>
                  <a:srgbClr val="373A3C"/>
                </a:solidFill>
                <a:latin typeface="Times New Roman"/>
                <a:ea typeface="+mn-lt"/>
                <a:cs typeface="Times New Roman"/>
              </a:rPr>
              <a:t> Synthetic </a:t>
            </a:r>
            <a:r>
              <a:rPr lang="en-US" err="1">
                <a:solidFill>
                  <a:srgbClr val="373A3C"/>
                </a:solidFill>
                <a:latin typeface="Times New Roman"/>
                <a:ea typeface="+mn-lt"/>
                <a:cs typeface="Times New Roman"/>
              </a:rPr>
              <a:t>bằng</a:t>
            </a:r>
            <a:r>
              <a:rPr lang="en-US">
                <a:solidFill>
                  <a:srgbClr val="373A3C"/>
                </a:solidFill>
                <a:latin typeface="Times New Roman"/>
                <a:ea typeface="+mn-lt"/>
                <a:cs typeface="Times New Roman"/>
              </a:rPr>
              <a:t> Gemini 2.5.</a:t>
            </a:r>
            <a:endParaRPr lang="en-US">
              <a:latin typeface="Times New Roman"/>
              <a:ea typeface="+mn-lt"/>
              <a:cs typeface="Times New Roman"/>
            </a:endParaRPr>
          </a:p>
          <a:p>
            <a:pPr lvl="1">
              <a:buFont typeface="Courier New"/>
              <a:buChar char="o"/>
            </a:pPr>
            <a:r>
              <a:rPr lang="en-US" b="1" err="1">
                <a:solidFill>
                  <a:srgbClr val="373A3C"/>
                </a:solidFill>
                <a:latin typeface="Times New Roman"/>
                <a:ea typeface="+mn-lt"/>
                <a:cs typeface="Times New Roman"/>
              </a:rPr>
              <a:t>Mục</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đích</a:t>
            </a:r>
            <a:r>
              <a:rPr lang="en-US" b="1">
                <a:solidFill>
                  <a:srgbClr val="373A3C"/>
                </a:solidFill>
                <a:latin typeface="Times New Roman"/>
                <a:ea typeface="+mn-lt"/>
                <a:cs typeface="Times New Roman"/>
              </a:rPr>
              <a:t>:</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Bổ</a:t>
            </a:r>
            <a:r>
              <a:rPr lang="en-US">
                <a:solidFill>
                  <a:srgbClr val="373A3C"/>
                </a:solidFill>
                <a:latin typeface="Times New Roman"/>
                <a:ea typeface="+mn-lt"/>
                <a:cs typeface="Times New Roman"/>
              </a:rPr>
              <a:t> sung </a:t>
            </a:r>
            <a:r>
              <a:rPr lang="en-US" err="1">
                <a:solidFill>
                  <a:srgbClr val="373A3C"/>
                </a:solidFill>
                <a:latin typeface="Times New Roman"/>
                <a:ea typeface="+mn-lt"/>
                <a:cs typeface="Times New Roman"/>
              </a:rPr>
              <a:t>các</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trường</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hợp</a:t>
            </a:r>
            <a:r>
              <a:rPr lang="en-US">
                <a:solidFill>
                  <a:srgbClr val="373A3C"/>
                </a:solidFill>
                <a:latin typeface="Times New Roman"/>
                <a:ea typeface="+mn-lt"/>
                <a:cs typeface="Times New Roman"/>
              </a:rPr>
              <a:t> "Neutral" (</a:t>
            </a:r>
            <a:r>
              <a:rPr lang="en-US" err="1">
                <a:solidFill>
                  <a:srgbClr val="373A3C"/>
                </a:solidFill>
                <a:latin typeface="Times New Roman"/>
                <a:ea typeface="+mn-lt"/>
                <a:cs typeface="Times New Roman"/>
              </a:rPr>
              <a:t>trung</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tính</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khó</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phân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biệt</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và</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đa</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dạng</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hóa</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văn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phong</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để</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tránh</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mô</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hình</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học</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vẹt</a:t>
            </a:r>
            <a:r>
              <a:rPr lang="en-US">
                <a:solidFill>
                  <a:srgbClr val="373A3C"/>
                </a:solidFill>
                <a:latin typeface="Times New Roman"/>
                <a:ea typeface="+mn-lt"/>
                <a:cs typeface="Times New Roman"/>
              </a:rPr>
              <a:t> .</a:t>
            </a:r>
            <a:endParaRPr lang="en-US">
              <a:latin typeface="Times New Roman"/>
              <a:ea typeface="+mn-lt"/>
              <a:cs typeface="Times New Roman"/>
            </a:endParaRPr>
          </a:p>
          <a:p>
            <a:pPr>
              <a:buFont typeface="Arial"/>
              <a:buChar char="•"/>
            </a:pPr>
            <a:r>
              <a:rPr lang="en-US" b="1" err="1">
                <a:solidFill>
                  <a:srgbClr val="373A3C"/>
                </a:solidFill>
                <a:latin typeface="Times New Roman"/>
                <a:ea typeface="+mn-lt"/>
                <a:cs typeface="Times New Roman"/>
              </a:rPr>
              <a:t>Tiền</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xử</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lý</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đặc</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thù</a:t>
            </a:r>
            <a:r>
              <a:rPr lang="en-US" b="1">
                <a:solidFill>
                  <a:srgbClr val="373A3C"/>
                </a:solidFill>
                <a:latin typeface="Times New Roman"/>
                <a:ea typeface="+mn-lt"/>
                <a:cs typeface="Times New Roman"/>
              </a:rPr>
              <a:t>:</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Bắt</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buộc</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sử</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dụng</a:t>
            </a:r>
            <a:r>
              <a:rPr lang="en-US">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Phân</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đoạn</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từ</a:t>
            </a:r>
            <a:r>
              <a:rPr lang="en-US" b="1">
                <a:solidFill>
                  <a:srgbClr val="373A3C"/>
                </a:solidFill>
                <a:latin typeface="Times New Roman"/>
                <a:ea typeface="+mn-lt"/>
                <a:cs typeface="Times New Roman"/>
              </a:rPr>
              <a:t> (Word Segmentation)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ví</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dụ</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sinh_viên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trước</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khi</a:t>
            </a:r>
            <a:r>
              <a:rPr lang="en-US">
                <a:solidFill>
                  <a:srgbClr val="373A3C"/>
                </a:solidFill>
                <a:latin typeface="Times New Roman"/>
                <a:ea typeface="+mn-lt"/>
                <a:cs typeface="Times New Roman"/>
              </a:rPr>
              <a:t> Tokenize </a:t>
            </a:r>
            <a:r>
              <a:rPr lang="en-US" err="1">
                <a:solidFill>
                  <a:srgbClr val="373A3C"/>
                </a:solidFill>
                <a:latin typeface="Times New Roman"/>
                <a:ea typeface="+mn-lt"/>
                <a:cs typeface="Times New Roman"/>
              </a:rPr>
              <a:t>để</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phù</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hợp</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với</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PhoBERT</a:t>
            </a:r>
            <a:r>
              <a:rPr lang="en-US">
                <a:solidFill>
                  <a:srgbClr val="373A3C"/>
                </a:solidFill>
                <a:latin typeface="Times New Roman"/>
                <a:ea typeface="+mn-lt"/>
                <a:cs typeface="Times New Roman"/>
              </a:rPr>
              <a:t> .</a:t>
            </a:r>
            <a:endParaRPr lang="en-US">
              <a:latin typeface="Times New Roman"/>
              <a:ea typeface="+mn-lt"/>
              <a:cs typeface="Times New Roman"/>
            </a:endParaRPr>
          </a:p>
        </p:txBody>
      </p:sp>
    </p:spTree>
    <p:extLst>
      <p:ext uri="{BB962C8B-B14F-4D97-AF65-F5344CB8AC3E}">
        <p14:creationId xmlns:p14="http://schemas.microsoft.com/office/powerpoint/2010/main" val="1698590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4F679-043C-5979-F20F-55C4C2FB12A3}"/>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E6B7AFD3-827F-46F4-8AC8-C64DEC13E283}"/>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5D2DAB9F-ED65-D6D2-5AFF-7A42DDDD0C22}"/>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21274EF0-1A27-AFBB-E56E-4BE0C6B7C2C4}"/>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6790ED31-28FB-AE96-BF3D-DA04F738F2A6}"/>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B9BE815F-9679-C2DA-7F02-392CAD6B7D13}"/>
              </a:ext>
            </a:extLst>
          </p:cNvPr>
          <p:cNvSpPr>
            <a:spLocks noGrp="1"/>
          </p:cNvSpPr>
          <p:nvPr>
            <p:ph type="title"/>
          </p:nvPr>
        </p:nvSpPr>
        <p:spPr>
          <a:xfrm>
            <a:off x="-2415" y="10956"/>
            <a:ext cx="7886700" cy="1325563"/>
          </a:xfrm>
        </p:spPr>
        <p:txBody>
          <a:bodyPr/>
          <a:lstStyle/>
          <a:p>
            <a:r>
              <a:rPr lang="vi-VN" sz="4000">
                <a:latin typeface="Times New Roman"/>
                <a:ea typeface="+mj-lt"/>
                <a:cs typeface="Times New Roman"/>
              </a:rPr>
              <a:t>Bài toán &amp; Xây dựng Dữ liệu</a:t>
            </a:r>
            <a:endParaRPr lang="vi-VN">
              <a:latin typeface="Times New Roman"/>
              <a:cs typeface="Times New Roman"/>
            </a:endParaRPr>
          </a:p>
        </p:txBody>
      </p:sp>
      <p:pic>
        <p:nvPicPr>
          <p:cNvPr id="3" name="Content Placeholder 2" descr="A comparison of a bar graph&#10;&#10;AI-generated content may be incorrect.">
            <a:extLst>
              <a:ext uri="{FF2B5EF4-FFF2-40B4-BE49-F238E27FC236}">
                <a16:creationId xmlns:a16="http://schemas.microsoft.com/office/drawing/2014/main" id="{33A07025-F386-1A01-5581-EE58C3B16FF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75" y="2477585"/>
            <a:ext cx="9150350" cy="3398255"/>
          </a:xfrm>
        </p:spPr>
      </p:pic>
    </p:spTree>
    <p:extLst>
      <p:ext uri="{BB962C8B-B14F-4D97-AF65-F5344CB8AC3E}">
        <p14:creationId xmlns:p14="http://schemas.microsoft.com/office/powerpoint/2010/main" val="7389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786C3-70DC-05B4-46E3-9D97C258D9D3}"/>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6DEA4578-03E6-AAD7-9EAD-4A15852B6B03}"/>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94B8FABF-EEDA-FFA3-58D4-32AF8A8A53BD}"/>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DCD8F57D-1B24-7B3F-76F9-AB438BC00C3C}"/>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AD276421-4FF5-C61E-436A-397F3E0447B4}"/>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95183AF2-91DD-FECD-8DE3-8049CA924FAC}"/>
              </a:ext>
            </a:extLst>
          </p:cNvPr>
          <p:cNvSpPr>
            <a:spLocks noGrp="1"/>
          </p:cNvSpPr>
          <p:nvPr>
            <p:ph type="title"/>
          </p:nvPr>
        </p:nvSpPr>
        <p:spPr>
          <a:xfrm>
            <a:off x="-2415" y="10956"/>
            <a:ext cx="7886700" cy="1325563"/>
          </a:xfrm>
        </p:spPr>
        <p:txBody>
          <a:bodyPr/>
          <a:lstStyle/>
          <a:p>
            <a:r>
              <a:rPr lang="vi-VN" sz="4000">
                <a:latin typeface="Times New Roman"/>
                <a:ea typeface="+mj-lt"/>
                <a:cs typeface="Times New Roman"/>
              </a:rPr>
              <a:t>Thiết lập huấn luyện</a:t>
            </a:r>
            <a:endParaRPr lang="vi-VN" sz="4000">
              <a:latin typeface="Times New Roman"/>
              <a:cs typeface="Times New Roman"/>
            </a:endParaRPr>
          </a:p>
        </p:txBody>
      </p:sp>
      <p:sp>
        <p:nvSpPr>
          <p:cNvPr id="9" name="Content Placeholder 2">
            <a:extLst>
              <a:ext uri="{FF2B5EF4-FFF2-40B4-BE49-F238E27FC236}">
                <a16:creationId xmlns:a16="http://schemas.microsoft.com/office/drawing/2014/main" id="{A752B097-D6FB-AA2C-AD5D-6927BF3A849C}"/>
              </a:ext>
            </a:extLst>
          </p:cNvPr>
          <p:cNvSpPr>
            <a:spLocks noGrp="1"/>
          </p:cNvSpPr>
          <p:nvPr>
            <p:ph idx="1"/>
          </p:nvPr>
        </p:nvSpPr>
        <p:spPr>
          <a:xfrm>
            <a:off x="-2415" y="1582094"/>
            <a:ext cx="9148829" cy="5188464"/>
          </a:xfrm>
        </p:spPr>
        <p:txBody>
          <a:bodyPr vert="horz" lIns="91440" tIns="45720" rIns="91440" bIns="45720" rtlCol="0" anchor="t">
            <a:normAutofit/>
          </a:bodyPr>
          <a:lstStyle/>
          <a:p>
            <a:pPr>
              <a:buFont typeface="Arial"/>
              <a:buChar char="•"/>
            </a:pPr>
            <a:r>
              <a:rPr lang="en-US" b="1" err="1">
                <a:solidFill>
                  <a:srgbClr val="373A3C"/>
                </a:solidFill>
                <a:latin typeface="Times New Roman"/>
                <a:ea typeface="+mn-lt"/>
                <a:cs typeface="Times New Roman"/>
              </a:rPr>
              <a:t>Chiến</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lược</a:t>
            </a:r>
            <a:r>
              <a:rPr lang="en-US" b="1">
                <a:solidFill>
                  <a:srgbClr val="373A3C"/>
                </a:solidFill>
                <a:latin typeface="Times New Roman"/>
                <a:ea typeface="+mn-lt"/>
                <a:cs typeface="Times New Roman"/>
              </a:rPr>
              <a:t> so </a:t>
            </a:r>
            <a:r>
              <a:rPr lang="en-US" b="1" err="1">
                <a:solidFill>
                  <a:srgbClr val="373A3C"/>
                </a:solidFill>
                <a:latin typeface="Times New Roman"/>
                <a:ea typeface="+mn-lt"/>
                <a:cs typeface="Times New Roman"/>
              </a:rPr>
              <a:t>sánh</a:t>
            </a:r>
            <a:r>
              <a:rPr lang="en-US" b="1">
                <a:solidFill>
                  <a:srgbClr val="373A3C"/>
                </a:solidFill>
                <a:latin typeface="Times New Roman"/>
                <a:ea typeface="+mn-lt"/>
                <a:cs typeface="Times New Roman"/>
              </a:rPr>
              <a:t> (A/B Testing):</a:t>
            </a:r>
            <a:endParaRPr lang="vi-VN">
              <a:solidFill>
                <a:srgbClr val="000000"/>
              </a:solidFill>
              <a:latin typeface="Times New Roman"/>
              <a:ea typeface="+mn-lt"/>
              <a:cs typeface="Times New Roman"/>
            </a:endParaRPr>
          </a:p>
          <a:p>
            <a:pPr lvl="1">
              <a:buFont typeface="Courier New"/>
              <a:buChar char="o"/>
            </a:pPr>
            <a:r>
              <a:rPr lang="en-US" b="1">
                <a:solidFill>
                  <a:srgbClr val="373A3C"/>
                </a:solidFill>
                <a:latin typeface="Times New Roman"/>
                <a:ea typeface="+mn-lt"/>
                <a:cs typeface="Times New Roman"/>
              </a:rPr>
              <a:t>Model 1 (Baseline):</a:t>
            </a:r>
            <a:r>
              <a:rPr lang="en-US">
                <a:solidFill>
                  <a:srgbClr val="373A3C"/>
                </a:solidFill>
                <a:latin typeface="Times New Roman"/>
                <a:ea typeface="+mn-lt"/>
                <a:cs typeface="Times New Roman"/>
              </a:rPr>
              <a:t> Train </a:t>
            </a:r>
            <a:r>
              <a:rPr lang="en-US" err="1">
                <a:solidFill>
                  <a:srgbClr val="373A3C"/>
                </a:solidFill>
                <a:latin typeface="Times New Roman"/>
                <a:ea typeface="+mn-lt"/>
                <a:cs typeface="Times New Roman"/>
              </a:rPr>
              <a:t>chỉ</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trên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dữ</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liệu</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gốc</a:t>
            </a:r>
            <a:r>
              <a:rPr lang="en-US">
                <a:solidFill>
                  <a:srgbClr val="373A3C"/>
                </a:solidFill>
                <a:latin typeface="Times New Roman"/>
                <a:ea typeface="+mn-lt"/>
                <a:cs typeface="Times New Roman"/>
              </a:rPr>
              <a:t>.</a:t>
            </a:r>
            <a:endParaRPr lang="en-US">
              <a:latin typeface="Times New Roman"/>
              <a:ea typeface="+mn-lt"/>
              <a:cs typeface="Times New Roman"/>
            </a:endParaRPr>
          </a:p>
          <a:p>
            <a:pPr lvl="1">
              <a:buFont typeface="Courier New"/>
              <a:buChar char="o"/>
            </a:pPr>
            <a:r>
              <a:rPr lang="en-US" b="1">
                <a:solidFill>
                  <a:srgbClr val="373A3C"/>
                </a:solidFill>
                <a:latin typeface="Times New Roman"/>
                <a:ea typeface="+mn-lt"/>
                <a:cs typeface="Times New Roman"/>
              </a:rPr>
              <a:t>Model 2 (Augmented):</a:t>
            </a:r>
            <a:r>
              <a:rPr lang="en-US">
                <a:solidFill>
                  <a:srgbClr val="373A3C"/>
                </a:solidFill>
                <a:latin typeface="Times New Roman"/>
                <a:ea typeface="+mn-lt"/>
                <a:cs typeface="Times New Roman"/>
              </a:rPr>
              <a:t> Train </a:t>
            </a:r>
            <a:r>
              <a:rPr lang="en-US" err="1">
                <a:solidFill>
                  <a:srgbClr val="373A3C"/>
                </a:solidFill>
                <a:latin typeface="Times New Roman"/>
                <a:ea typeface="+mn-lt"/>
                <a:cs typeface="Times New Roman"/>
              </a:rPr>
              <a:t>trên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dữ</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liệu</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Gốc</a:t>
            </a:r>
            <a:r>
              <a:rPr lang="en-US">
                <a:solidFill>
                  <a:srgbClr val="373A3C"/>
                </a:solidFill>
                <a:latin typeface="Times New Roman"/>
                <a:ea typeface="+mn-lt"/>
                <a:cs typeface="Times New Roman"/>
              </a:rPr>
              <a:t> + Synthetic (~16.700 </a:t>
            </a:r>
            <a:r>
              <a:rPr lang="en-US" err="1">
                <a:solidFill>
                  <a:srgbClr val="373A3C"/>
                </a:solidFill>
                <a:latin typeface="Times New Roman"/>
                <a:ea typeface="+mn-lt"/>
                <a:cs typeface="Times New Roman"/>
              </a:rPr>
              <a:t>mẫu</a:t>
            </a:r>
            <a:r>
              <a:rPr lang="en-US">
                <a:solidFill>
                  <a:srgbClr val="373A3C"/>
                </a:solidFill>
                <a:latin typeface="Times New Roman"/>
                <a:ea typeface="+mn-lt"/>
                <a:cs typeface="Times New Roman"/>
              </a:rPr>
              <a:t>).</a:t>
            </a:r>
            <a:endParaRPr lang="en-US">
              <a:latin typeface="Times New Roman"/>
              <a:cs typeface="Times New Roman"/>
            </a:endParaRPr>
          </a:p>
          <a:p>
            <a:pPr>
              <a:buFont typeface="Arial"/>
              <a:buChar char="•"/>
            </a:pPr>
            <a:r>
              <a:rPr lang="en-US" b="1" err="1">
                <a:solidFill>
                  <a:srgbClr val="373A3C"/>
                </a:solidFill>
                <a:latin typeface="Times New Roman"/>
                <a:ea typeface="+mn-lt"/>
                <a:cs typeface="Times New Roman"/>
              </a:rPr>
              <a:t>Cấu</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hình</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Huấn</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luyện</a:t>
            </a:r>
            <a:r>
              <a:rPr lang="en-US" b="1">
                <a:solidFill>
                  <a:srgbClr val="373A3C"/>
                </a:solidFill>
                <a:latin typeface="Times New Roman"/>
                <a:ea typeface="+mn-lt"/>
                <a:cs typeface="Times New Roman"/>
              </a:rPr>
              <a:t>:</a:t>
            </a:r>
            <a:endParaRPr lang="en-US">
              <a:latin typeface="Times New Roman"/>
              <a:cs typeface="Times New Roman"/>
            </a:endParaRPr>
          </a:p>
          <a:p>
            <a:pPr lvl="1">
              <a:buFont typeface="Courier New"/>
              <a:buChar char="o"/>
            </a:pPr>
            <a:r>
              <a:rPr lang="en-US" b="1">
                <a:solidFill>
                  <a:srgbClr val="373A3C"/>
                </a:solidFill>
                <a:latin typeface="Times New Roman"/>
                <a:ea typeface="+mn-lt"/>
                <a:cs typeface="Times New Roman"/>
              </a:rPr>
              <a:t>Epochs:</a:t>
            </a:r>
            <a:r>
              <a:rPr lang="en-US">
                <a:solidFill>
                  <a:srgbClr val="373A3C"/>
                </a:solidFill>
                <a:latin typeface="Times New Roman"/>
                <a:ea typeface="+mn-lt"/>
                <a:cs typeface="Times New Roman"/>
              </a:rPr>
              <a:t> 10 (</a:t>
            </a:r>
            <a:r>
              <a:rPr lang="en-US" err="1">
                <a:solidFill>
                  <a:srgbClr val="373A3C"/>
                </a:solidFill>
                <a:latin typeface="Times New Roman"/>
                <a:ea typeface="+mn-lt"/>
                <a:cs typeface="Times New Roman"/>
              </a:rPr>
              <a:t>Đủ</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để</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hội</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tụ</a:t>
            </a:r>
            <a:r>
              <a:rPr lang="en-US">
                <a:solidFill>
                  <a:srgbClr val="373A3C"/>
                </a:solidFill>
                <a:latin typeface="Times New Roman"/>
                <a:ea typeface="+mn-lt"/>
                <a:cs typeface="Times New Roman"/>
              </a:rPr>
              <a:t>).</a:t>
            </a:r>
            <a:endParaRPr lang="en-US">
              <a:latin typeface="Times New Roman"/>
              <a:cs typeface="Times New Roman"/>
            </a:endParaRPr>
          </a:p>
          <a:p>
            <a:pPr lvl="1">
              <a:buFont typeface="Courier New"/>
              <a:buChar char="o"/>
            </a:pPr>
            <a:r>
              <a:rPr lang="en-US" b="1">
                <a:solidFill>
                  <a:srgbClr val="373A3C"/>
                </a:solidFill>
                <a:latin typeface="Times New Roman"/>
                <a:ea typeface="+mn-lt"/>
                <a:cs typeface="Times New Roman"/>
              </a:rPr>
              <a:t>Learning Rate:</a:t>
            </a:r>
            <a:r>
              <a:rPr lang="en-US">
                <a:solidFill>
                  <a:srgbClr val="373A3C"/>
                </a:solidFill>
                <a:latin typeface="Times New Roman"/>
                <a:ea typeface="+mn-lt"/>
                <a:cs typeface="Times New Roman"/>
              </a:rPr>
              <a:t> 2e-5 (</a:t>
            </a:r>
            <a:r>
              <a:rPr lang="en-US" err="1">
                <a:solidFill>
                  <a:srgbClr val="373A3C"/>
                </a:solidFill>
                <a:latin typeface="Times New Roman"/>
                <a:ea typeface="+mn-lt"/>
                <a:cs typeface="Times New Roman"/>
              </a:rPr>
              <a:t>Mức</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nhỏ</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để</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bảo</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toàn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kiến</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thức</a:t>
            </a:r>
            <a:r>
              <a:rPr lang="en-US">
                <a:solidFill>
                  <a:srgbClr val="373A3C"/>
                </a:solidFill>
                <a:latin typeface="Times New Roman"/>
                <a:ea typeface="+mn-lt"/>
                <a:cs typeface="Times New Roman"/>
              </a:rPr>
              <a:t> pre-trained).</a:t>
            </a:r>
            <a:endParaRPr lang="en-US">
              <a:latin typeface="Times New Roman"/>
              <a:cs typeface="Times New Roman"/>
            </a:endParaRPr>
          </a:p>
          <a:p>
            <a:pPr lvl="1">
              <a:buFont typeface="Courier New"/>
              <a:buChar char="o"/>
            </a:pPr>
            <a:r>
              <a:rPr lang="en-US" b="1" err="1">
                <a:solidFill>
                  <a:srgbClr val="373A3C"/>
                </a:solidFill>
                <a:latin typeface="Times New Roman"/>
                <a:ea typeface="+mn-lt"/>
                <a:cs typeface="Times New Roman"/>
              </a:rPr>
              <a:t>Cơ</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chế</a:t>
            </a:r>
            <a:r>
              <a:rPr lang="en-US" b="1">
                <a:solidFill>
                  <a:srgbClr val="373A3C"/>
                </a:solidFill>
                <a:latin typeface="Times New Roman"/>
                <a:ea typeface="+mn-lt"/>
                <a:cs typeface="Times New Roman"/>
              </a:rPr>
              <a:t> </a:t>
            </a:r>
            <a:r>
              <a:rPr lang="en-US" b="1" err="1">
                <a:solidFill>
                  <a:srgbClr val="373A3C"/>
                </a:solidFill>
                <a:latin typeface="Times New Roman"/>
                <a:ea typeface="+mn-lt"/>
                <a:cs typeface="Times New Roman"/>
              </a:rPr>
              <a:t>lưu</a:t>
            </a:r>
            <a:r>
              <a:rPr lang="en-US" b="1">
                <a:solidFill>
                  <a:srgbClr val="373A3C"/>
                </a:solidFill>
                <a:latin typeface="Times New Roman"/>
                <a:ea typeface="+mn-lt"/>
                <a:cs typeface="Times New Roman"/>
              </a:rPr>
              <a:t>:</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load_best_model_at_end</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dựa</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trên</a:t>
            </a:r>
            <a:r>
              <a:rPr lang="en-US">
                <a:solidFill>
                  <a:srgbClr val="373A3C"/>
                </a:solidFill>
                <a:latin typeface="Times New Roman"/>
                <a:ea typeface="+mn-lt"/>
                <a:cs typeface="Times New Roman"/>
              </a:rPr>
              <a:t> </a:t>
            </a:r>
            <a:r>
              <a:rPr lang="en-US" b="1">
                <a:solidFill>
                  <a:srgbClr val="373A3C"/>
                </a:solidFill>
                <a:latin typeface="Times New Roman"/>
                <a:ea typeface="+mn-lt"/>
                <a:cs typeface="Times New Roman"/>
              </a:rPr>
              <a:t>Eval Loss</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thấp</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nhất</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để</a:t>
            </a:r>
            <a:r>
              <a:rPr lang="en-US">
                <a:solidFill>
                  <a:srgbClr val="373A3C"/>
                </a:solidFill>
                <a:latin typeface="Times New Roman"/>
                <a:ea typeface="+mn-lt"/>
                <a:cs typeface="Times New Roman"/>
              </a:rPr>
              <a:t> </a:t>
            </a:r>
            <a:r>
              <a:rPr lang="en-US" err="1">
                <a:solidFill>
                  <a:srgbClr val="373A3C"/>
                </a:solidFill>
                <a:latin typeface="Times New Roman"/>
                <a:ea typeface="+mn-lt"/>
                <a:cs typeface="Times New Roman"/>
              </a:rPr>
              <a:t>tránh</a:t>
            </a:r>
            <a:r>
              <a:rPr lang="en-US">
                <a:solidFill>
                  <a:srgbClr val="373A3C"/>
                </a:solidFill>
                <a:latin typeface="Times New Roman"/>
                <a:ea typeface="+mn-lt"/>
                <a:cs typeface="Times New Roman"/>
              </a:rPr>
              <a:t> Overfitting.</a:t>
            </a:r>
            <a:endParaRPr lang="en-US">
              <a:latin typeface="Times New Roman"/>
              <a:ea typeface="+mn-lt"/>
              <a:cs typeface="Times New Roman"/>
            </a:endParaRPr>
          </a:p>
        </p:txBody>
      </p:sp>
    </p:spTree>
    <p:extLst>
      <p:ext uri="{BB962C8B-B14F-4D97-AF65-F5344CB8AC3E}">
        <p14:creationId xmlns:p14="http://schemas.microsoft.com/office/powerpoint/2010/main" val="3485569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52A3-8B27-7B2F-083C-8458BDDE021F}"/>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E9D0A1CA-DAAD-A225-18FE-FF82046C0FA7}"/>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E805F681-49AE-4747-8483-91E48E0D3AD1}"/>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2F0FBAE4-C623-BDDD-721A-50F44091AB00}"/>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02D459E3-DC8A-1C17-1A9B-04615D6F2EA9}"/>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42FA1EAD-D86B-7F54-B07D-1C1E7D4FD838}"/>
              </a:ext>
            </a:extLst>
          </p:cNvPr>
          <p:cNvSpPr>
            <a:spLocks noGrp="1"/>
          </p:cNvSpPr>
          <p:nvPr>
            <p:ph type="title"/>
          </p:nvPr>
        </p:nvSpPr>
        <p:spPr>
          <a:xfrm>
            <a:off x="-2415" y="10956"/>
            <a:ext cx="7886700" cy="1325563"/>
          </a:xfrm>
        </p:spPr>
        <p:txBody>
          <a:bodyPr/>
          <a:lstStyle/>
          <a:p>
            <a:r>
              <a:rPr lang="vi-VN" sz="4000">
                <a:latin typeface="Times New Roman"/>
                <a:ea typeface="+mj-lt"/>
                <a:cs typeface="Times New Roman"/>
              </a:rPr>
              <a:t>Thiết lập huấn luyện</a:t>
            </a:r>
            <a:endParaRPr lang="vi-VN" sz="4000">
              <a:latin typeface="Times New Roman"/>
              <a:cs typeface="Times New Roman"/>
            </a:endParaRPr>
          </a:p>
        </p:txBody>
      </p:sp>
      <p:pic>
        <p:nvPicPr>
          <p:cNvPr id="3" name="Content Placeholder 2" descr="A graph of different colored lines&#10;&#10;AI-generated content may be incorrect.">
            <a:extLst>
              <a:ext uri="{FF2B5EF4-FFF2-40B4-BE49-F238E27FC236}">
                <a16:creationId xmlns:a16="http://schemas.microsoft.com/office/drawing/2014/main" id="{F27C648C-97BD-DDDA-A6A4-527495875C7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75" y="2541732"/>
            <a:ext cx="9150350" cy="3269961"/>
          </a:xfrm>
        </p:spPr>
      </p:pic>
    </p:spTree>
    <p:extLst>
      <p:ext uri="{BB962C8B-B14F-4D97-AF65-F5344CB8AC3E}">
        <p14:creationId xmlns:p14="http://schemas.microsoft.com/office/powerpoint/2010/main" val="1087572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150AE-E2EF-83FA-2381-0F3E6799256F}"/>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48CF32B9-4297-41B1-F2EF-A5188DD0B2DF}"/>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5713963E-ECCF-9735-03EF-C9CE8C8EBAFA}"/>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2117F222-9AA0-AF6E-9713-E27440FE7FC1}"/>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6B72571B-6130-CC0C-862A-41C497B3E65A}"/>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9A8E73C7-4356-1E0C-22CF-5F3236D4AB93}"/>
              </a:ext>
            </a:extLst>
          </p:cNvPr>
          <p:cNvSpPr>
            <a:spLocks noGrp="1"/>
          </p:cNvSpPr>
          <p:nvPr>
            <p:ph type="title"/>
          </p:nvPr>
        </p:nvSpPr>
        <p:spPr>
          <a:xfrm>
            <a:off x="-2415" y="10956"/>
            <a:ext cx="7886700" cy="1325563"/>
          </a:xfrm>
        </p:spPr>
        <p:txBody>
          <a:bodyPr/>
          <a:lstStyle/>
          <a:p>
            <a:r>
              <a:rPr lang="vi-VN" sz="4000">
                <a:latin typeface="Times New Roman"/>
                <a:ea typeface="+mj-lt"/>
                <a:cs typeface="Times New Roman"/>
              </a:rPr>
              <a:t>Kết quả và phần đánh giá</a:t>
            </a:r>
            <a:endParaRPr lang="vi-VN"/>
          </a:p>
        </p:txBody>
      </p:sp>
      <p:sp>
        <p:nvSpPr>
          <p:cNvPr id="9" name="Content Placeholder 2">
            <a:extLst>
              <a:ext uri="{FF2B5EF4-FFF2-40B4-BE49-F238E27FC236}">
                <a16:creationId xmlns:a16="http://schemas.microsoft.com/office/drawing/2014/main" id="{1C76908B-CB78-CA99-5394-5233F48A1DF9}"/>
              </a:ext>
            </a:extLst>
          </p:cNvPr>
          <p:cNvSpPr>
            <a:spLocks noGrp="1"/>
          </p:cNvSpPr>
          <p:nvPr>
            <p:ph idx="1"/>
          </p:nvPr>
        </p:nvSpPr>
        <p:spPr>
          <a:xfrm>
            <a:off x="-2415" y="1582094"/>
            <a:ext cx="9148829" cy="5188464"/>
          </a:xfrm>
        </p:spPr>
        <p:txBody>
          <a:bodyPr vert="horz" lIns="91440" tIns="45720" rIns="91440" bIns="45720" rtlCol="0" anchor="t">
            <a:normAutofit/>
          </a:bodyPr>
          <a:lstStyle/>
          <a:p>
            <a:pPr>
              <a:buFont typeface="Arial"/>
              <a:buChar char="•"/>
            </a:pPr>
            <a:r>
              <a:rPr lang="en-US" b="1" err="1">
                <a:solidFill>
                  <a:srgbClr val="373A3C"/>
                </a:solidFill>
                <a:latin typeface="Times New Roman"/>
                <a:ea typeface="+mn-lt"/>
                <a:cs typeface="+mn-lt"/>
              </a:rPr>
              <a:t>Kết</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quả</a:t>
            </a:r>
            <a:r>
              <a:rPr lang="en-US" b="1">
                <a:solidFill>
                  <a:srgbClr val="373A3C"/>
                </a:solidFill>
                <a:latin typeface="Times New Roman"/>
                <a:ea typeface="+mn-lt"/>
                <a:cs typeface="+mn-lt"/>
              </a:rPr>
              <a:t> Định </a:t>
            </a:r>
            <a:r>
              <a:rPr lang="en-US" b="1" err="1">
                <a:solidFill>
                  <a:srgbClr val="373A3C"/>
                </a:solidFill>
                <a:latin typeface="Times New Roman"/>
                <a:ea typeface="+mn-lt"/>
                <a:cs typeface="+mn-lt"/>
              </a:rPr>
              <a:t>lượng</a:t>
            </a:r>
            <a:r>
              <a:rPr lang="en-US" b="1">
                <a:solidFill>
                  <a:srgbClr val="373A3C"/>
                </a:solidFill>
                <a:latin typeface="Times New Roman"/>
                <a:ea typeface="+mn-lt"/>
                <a:cs typeface="+mn-lt"/>
              </a:rPr>
              <a:t>:</a:t>
            </a:r>
            <a:endParaRPr lang="vi-VN">
              <a:solidFill>
                <a:srgbClr val="000000"/>
              </a:solidFill>
              <a:latin typeface="Times New Roman"/>
              <a:ea typeface="+mn-lt"/>
              <a:cs typeface="Times New Roman"/>
            </a:endParaRPr>
          </a:p>
          <a:p>
            <a:pPr lvl="1">
              <a:buFont typeface="Arial"/>
              <a:buChar char="•"/>
            </a:pPr>
            <a:r>
              <a:rPr lang="en-US" err="1">
                <a:solidFill>
                  <a:srgbClr val="373A3C"/>
                </a:solidFill>
                <a:latin typeface="Times New Roman"/>
                <a:ea typeface="+mn-lt"/>
                <a:cs typeface="+mn-lt"/>
              </a:rPr>
              <a:t>Mô</a:t>
            </a:r>
            <a:r>
              <a:rPr lang="en-US">
                <a:solidFill>
                  <a:srgbClr val="373A3C"/>
                </a:solidFill>
                <a:latin typeface="Times New Roman"/>
                <a:ea typeface="+mn-lt"/>
                <a:cs typeface="+mn-lt"/>
              </a:rPr>
              <a:t> </a:t>
            </a:r>
            <a:r>
              <a:rPr lang="en-US" err="1">
                <a:solidFill>
                  <a:srgbClr val="373A3C"/>
                </a:solidFill>
                <a:latin typeface="Times New Roman"/>
                <a:ea typeface="+mn-lt"/>
                <a:cs typeface="+mn-lt"/>
              </a:rPr>
              <a:t>hình</a:t>
            </a:r>
            <a:r>
              <a:rPr lang="en-US">
                <a:solidFill>
                  <a:srgbClr val="373A3C"/>
                </a:solidFill>
                <a:latin typeface="Times New Roman"/>
                <a:ea typeface="+mn-lt"/>
                <a:cs typeface="+mn-lt"/>
              </a:rPr>
              <a:t> Baseline </a:t>
            </a:r>
            <a:r>
              <a:rPr lang="en-US" err="1">
                <a:solidFill>
                  <a:srgbClr val="373A3C"/>
                </a:solidFill>
                <a:latin typeface="Times New Roman"/>
                <a:ea typeface="+mn-lt"/>
                <a:cs typeface="+mn-lt"/>
              </a:rPr>
              <a:t>đạt</a:t>
            </a:r>
            <a:r>
              <a:rPr lang="en-US">
                <a:solidFill>
                  <a:srgbClr val="373A3C"/>
                </a:solidFill>
                <a:latin typeface="Times New Roman"/>
                <a:ea typeface="+mn-lt"/>
                <a:cs typeface="+mn-lt"/>
              </a:rPr>
              <a:t> </a:t>
            </a:r>
            <a:r>
              <a:rPr lang="en-US" err="1">
                <a:solidFill>
                  <a:srgbClr val="373A3C"/>
                </a:solidFill>
                <a:latin typeface="Times New Roman"/>
                <a:ea typeface="+mn-lt"/>
                <a:cs typeface="+mn-lt"/>
              </a:rPr>
              <a:t>hiệu</a:t>
            </a:r>
            <a:r>
              <a:rPr lang="en-US">
                <a:solidFill>
                  <a:srgbClr val="373A3C"/>
                </a:solidFill>
                <a:latin typeface="Times New Roman"/>
                <a:ea typeface="+mn-lt"/>
                <a:cs typeface="+mn-lt"/>
              </a:rPr>
              <a:t> </a:t>
            </a:r>
            <a:r>
              <a:rPr lang="en-US" err="1">
                <a:solidFill>
                  <a:srgbClr val="373A3C"/>
                </a:solidFill>
                <a:latin typeface="Times New Roman"/>
                <a:ea typeface="+mn-lt"/>
                <a:cs typeface="+mn-lt"/>
              </a:rPr>
              <a:t>suất</a:t>
            </a:r>
            <a:r>
              <a:rPr lang="en-US">
                <a:solidFill>
                  <a:srgbClr val="373A3C"/>
                </a:solidFill>
                <a:latin typeface="Times New Roman"/>
                <a:ea typeface="+mn-lt"/>
                <a:cs typeface="+mn-lt"/>
              </a:rPr>
              <a:t> </a:t>
            </a:r>
            <a:r>
              <a:rPr lang="en-US" err="1">
                <a:solidFill>
                  <a:srgbClr val="373A3C"/>
                </a:solidFill>
                <a:latin typeface="Times New Roman"/>
                <a:ea typeface="+mn-lt"/>
                <a:cs typeface="+mn-lt"/>
              </a:rPr>
              <a:t>rất</a:t>
            </a:r>
            <a:r>
              <a:rPr lang="en-US">
                <a:solidFill>
                  <a:srgbClr val="373A3C"/>
                </a:solidFill>
                <a:latin typeface="Times New Roman"/>
                <a:ea typeface="+mn-lt"/>
                <a:cs typeface="+mn-lt"/>
              </a:rPr>
              <a:t> </a:t>
            </a:r>
            <a:r>
              <a:rPr lang="en-US" err="1">
                <a:solidFill>
                  <a:srgbClr val="373A3C"/>
                </a:solidFill>
                <a:latin typeface="Times New Roman"/>
                <a:ea typeface="+mn-lt"/>
                <a:cs typeface="+mn-lt"/>
              </a:rPr>
              <a:t>cao</a:t>
            </a:r>
            <a:r>
              <a:rPr lang="en-US">
                <a:solidFill>
                  <a:srgbClr val="373A3C"/>
                </a:solidFill>
                <a:latin typeface="Times New Roman"/>
                <a:ea typeface="+mn-lt"/>
                <a:cs typeface="+mn-lt"/>
              </a:rPr>
              <a:t>: Accuracy </a:t>
            </a:r>
            <a:r>
              <a:rPr lang="en-US" b="1">
                <a:solidFill>
                  <a:srgbClr val="373A3C"/>
                </a:solidFill>
                <a:latin typeface="Times New Roman"/>
                <a:ea typeface="+mn-lt"/>
                <a:cs typeface="+mn-lt"/>
              </a:rPr>
              <a:t>~94.25%</a:t>
            </a:r>
            <a:r>
              <a:rPr lang="en-US">
                <a:solidFill>
                  <a:srgbClr val="373A3C"/>
                </a:solidFill>
                <a:latin typeface="Times New Roman"/>
                <a:ea typeface="+mn-lt"/>
                <a:cs typeface="+mn-lt"/>
              </a:rPr>
              <a:t>.</a:t>
            </a:r>
            <a:endParaRPr lang="en-US">
              <a:latin typeface="Times New Roman"/>
              <a:cs typeface="Times New Roman"/>
            </a:endParaRPr>
          </a:p>
          <a:p>
            <a:pPr lvl="1">
              <a:buFont typeface="Arial"/>
              <a:buChar char="•"/>
            </a:pPr>
            <a:r>
              <a:rPr lang="en-US" err="1">
                <a:solidFill>
                  <a:srgbClr val="373A3C"/>
                </a:solidFill>
                <a:latin typeface="Times New Roman"/>
                <a:ea typeface="+mn-lt"/>
                <a:cs typeface="+mn-lt"/>
              </a:rPr>
              <a:t>Mô</a:t>
            </a:r>
            <a:r>
              <a:rPr lang="en-US">
                <a:solidFill>
                  <a:srgbClr val="373A3C"/>
                </a:solidFill>
                <a:latin typeface="Times New Roman"/>
                <a:ea typeface="+mn-lt"/>
                <a:cs typeface="+mn-lt"/>
              </a:rPr>
              <a:t> </a:t>
            </a:r>
            <a:r>
              <a:rPr lang="en-US" err="1">
                <a:solidFill>
                  <a:srgbClr val="373A3C"/>
                </a:solidFill>
                <a:latin typeface="Times New Roman"/>
                <a:ea typeface="+mn-lt"/>
                <a:cs typeface="+mn-lt"/>
              </a:rPr>
              <a:t>hình</a:t>
            </a:r>
            <a:r>
              <a:rPr lang="en-US">
                <a:solidFill>
                  <a:srgbClr val="373A3C"/>
                </a:solidFill>
                <a:latin typeface="Times New Roman"/>
                <a:ea typeface="+mn-lt"/>
                <a:cs typeface="+mn-lt"/>
              </a:rPr>
              <a:t> Augmented (</a:t>
            </a:r>
            <a:r>
              <a:rPr lang="en-US" err="1">
                <a:solidFill>
                  <a:srgbClr val="373A3C"/>
                </a:solidFill>
                <a:latin typeface="Times New Roman"/>
                <a:ea typeface="+mn-lt"/>
                <a:cs typeface="+mn-lt"/>
              </a:rPr>
              <a:t>có</a:t>
            </a:r>
            <a:r>
              <a:rPr lang="en-US">
                <a:solidFill>
                  <a:srgbClr val="373A3C"/>
                </a:solidFill>
                <a:latin typeface="Times New Roman"/>
                <a:ea typeface="+mn-lt"/>
                <a:cs typeface="+mn-lt"/>
              </a:rPr>
              <a:t> </a:t>
            </a:r>
            <a:r>
              <a:rPr lang="en-US" err="1">
                <a:solidFill>
                  <a:srgbClr val="373A3C"/>
                </a:solidFill>
                <a:latin typeface="Times New Roman"/>
                <a:ea typeface="+mn-lt"/>
                <a:cs typeface="+mn-lt"/>
              </a:rPr>
              <a:t>thêm</a:t>
            </a:r>
            <a:r>
              <a:rPr lang="en-US">
                <a:solidFill>
                  <a:srgbClr val="373A3C"/>
                </a:solidFill>
                <a:latin typeface="Times New Roman"/>
                <a:ea typeface="+mn-lt"/>
                <a:cs typeface="+mn-lt"/>
              </a:rPr>
              <a:t> data) </a:t>
            </a:r>
            <a:r>
              <a:rPr lang="en-US" err="1">
                <a:solidFill>
                  <a:srgbClr val="373A3C"/>
                </a:solidFill>
                <a:latin typeface="Times New Roman"/>
                <a:ea typeface="+mn-lt"/>
                <a:cs typeface="+mn-lt"/>
              </a:rPr>
              <a:t>bị</a:t>
            </a:r>
            <a:r>
              <a:rPr lang="en-US">
                <a:solidFill>
                  <a:srgbClr val="373A3C"/>
                </a:solidFill>
                <a:latin typeface="Times New Roman"/>
                <a:ea typeface="+mn-lt"/>
                <a:cs typeface="+mn-lt"/>
              </a:rPr>
              <a:t> </a:t>
            </a:r>
            <a:r>
              <a:rPr lang="en-US" err="1">
                <a:solidFill>
                  <a:srgbClr val="373A3C"/>
                </a:solidFill>
                <a:latin typeface="Times New Roman"/>
                <a:ea typeface="+mn-lt"/>
                <a:cs typeface="+mn-lt"/>
              </a:rPr>
              <a:t>giảm</a:t>
            </a:r>
            <a:r>
              <a:rPr lang="en-US">
                <a:solidFill>
                  <a:srgbClr val="373A3C"/>
                </a:solidFill>
                <a:latin typeface="Times New Roman"/>
                <a:ea typeface="+mn-lt"/>
                <a:cs typeface="+mn-lt"/>
              </a:rPr>
              <a:t> </a:t>
            </a:r>
            <a:r>
              <a:rPr lang="en-US" err="1">
                <a:solidFill>
                  <a:srgbClr val="373A3C"/>
                </a:solidFill>
                <a:latin typeface="Times New Roman"/>
                <a:ea typeface="+mn-lt"/>
                <a:cs typeface="+mn-lt"/>
              </a:rPr>
              <a:t>nhẹ</a:t>
            </a:r>
            <a:r>
              <a:rPr lang="en-US">
                <a:solidFill>
                  <a:srgbClr val="373A3C"/>
                </a:solidFill>
                <a:latin typeface="Times New Roman"/>
                <a:ea typeface="+mn-lt"/>
                <a:cs typeface="+mn-lt"/>
              </a:rPr>
              <a:t> </a:t>
            </a:r>
            <a:r>
              <a:rPr lang="en-US" err="1">
                <a:solidFill>
                  <a:srgbClr val="373A3C"/>
                </a:solidFill>
                <a:latin typeface="Times New Roman"/>
                <a:ea typeface="+mn-lt"/>
                <a:cs typeface="+mn-lt"/>
              </a:rPr>
              <a:t>hiệu</a:t>
            </a:r>
            <a:r>
              <a:rPr lang="en-US">
                <a:solidFill>
                  <a:srgbClr val="373A3C"/>
                </a:solidFill>
                <a:latin typeface="Times New Roman"/>
                <a:ea typeface="+mn-lt"/>
                <a:cs typeface="+mn-lt"/>
              </a:rPr>
              <a:t> </a:t>
            </a:r>
            <a:r>
              <a:rPr lang="en-US" err="1">
                <a:solidFill>
                  <a:srgbClr val="373A3C"/>
                </a:solidFill>
                <a:latin typeface="Times New Roman"/>
                <a:ea typeface="+mn-lt"/>
                <a:cs typeface="+mn-lt"/>
              </a:rPr>
              <a:t>suất</a:t>
            </a:r>
            <a:r>
              <a:rPr lang="en-US">
                <a:solidFill>
                  <a:srgbClr val="373A3C"/>
                </a:solidFill>
                <a:latin typeface="Times New Roman"/>
                <a:ea typeface="+mn-lt"/>
                <a:cs typeface="+mn-lt"/>
              </a:rPr>
              <a:t> (~0.8%).</a:t>
            </a:r>
            <a:endParaRPr lang="en-US">
              <a:latin typeface="Times New Roman"/>
              <a:cs typeface="Times New Roman"/>
            </a:endParaRPr>
          </a:p>
          <a:p>
            <a:pPr>
              <a:buFont typeface="Arial"/>
              <a:buChar char="•"/>
            </a:pPr>
            <a:r>
              <a:rPr lang="en-US" b="1" err="1">
                <a:solidFill>
                  <a:srgbClr val="373A3C"/>
                </a:solidFill>
                <a:latin typeface="Times New Roman"/>
                <a:ea typeface="+mn-lt"/>
                <a:cs typeface="+mn-lt"/>
              </a:rPr>
              <a:t>Phân</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tích</a:t>
            </a:r>
            <a:r>
              <a:rPr lang="en-US" b="1">
                <a:solidFill>
                  <a:srgbClr val="373A3C"/>
                </a:solidFill>
                <a:latin typeface="Times New Roman"/>
                <a:ea typeface="+mn-lt"/>
                <a:cs typeface="+mn-lt"/>
              </a:rPr>
              <a:t> Nguyên </a:t>
            </a:r>
            <a:r>
              <a:rPr lang="en-US" b="1" err="1">
                <a:solidFill>
                  <a:srgbClr val="373A3C"/>
                </a:solidFill>
                <a:latin typeface="Times New Roman"/>
                <a:ea typeface="+mn-lt"/>
                <a:cs typeface="+mn-lt"/>
              </a:rPr>
              <a:t>nhân</a:t>
            </a:r>
            <a:r>
              <a:rPr lang="en-US" b="1">
                <a:solidFill>
                  <a:srgbClr val="373A3C"/>
                </a:solidFill>
                <a:latin typeface="Times New Roman"/>
                <a:ea typeface="+mn-lt"/>
                <a:cs typeface="+mn-lt"/>
              </a:rPr>
              <a:t> (Insight </a:t>
            </a:r>
            <a:r>
              <a:rPr lang="en-US" b="1" err="1">
                <a:solidFill>
                  <a:srgbClr val="373A3C"/>
                </a:solidFill>
                <a:latin typeface="Times New Roman"/>
                <a:ea typeface="+mn-lt"/>
                <a:cs typeface="+mn-lt"/>
              </a:rPr>
              <a:t>quan</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trọng</a:t>
            </a:r>
            <a:r>
              <a:rPr lang="en-US" b="1">
                <a:solidFill>
                  <a:srgbClr val="373A3C"/>
                </a:solidFill>
                <a:latin typeface="Times New Roman"/>
                <a:ea typeface="+mn-lt"/>
                <a:cs typeface="+mn-lt"/>
              </a:rPr>
              <a:t>):</a:t>
            </a:r>
            <a:endParaRPr lang="vi-VN">
              <a:latin typeface="Times New Roman"/>
              <a:ea typeface="+mn-lt"/>
              <a:cs typeface="Arial"/>
            </a:endParaRPr>
          </a:p>
          <a:p>
            <a:pPr lvl="1">
              <a:buFont typeface="Arial"/>
              <a:buChar char="•"/>
            </a:pPr>
            <a:r>
              <a:rPr lang="en-US" sz="2800" b="1" err="1">
                <a:solidFill>
                  <a:srgbClr val="373A3C"/>
                </a:solidFill>
                <a:latin typeface="Times New Roman"/>
                <a:ea typeface="+mn-lt"/>
                <a:cs typeface="+mn-lt"/>
              </a:rPr>
              <a:t>Lệch</a:t>
            </a:r>
            <a:r>
              <a:rPr lang="en-US" sz="2800" b="1">
                <a:solidFill>
                  <a:srgbClr val="373A3C"/>
                </a:solidFill>
                <a:latin typeface="Times New Roman"/>
                <a:ea typeface="+mn-lt"/>
                <a:cs typeface="+mn-lt"/>
              </a:rPr>
              <a:t> </a:t>
            </a:r>
            <a:r>
              <a:rPr lang="en-US" sz="2800" b="1" err="1">
                <a:solidFill>
                  <a:srgbClr val="373A3C"/>
                </a:solidFill>
                <a:latin typeface="Times New Roman"/>
                <a:ea typeface="+mn-lt"/>
                <a:cs typeface="+mn-lt"/>
              </a:rPr>
              <a:t>phân</a:t>
            </a:r>
            <a:r>
              <a:rPr lang="en-US" sz="2800" b="1">
                <a:solidFill>
                  <a:srgbClr val="373A3C"/>
                </a:solidFill>
                <a:latin typeface="Times New Roman"/>
                <a:ea typeface="+mn-lt"/>
                <a:cs typeface="+mn-lt"/>
              </a:rPr>
              <a:t> </a:t>
            </a:r>
            <a:r>
              <a:rPr lang="en-US" sz="2800" b="1" err="1">
                <a:solidFill>
                  <a:srgbClr val="373A3C"/>
                </a:solidFill>
                <a:latin typeface="Times New Roman"/>
                <a:ea typeface="+mn-lt"/>
                <a:cs typeface="+mn-lt"/>
              </a:rPr>
              <a:t>phối</a:t>
            </a:r>
            <a:r>
              <a:rPr lang="en-US" sz="2800" b="1">
                <a:solidFill>
                  <a:srgbClr val="373A3C"/>
                </a:solidFill>
                <a:latin typeface="Times New Roman"/>
                <a:ea typeface="+mn-lt"/>
                <a:cs typeface="+mn-lt"/>
              </a:rPr>
              <a:t> (Distribution Shift):</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Dữ</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liệu</a:t>
            </a:r>
            <a:r>
              <a:rPr lang="en-US" sz="2800">
                <a:solidFill>
                  <a:srgbClr val="373A3C"/>
                </a:solidFill>
                <a:latin typeface="Times New Roman"/>
                <a:ea typeface="+mn-lt"/>
                <a:cs typeface="+mn-lt"/>
              </a:rPr>
              <a:t> Synthetic do AI </a:t>
            </a:r>
            <a:r>
              <a:rPr lang="en-US" sz="2800" err="1">
                <a:solidFill>
                  <a:srgbClr val="373A3C"/>
                </a:solidFill>
                <a:latin typeface="Times New Roman"/>
                <a:ea typeface="+mn-lt"/>
                <a:cs typeface="+mn-lt"/>
              </a:rPr>
              <a:t>tạo</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ra</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quá</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sạch</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và</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chuẩn</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mực</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ngữ</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pháp</a:t>
            </a:r>
            <a:r>
              <a:rPr lang="en-US" sz="2800">
                <a:solidFill>
                  <a:srgbClr val="373A3C"/>
                </a:solidFill>
                <a:latin typeface="Times New Roman"/>
                <a:ea typeface="+mn-lt"/>
                <a:cs typeface="+mn-lt"/>
              </a:rPr>
              <a:t>.</a:t>
            </a:r>
            <a:endParaRPr lang="en-US" sz="2800">
              <a:latin typeface="Times New Roman"/>
              <a:ea typeface="+mn-lt"/>
              <a:cs typeface="+mn-lt"/>
            </a:endParaRPr>
          </a:p>
          <a:p>
            <a:pPr lvl="1">
              <a:buFont typeface="Arial"/>
              <a:buChar char="•"/>
            </a:pPr>
            <a:r>
              <a:rPr lang="en-US" sz="2800" b="1" err="1">
                <a:solidFill>
                  <a:srgbClr val="373A3C"/>
                </a:solidFill>
                <a:latin typeface="Times New Roman"/>
                <a:ea typeface="+mn-lt"/>
                <a:cs typeface="+mn-lt"/>
              </a:rPr>
              <a:t>Thực</a:t>
            </a:r>
            <a:r>
              <a:rPr lang="en-US" sz="2800" b="1">
                <a:solidFill>
                  <a:srgbClr val="373A3C"/>
                </a:solidFill>
                <a:latin typeface="Times New Roman"/>
                <a:ea typeface="+mn-lt"/>
                <a:cs typeface="+mn-lt"/>
              </a:rPr>
              <a:t> </a:t>
            </a:r>
            <a:r>
              <a:rPr lang="en-US" sz="2800" b="1" err="1">
                <a:solidFill>
                  <a:srgbClr val="373A3C"/>
                </a:solidFill>
                <a:latin typeface="Times New Roman"/>
                <a:ea typeface="+mn-lt"/>
                <a:cs typeface="+mn-lt"/>
              </a:rPr>
              <a:t>tế</a:t>
            </a:r>
            <a:r>
              <a:rPr lang="en-US" sz="2800" b="1">
                <a:solidFill>
                  <a:srgbClr val="373A3C"/>
                </a:solidFill>
                <a:latin typeface="Times New Roman"/>
                <a:ea typeface="+mn-lt"/>
                <a:cs typeface="+mn-lt"/>
              </a:rPr>
              <a:t>:</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Dữ</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liệu</a:t>
            </a:r>
            <a:r>
              <a:rPr lang="en-US" sz="2800">
                <a:solidFill>
                  <a:srgbClr val="373A3C"/>
                </a:solidFill>
                <a:latin typeface="Times New Roman"/>
                <a:ea typeface="+mn-lt"/>
                <a:cs typeface="+mn-lt"/>
              </a:rPr>
              <a:t> test </a:t>
            </a:r>
            <a:r>
              <a:rPr lang="en-US" sz="2800" err="1">
                <a:solidFill>
                  <a:srgbClr val="373A3C"/>
                </a:solidFill>
                <a:latin typeface="Times New Roman"/>
                <a:ea typeface="+mn-lt"/>
                <a:cs typeface="+mn-lt"/>
              </a:rPr>
              <a:t>thật</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chứa</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nhiều</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nhiễu</a:t>
            </a:r>
            <a:r>
              <a:rPr lang="en-US" sz="2800">
                <a:solidFill>
                  <a:srgbClr val="373A3C"/>
                </a:solidFill>
                <a:latin typeface="Times New Roman"/>
                <a:ea typeface="+mn-lt"/>
                <a:cs typeface="+mn-lt"/>
              </a:rPr>
              <a:t> (</a:t>
            </a:r>
            <a:r>
              <a:rPr lang="en-US" err="1">
                <a:solidFill>
                  <a:srgbClr val="373A3C"/>
                </a:solidFill>
                <a:latin typeface="Times New Roman"/>
                <a:ea typeface="+mn-lt"/>
                <a:cs typeface="+mn-lt"/>
              </a:rPr>
              <a:t>teencode</a:t>
            </a:r>
            <a:r>
              <a:rPr lang="en-US">
                <a:solidFill>
                  <a:srgbClr val="373A3C"/>
                </a:solidFill>
                <a:latin typeface="Times New Roman"/>
                <a:ea typeface="+mn-lt"/>
                <a:cs typeface="+mn-lt"/>
              </a:rPr>
              <a:t>, </a:t>
            </a:r>
            <a:r>
              <a:rPr lang="en-US" err="1">
                <a:solidFill>
                  <a:srgbClr val="373A3C"/>
                </a:solidFill>
                <a:latin typeface="Times New Roman"/>
                <a:ea typeface="+mn-lt"/>
                <a:cs typeface="+mn-lt"/>
              </a:rPr>
              <a:t>sai</a:t>
            </a:r>
            <a:r>
              <a:rPr lang="en-US">
                <a:solidFill>
                  <a:srgbClr val="373A3C"/>
                </a:solidFill>
                <a:latin typeface="Times New Roman"/>
                <a:ea typeface="+mn-lt"/>
                <a:cs typeface="+mn-lt"/>
              </a:rPr>
              <a:t> </a:t>
            </a:r>
            <a:r>
              <a:rPr lang="en-US" err="1">
                <a:solidFill>
                  <a:srgbClr val="373A3C"/>
                </a:solidFill>
                <a:latin typeface="Times New Roman"/>
                <a:ea typeface="+mn-lt"/>
                <a:cs typeface="+mn-lt"/>
              </a:rPr>
              <a:t>chính</a:t>
            </a:r>
            <a:r>
              <a:rPr lang="en-US">
                <a:solidFill>
                  <a:srgbClr val="373A3C"/>
                </a:solidFill>
                <a:latin typeface="Times New Roman"/>
                <a:ea typeface="+mn-lt"/>
                <a:cs typeface="+mn-lt"/>
              </a:rPr>
              <a:t> </a:t>
            </a:r>
            <a:r>
              <a:rPr lang="en-US" err="1">
                <a:solidFill>
                  <a:srgbClr val="373A3C"/>
                </a:solidFill>
                <a:latin typeface="Times New Roman"/>
                <a:ea typeface="+mn-lt"/>
                <a:cs typeface="+mn-lt"/>
              </a:rPr>
              <a:t>tả</a:t>
            </a:r>
            <a:r>
              <a:rPr lang="en-US">
                <a:solidFill>
                  <a:srgbClr val="373A3C"/>
                </a:solidFill>
                <a:latin typeface="Times New Roman"/>
                <a:ea typeface="+mn-lt"/>
                <a:cs typeface="+mn-lt"/>
              </a:rPr>
              <a:t>) </a:t>
            </a:r>
            <a:r>
              <a:rPr lang="en-US" sz="2800" err="1">
                <a:solidFill>
                  <a:srgbClr val="373A3C"/>
                </a:solidFill>
                <a:latin typeface="Times New Roman"/>
                <a:ea typeface="+mn-lt"/>
                <a:cs typeface="+mn-lt"/>
              </a:rPr>
              <a:t>mà</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dữ</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liệu</a:t>
            </a:r>
            <a:r>
              <a:rPr lang="en-US" sz="2800">
                <a:solidFill>
                  <a:srgbClr val="373A3C"/>
                </a:solidFill>
                <a:latin typeface="Times New Roman"/>
                <a:ea typeface="+mn-lt"/>
                <a:cs typeface="+mn-lt"/>
              </a:rPr>
              <a:t> Synthetic </a:t>
            </a:r>
            <a:r>
              <a:rPr lang="en-US" sz="2800" err="1">
                <a:solidFill>
                  <a:srgbClr val="373A3C"/>
                </a:solidFill>
                <a:latin typeface="Times New Roman"/>
                <a:ea typeface="+mn-lt"/>
                <a:cs typeface="+mn-lt"/>
              </a:rPr>
              <a:t>không</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mô</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phỏng</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được</a:t>
            </a:r>
            <a:r>
              <a:rPr lang="en-US" sz="2800">
                <a:solidFill>
                  <a:srgbClr val="373A3C"/>
                </a:solidFill>
                <a:latin typeface="Times New Roman"/>
                <a:ea typeface="+mn-lt"/>
                <a:cs typeface="+mn-lt"/>
              </a:rPr>
              <a:t> </a:t>
            </a:r>
            <a:r>
              <a:rPr lang="en-US" sz="2800" err="1">
                <a:solidFill>
                  <a:srgbClr val="373A3C"/>
                </a:solidFill>
                <a:latin typeface="Times New Roman"/>
                <a:ea typeface="+mn-lt"/>
                <a:cs typeface="+mn-lt"/>
              </a:rPr>
              <a:t>hết</a:t>
            </a:r>
            <a:r>
              <a:rPr lang="en-US" sz="2800">
                <a:solidFill>
                  <a:srgbClr val="373A3C"/>
                </a:solidFill>
                <a:latin typeface="Times New Roman"/>
                <a:ea typeface="+mn-lt"/>
                <a:cs typeface="+mn-lt"/>
              </a:rPr>
              <a:t>.</a:t>
            </a:r>
            <a:endParaRPr lang="en-US">
              <a:latin typeface="Times New Roman"/>
              <a:cs typeface="Times New Roman"/>
            </a:endParaRPr>
          </a:p>
          <a:p>
            <a:pPr>
              <a:buFont typeface="Arial"/>
              <a:buChar char="•"/>
            </a:pPr>
            <a:r>
              <a:rPr lang="en-US" b="1" err="1">
                <a:solidFill>
                  <a:srgbClr val="373A3C"/>
                </a:solidFill>
                <a:latin typeface="Times New Roman"/>
                <a:ea typeface="+mn-lt"/>
                <a:cs typeface="+mn-lt"/>
              </a:rPr>
              <a:t>Kết</a:t>
            </a:r>
            <a:r>
              <a:rPr lang="en-US" b="1">
                <a:solidFill>
                  <a:srgbClr val="373A3C"/>
                </a:solidFill>
                <a:latin typeface="Times New Roman"/>
                <a:ea typeface="+mn-lt"/>
                <a:cs typeface="+mn-lt"/>
              </a:rPr>
              <a:t> </a:t>
            </a:r>
            <a:r>
              <a:rPr lang="en-US" b="1" err="1">
                <a:solidFill>
                  <a:srgbClr val="373A3C"/>
                </a:solidFill>
                <a:latin typeface="Times New Roman"/>
                <a:ea typeface="+mn-lt"/>
                <a:cs typeface="+mn-lt"/>
              </a:rPr>
              <a:t>luận</a:t>
            </a:r>
            <a:r>
              <a:rPr lang="en-US" b="1">
                <a:solidFill>
                  <a:srgbClr val="373A3C"/>
                </a:solidFill>
                <a:latin typeface="Times New Roman"/>
                <a:ea typeface="+mn-lt"/>
                <a:cs typeface="+mn-lt"/>
              </a:rPr>
              <a:t>:</a:t>
            </a:r>
            <a:r>
              <a:rPr lang="en-US">
                <a:solidFill>
                  <a:srgbClr val="373A3C"/>
                </a:solidFill>
                <a:latin typeface="Times New Roman"/>
                <a:ea typeface="+mn-lt"/>
                <a:cs typeface="+mn-lt"/>
              </a:rPr>
              <a:t> </a:t>
            </a:r>
            <a:r>
              <a:rPr lang="en-US" err="1">
                <a:solidFill>
                  <a:srgbClr val="373A3C"/>
                </a:solidFill>
                <a:latin typeface="Times New Roman"/>
                <a:ea typeface="+mn-lt"/>
                <a:cs typeface="+mn-lt"/>
              </a:rPr>
              <a:t>Với</a:t>
            </a:r>
            <a:r>
              <a:rPr lang="en-US">
                <a:solidFill>
                  <a:srgbClr val="373A3C"/>
                </a:solidFill>
                <a:latin typeface="Times New Roman"/>
                <a:ea typeface="+mn-lt"/>
                <a:cs typeface="+mn-lt"/>
              </a:rPr>
              <a:t> Encoder-only (</a:t>
            </a:r>
            <a:r>
              <a:rPr lang="en-US" err="1">
                <a:solidFill>
                  <a:srgbClr val="373A3C"/>
                </a:solidFill>
                <a:latin typeface="Times New Roman"/>
                <a:ea typeface="+mn-lt"/>
                <a:cs typeface="+mn-lt"/>
              </a:rPr>
              <a:t>PhoBERT</a:t>
            </a:r>
            <a:r>
              <a:rPr lang="en-US">
                <a:solidFill>
                  <a:srgbClr val="373A3C"/>
                </a:solidFill>
                <a:latin typeface="Times New Roman"/>
                <a:ea typeface="+mn-lt"/>
                <a:cs typeface="+mn-lt"/>
              </a:rPr>
              <a:t>), </a:t>
            </a:r>
            <a:r>
              <a:rPr lang="en-US" err="1">
                <a:solidFill>
                  <a:srgbClr val="373A3C"/>
                </a:solidFill>
                <a:latin typeface="Times New Roman"/>
                <a:ea typeface="+mn-lt"/>
                <a:cs typeface="+mn-lt"/>
              </a:rPr>
              <a:t>chất</a:t>
            </a:r>
            <a:r>
              <a:rPr lang="en-US">
                <a:solidFill>
                  <a:srgbClr val="373A3C"/>
                </a:solidFill>
                <a:latin typeface="Times New Roman"/>
                <a:ea typeface="+mn-lt"/>
                <a:cs typeface="+mn-lt"/>
              </a:rPr>
              <a:t> </a:t>
            </a:r>
            <a:r>
              <a:rPr lang="en-US" err="1">
                <a:solidFill>
                  <a:srgbClr val="373A3C"/>
                </a:solidFill>
                <a:latin typeface="Times New Roman"/>
                <a:ea typeface="+mn-lt"/>
                <a:cs typeface="+mn-lt"/>
              </a:rPr>
              <a:t>lượng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và</a:t>
            </a:r>
            <a:r>
              <a:rPr lang="en-US">
                <a:solidFill>
                  <a:srgbClr val="373A3C"/>
                </a:solidFill>
                <a:latin typeface="Times New Roman"/>
                <a:ea typeface="+mn-lt"/>
                <a:cs typeface="+mn-lt"/>
              </a:rPr>
              <a:t> </a:t>
            </a:r>
            <a:r>
              <a:rPr lang="en-US" err="1">
                <a:solidFill>
                  <a:srgbClr val="373A3C"/>
                </a:solidFill>
                <a:latin typeface="Times New Roman"/>
                <a:ea typeface="+mn-lt"/>
                <a:cs typeface="+mn-lt"/>
              </a:rPr>
              <a:t>độ</a:t>
            </a:r>
            <a:r>
              <a:rPr lang="en-US">
                <a:solidFill>
                  <a:srgbClr val="373A3C"/>
                </a:solidFill>
                <a:latin typeface="Times New Roman"/>
                <a:ea typeface="+mn-lt"/>
                <a:cs typeface="+mn-lt"/>
              </a:rPr>
              <a:t> </a:t>
            </a:r>
            <a:r>
              <a:rPr lang="en-US" err="1">
                <a:solidFill>
                  <a:srgbClr val="373A3C"/>
                </a:solidFill>
                <a:latin typeface="Times New Roman"/>
                <a:ea typeface="+mn-lt"/>
                <a:cs typeface="+mn-lt"/>
              </a:rPr>
              <a:t>tương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đồng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văn</a:t>
            </a:r>
            <a:r>
              <a:rPr lang="en-US">
                <a:solidFill>
                  <a:srgbClr val="373A3C"/>
                </a:solidFill>
                <a:latin typeface="Times New Roman"/>
                <a:ea typeface="+mn-lt"/>
                <a:cs typeface="+mn-lt"/>
              </a:rPr>
              <a:t> </a:t>
            </a:r>
            <a:r>
              <a:rPr lang="en-US" err="1">
                <a:solidFill>
                  <a:srgbClr val="373A3C"/>
                </a:solidFill>
                <a:latin typeface="Times New Roman"/>
                <a:ea typeface="+mn-lt"/>
                <a:cs typeface="+mn-lt"/>
              </a:rPr>
              <a:t>phong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của</a:t>
            </a:r>
            <a:r>
              <a:rPr lang="en-US">
                <a:solidFill>
                  <a:srgbClr val="373A3C"/>
                </a:solidFill>
                <a:latin typeface="Times New Roman"/>
                <a:ea typeface="+mn-lt"/>
                <a:cs typeface="+mn-lt"/>
              </a:rPr>
              <a:t> </a:t>
            </a:r>
            <a:r>
              <a:rPr lang="en-US" err="1">
                <a:solidFill>
                  <a:srgbClr val="373A3C"/>
                </a:solidFill>
                <a:latin typeface="Times New Roman"/>
                <a:ea typeface="+mn-lt"/>
                <a:cs typeface="+mn-lt"/>
              </a:rPr>
              <a:t>dữ</a:t>
            </a:r>
            <a:r>
              <a:rPr lang="en-US">
                <a:solidFill>
                  <a:srgbClr val="373A3C"/>
                </a:solidFill>
                <a:latin typeface="Times New Roman"/>
                <a:ea typeface="+mn-lt"/>
                <a:cs typeface="+mn-lt"/>
              </a:rPr>
              <a:t> </a:t>
            </a:r>
            <a:r>
              <a:rPr lang="en-US" err="1">
                <a:solidFill>
                  <a:srgbClr val="373A3C"/>
                </a:solidFill>
                <a:latin typeface="Times New Roman"/>
                <a:ea typeface="+mn-lt"/>
                <a:cs typeface="+mn-lt"/>
              </a:rPr>
              <a:t>liệu</a:t>
            </a:r>
            <a:r>
              <a:rPr lang="en-US">
                <a:solidFill>
                  <a:srgbClr val="373A3C"/>
                </a:solidFill>
                <a:latin typeface="Times New Roman"/>
                <a:ea typeface="+mn-lt"/>
                <a:cs typeface="+mn-lt"/>
              </a:rPr>
              <a:t> </a:t>
            </a:r>
            <a:r>
              <a:rPr lang="en-US" err="1">
                <a:solidFill>
                  <a:srgbClr val="373A3C"/>
                </a:solidFill>
                <a:latin typeface="Times New Roman"/>
                <a:ea typeface="+mn-lt"/>
                <a:cs typeface="+mn-lt"/>
              </a:rPr>
              <a:t>quan</a:t>
            </a:r>
            <a:r>
              <a:rPr lang="en-US">
                <a:solidFill>
                  <a:srgbClr val="373A3C"/>
                </a:solidFill>
                <a:latin typeface="Times New Roman"/>
                <a:ea typeface="+mn-lt"/>
                <a:cs typeface="+mn-lt"/>
              </a:rPr>
              <a:t> </a:t>
            </a:r>
            <a:r>
              <a:rPr lang="en-US" err="1">
                <a:solidFill>
                  <a:srgbClr val="373A3C"/>
                </a:solidFill>
                <a:latin typeface="Times New Roman"/>
                <a:ea typeface="+mn-lt"/>
                <a:cs typeface="+mn-lt"/>
              </a:rPr>
              <a:t>trọng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hơn</a:t>
            </a:r>
            <a:r>
              <a:rPr lang="en-US">
                <a:solidFill>
                  <a:srgbClr val="373A3C"/>
                </a:solidFill>
                <a:latin typeface="Times New Roman"/>
                <a:ea typeface="+mn-lt"/>
                <a:cs typeface="+mn-lt"/>
              </a:rPr>
              <a:t> </a:t>
            </a:r>
            <a:r>
              <a:rPr lang="en-US" err="1">
                <a:solidFill>
                  <a:srgbClr val="373A3C"/>
                </a:solidFill>
                <a:latin typeface="Times New Roman"/>
                <a:ea typeface="+mn-lt"/>
                <a:cs typeface="+mn-lt"/>
              </a:rPr>
              <a:t>số</a:t>
            </a:r>
            <a:r>
              <a:rPr lang="en-US">
                <a:solidFill>
                  <a:srgbClr val="373A3C"/>
                </a:solidFill>
                <a:latin typeface="Times New Roman"/>
                <a:ea typeface="+mn-lt"/>
                <a:cs typeface="+mn-lt"/>
              </a:rPr>
              <a:t> </a:t>
            </a:r>
            <a:r>
              <a:rPr lang="en-US" err="1">
                <a:solidFill>
                  <a:srgbClr val="373A3C"/>
                </a:solidFill>
                <a:latin typeface="Times New Roman"/>
                <a:ea typeface="+mn-lt"/>
                <a:cs typeface="+mn-lt"/>
              </a:rPr>
              <a:t>lượng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dữ</a:t>
            </a:r>
            <a:r>
              <a:rPr lang="en-US">
                <a:solidFill>
                  <a:srgbClr val="373A3C"/>
                </a:solidFill>
                <a:latin typeface="Times New Roman"/>
                <a:ea typeface="+mn-lt"/>
                <a:cs typeface="+mn-lt"/>
              </a:rPr>
              <a:t> </a:t>
            </a:r>
            <a:r>
              <a:rPr lang="en-US" err="1">
                <a:solidFill>
                  <a:srgbClr val="373A3C"/>
                </a:solidFill>
                <a:latin typeface="Times New Roman"/>
                <a:ea typeface="+mn-lt"/>
                <a:cs typeface="+mn-lt"/>
              </a:rPr>
              <a:t>liệu</a:t>
            </a:r>
            <a:r>
              <a:rPr lang="en-US">
                <a:solidFill>
                  <a:srgbClr val="373A3C"/>
                </a:solidFill>
                <a:latin typeface="Times New Roman"/>
                <a:ea typeface="+mn-lt"/>
                <a:cs typeface="+mn-lt"/>
              </a:rPr>
              <a:t> </a:t>
            </a:r>
            <a:r>
              <a:rPr lang="en-US" err="1">
                <a:solidFill>
                  <a:srgbClr val="373A3C"/>
                </a:solidFill>
                <a:latin typeface="Times New Roman"/>
                <a:ea typeface="+mn-lt"/>
                <a:cs typeface="+mn-lt"/>
              </a:rPr>
              <a:t>đơn</a:t>
            </a:r>
            <a:r>
              <a:rPr lang="en-US">
                <a:solidFill>
                  <a:srgbClr val="373A3C"/>
                </a:solidFill>
                <a:latin typeface="Times New Roman"/>
                <a:ea typeface="+mn-lt"/>
                <a:cs typeface="+mn-lt"/>
              </a:rPr>
              <a:t> </a:t>
            </a:r>
            <a:r>
              <a:rPr lang="en-US" err="1">
                <a:solidFill>
                  <a:srgbClr val="373A3C"/>
                </a:solidFill>
                <a:latin typeface="Times New Roman"/>
                <a:ea typeface="+mn-lt"/>
                <a:cs typeface="+mn-lt"/>
              </a:rPr>
              <a:t>thuần</a:t>
            </a:r>
            <a:r>
              <a:rPr lang="en-US">
                <a:solidFill>
                  <a:srgbClr val="373A3C"/>
                </a:solidFill>
                <a:latin typeface="Times New Roman"/>
                <a:ea typeface="+mn-lt"/>
                <a:cs typeface="+mn-lt"/>
              </a:rPr>
              <a:t>.</a:t>
            </a:r>
            <a:endParaRPr lang="en-US">
              <a:latin typeface="Times New Roman"/>
              <a:ea typeface="+mn-lt"/>
              <a:cs typeface="+mn-lt"/>
            </a:endParaRPr>
          </a:p>
        </p:txBody>
      </p:sp>
    </p:spTree>
    <p:extLst>
      <p:ext uri="{BB962C8B-B14F-4D97-AF65-F5344CB8AC3E}">
        <p14:creationId xmlns:p14="http://schemas.microsoft.com/office/powerpoint/2010/main" val="3849069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5E9C1-E02C-5AAC-9772-20FF84F138A7}"/>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46310CC8-F399-4739-CB18-E013BB312FFA}"/>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1C4CDBD9-64D7-3829-1887-E09F807B0122}"/>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E955F852-1A0C-F16E-9D6C-1736CC33CAF1}"/>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BCA1F27D-6029-5352-55A0-2B73D91F8A1D}"/>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9ABE1137-8F0F-9CAD-30B6-FA5584C6D013}"/>
              </a:ext>
            </a:extLst>
          </p:cNvPr>
          <p:cNvSpPr>
            <a:spLocks noGrp="1"/>
          </p:cNvSpPr>
          <p:nvPr>
            <p:ph type="title"/>
          </p:nvPr>
        </p:nvSpPr>
        <p:spPr>
          <a:xfrm>
            <a:off x="-2415" y="10956"/>
            <a:ext cx="7886700" cy="1325563"/>
          </a:xfrm>
        </p:spPr>
        <p:txBody>
          <a:bodyPr/>
          <a:lstStyle/>
          <a:p>
            <a:r>
              <a:rPr lang="vi-VN" sz="4000">
                <a:latin typeface="Times New Roman"/>
                <a:ea typeface="+mj-lt"/>
                <a:cs typeface="Times New Roman"/>
              </a:rPr>
              <a:t>Kết quả và phần đánh giá</a:t>
            </a:r>
            <a:endParaRPr lang="vi-VN"/>
          </a:p>
        </p:txBody>
      </p:sp>
      <p:pic>
        <p:nvPicPr>
          <p:cNvPr id="3" name="Content Placeholder 2" descr="A screenshot of a computer screen&#10;&#10;AI-generated content may be incorrect.">
            <a:extLst>
              <a:ext uri="{FF2B5EF4-FFF2-40B4-BE49-F238E27FC236}">
                <a16:creationId xmlns:a16="http://schemas.microsoft.com/office/drawing/2014/main" id="{9B7EF8DC-E5D3-EAF5-4F1C-EB6D9FF08B2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75" y="2219463"/>
            <a:ext cx="9150350" cy="3914499"/>
          </a:xfrm>
        </p:spPr>
      </p:pic>
    </p:spTree>
    <p:extLst>
      <p:ext uri="{BB962C8B-B14F-4D97-AF65-F5344CB8AC3E}">
        <p14:creationId xmlns:p14="http://schemas.microsoft.com/office/powerpoint/2010/main" val="4086226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890E1-303B-FC10-5022-37B2D7BBB6B3}"/>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AC82B4D7-640F-0339-802F-27F0CBDD4ED8}"/>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AA1D56C4-E3F6-7FB4-EB85-DEEF3B11E38F}"/>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DE2CD836-3C81-9FEE-AC86-7A17D3868180}"/>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5B515EF0-364D-B783-FB1C-EBF2D76E50E8}"/>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11C75E2A-9484-1B37-8009-B2F04848855E}"/>
              </a:ext>
            </a:extLst>
          </p:cNvPr>
          <p:cNvSpPr>
            <a:spLocks noGrp="1"/>
          </p:cNvSpPr>
          <p:nvPr>
            <p:ph type="title"/>
          </p:nvPr>
        </p:nvSpPr>
        <p:spPr>
          <a:xfrm>
            <a:off x="-2415" y="10956"/>
            <a:ext cx="7886700" cy="1325563"/>
          </a:xfrm>
        </p:spPr>
        <p:txBody>
          <a:bodyPr>
            <a:normAutofit/>
          </a:bodyPr>
          <a:lstStyle/>
          <a:p>
            <a:r>
              <a:rPr lang="en-US" sz="3500" dirty="0" err="1">
                <a:latin typeface="Times New Roman" panose="02020603050405020304" pitchFamily="18" charset="0"/>
                <a:cs typeface="Times New Roman" panose="02020603050405020304" pitchFamily="18" charset="0"/>
              </a:rPr>
              <a:t>Phân</a:t>
            </a: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tích</a:t>
            </a:r>
            <a:r>
              <a:rPr lang="en-US" sz="3500" dirty="0">
                <a:latin typeface="Times New Roman" panose="02020603050405020304" pitchFamily="18" charset="0"/>
                <a:cs typeface="Times New Roman" panose="02020603050405020304" pitchFamily="18" charset="0"/>
              </a:rPr>
              <a:t> Nguyên </a:t>
            </a:r>
            <a:r>
              <a:rPr lang="en-US" sz="3500" dirty="0" err="1">
                <a:latin typeface="Times New Roman" panose="02020603050405020304" pitchFamily="18" charset="0"/>
                <a:cs typeface="Times New Roman" panose="02020603050405020304" pitchFamily="18" charset="0"/>
              </a:rPr>
              <a:t>nhân</a:t>
            </a:r>
            <a:r>
              <a:rPr lang="en-US" sz="3500" dirty="0">
                <a:latin typeface="Times New Roman" panose="02020603050405020304" pitchFamily="18" charset="0"/>
                <a:cs typeface="Times New Roman" panose="02020603050405020304" pitchFamily="18" charset="0"/>
              </a:rPr>
              <a:t> (Deep Dive: Distribution Shift)</a:t>
            </a:r>
            <a:endParaRPr lang="vi-VN" sz="3500"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7F5B2EF9-23A4-725F-72CC-41E98AF6D91D}"/>
              </a:ext>
            </a:extLst>
          </p:cNvPr>
          <p:cNvSpPr>
            <a:spLocks noGrp="1" noChangeArrowheads="1"/>
          </p:cNvSpPr>
          <p:nvPr>
            <p:ph idx="1"/>
          </p:nvPr>
        </p:nvSpPr>
        <p:spPr bwMode="auto">
          <a:xfrm>
            <a:off x="-2415" y="1755922"/>
            <a:ext cx="9062720"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Vấn</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đề</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phát</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sao</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thêm</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mà</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Accuracy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lại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giảm</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Nguyên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nhân</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Lệch</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phân</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phối</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(Distribution Shift)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thật</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 Data):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Ngắn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gọn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nhiều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teencode</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chính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tả</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ngữ</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pháp</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lỏng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lẻo</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(Văn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phong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sinh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viên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sinh</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(Synthetic Data):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Câu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dài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đúng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ngữ</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pháp</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từ</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vựng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chuẩn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mực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(Văn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phong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LLM).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Hậu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quả</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Augmented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học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quá</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tốt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trưng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chuẩn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mực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sinh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dẫn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bị</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bối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rối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(bias)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gặp</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lại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câu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teencode</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nhiễu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tập</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Test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tế</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05229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E923A-228F-7D2E-094C-0ED7AF2B1320}"/>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97351EE5-D9A0-0500-203D-97BE4E0EE13D}"/>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00EC1FC8-F8BD-86C4-09B9-509F2C71C30F}"/>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FE034D33-5C0B-4817-EE68-C54C204A63E8}"/>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B1F614D1-E018-123B-2E01-79E9F2ABEEC2}"/>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67B0FBB0-6180-5AB2-7421-5ED53D5ECE14}"/>
              </a:ext>
            </a:extLst>
          </p:cNvPr>
          <p:cNvSpPr>
            <a:spLocks noGrp="1"/>
          </p:cNvSpPr>
          <p:nvPr>
            <p:ph type="title"/>
          </p:nvPr>
        </p:nvSpPr>
        <p:spPr>
          <a:xfrm>
            <a:off x="-2415" y="10956"/>
            <a:ext cx="7886700" cy="1325563"/>
          </a:xfrm>
        </p:spPr>
        <p:txBody>
          <a:bodyPr>
            <a:normAutofit/>
          </a:bodyPr>
          <a:lstStyle/>
          <a:p>
            <a:r>
              <a:rPr lang="en-US" sz="3500" dirty="0" err="1">
                <a:latin typeface="Times New Roman" panose="02020603050405020304" pitchFamily="18" charset="0"/>
                <a:cs typeface="Times New Roman" panose="02020603050405020304" pitchFamily="18" charset="0"/>
              </a:rPr>
              <a:t>Phân</a:t>
            </a: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tích</a:t>
            </a:r>
            <a:r>
              <a:rPr lang="en-US" sz="3500" dirty="0">
                <a:latin typeface="Times New Roman" panose="02020603050405020304" pitchFamily="18" charset="0"/>
                <a:cs typeface="Times New Roman" panose="02020603050405020304" pitchFamily="18" charset="0"/>
              </a:rPr>
              <a:t> Chi </a:t>
            </a:r>
            <a:r>
              <a:rPr lang="en-US" sz="3500" dirty="0" err="1">
                <a:latin typeface="Times New Roman" panose="02020603050405020304" pitchFamily="18" charset="0"/>
                <a:cs typeface="Times New Roman" panose="02020603050405020304" pitchFamily="18" charset="0"/>
              </a:rPr>
              <a:t>tiết</a:t>
            </a: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Lỗi</a:t>
            </a:r>
            <a:r>
              <a:rPr lang="en-US" sz="3500" dirty="0">
                <a:latin typeface="Times New Roman" panose="02020603050405020304" pitchFamily="18" charset="0"/>
                <a:cs typeface="Times New Roman" panose="02020603050405020304" pitchFamily="18" charset="0"/>
              </a:rPr>
              <a:t> (Error Analysis)</a:t>
            </a:r>
            <a:endParaRPr lang="vi-VN" sz="3500" dirty="0">
              <a:latin typeface="Times New Roman" panose="02020603050405020304" pitchFamily="18" charset="0"/>
              <a:cs typeface="Times New Roman" panose="02020603050405020304" pitchFamily="18" charset="0"/>
            </a:endParaRPr>
          </a:p>
        </p:txBody>
      </p:sp>
      <p:pic>
        <p:nvPicPr>
          <p:cNvPr id="10" name="Content Placeholder 9" descr="A graph with numbers and a number in blue squares&#10;&#10;AI-generated content may be incorrect.">
            <a:extLst>
              <a:ext uri="{FF2B5EF4-FFF2-40B4-BE49-F238E27FC236}">
                <a16:creationId xmlns:a16="http://schemas.microsoft.com/office/drawing/2014/main" id="{AF2B5FAE-9A40-E97F-CC71-9EBF11E4627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5" y="1512726"/>
            <a:ext cx="4319628" cy="3619713"/>
          </a:xfrm>
        </p:spPr>
      </p:pic>
      <p:pic>
        <p:nvPicPr>
          <p:cNvPr id="12" name="Picture 11" descr="A blue squares with white text&#10;&#10;AI-generated content may be incorrect.">
            <a:extLst>
              <a:ext uri="{FF2B5EF4-FFF2-40B4-BE49-F238E27FC236}">
                <a16:creationId xmlns:a16="http://schemas.microsoft.com/office/drawing/2014/main" id="{6FA46E48-1F5D-9946-CA28-6A48CA73F2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4217" y="1529790"/>
            <a:ext cx="4629784" cy="3807316"/>
          </a:xfrm>
          <a:prstGeom prst="rect">
            <a:avLst/>
          </a:prstGeom>
        </p:spPr>
      </p:pic>
    </p:spTree>
    <p:extLst>
      <p:ext uri="{BB962C8B-B14F-4D97-AF65-F5344CB8AC3E}">
        <p14:creationId xmlns:p14="http://schemas.microsoft.com/office/powerpoint/2010/main" val="3247226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0FA16-EFB1-0EC8-D6E6-F4B78139FCD0}"/>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50AEEBDF-B812-9DAE-786E-58A978BC6092}"/>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A46BB288-4F1B-BE74-28C3-8135925AFF69}"/>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7D63515D-35FE-4F52-453C-08E34C11017B}"/>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664AE60A-E9DB-3C19-4369-AB6A333F3DD3}"/>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F5B4A2B0-DF00-0422-EACD-624C86E2904C}"/>
              </a:ext>
            </a:extLst>
          </p:cNvPr>
          <p:cNvSpPr>
            <a:spLocks noGrp="1"/>
          </p:cNvSpPr>
          <p:nvPr>
            <p:ph type="title"/>
          </p:nvPr>
        </p:nvSpPr>
        <p:spPr>
          <a:xfrm>
            <a:off x="-2415" y="10956"/>
            <a:ext cx="7886700" cy="1325563"/>
          </a:xfrm>
        </p:spPr>
        <p:txBody>
          <a:bodyPr>
            <a:normAutofit/>
          </a:bodyPr>
          <a:lstStyle/>
          <a:p>
            <a:r>
              <a:rPr lang="en-US" sz="3600" dirty="0" err="1">
                <a:latin typeface="Times New Roman" panose="02020603050405020304" pitchFamily="18" charset="0"/>
                <a:cs typeface="Times New Roman" panose="02020603050405020304" pitchFamily="18" charset="0"/>
              </a:rPr>
              <a:t>Điểm</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sáng</a:t>
            </a:r>
            <a:r>
              <a:rPr lang="en-US" sz="3600" dirty="0">
                <a:latin typeface="Times New Roman" panose="02020603050405020304" pitchFamily="18" charset="0"/>
                <a:cs typeface="Times New Roman" panose="02020603050405020304" pitchFamily="18" charset="0"/>
              </a:rPr>
              <a:t> &amp;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Định </a:t>
            </a:r>
            <a:r>
              <a:rPr lang="en-US" sz="3600" dirty="0" err="1">
                <a:latin typeface="Times New Roman" panose="02020603050405020304" pitchFamily="18" charset="0"/>
                <a:cs typeface="Times New Roman" panose="02020603050405020304" pitchFamily="18" charset="0"/>
              </a:rPr>
              <a:t>tính</a:t>
            </a:r>
            <a:r>
              <a:rPr lang="en-US" sz="3600" dirty="0">
                <a:latin typeface="Times New Roman" panose="02020603050405020304" pitchFamily="18" charset="0"/>
                <a:cs typeface="Times New Roman" panose="02020603050405020304" pitchFamily="18" charset="0"/>
              </a:rPr>
              <a:t> (Qualitative Analysis)</a:t>
            </a:r>
            <a:endParaRPr lang="vi-VN" sz="3500"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E56AEBD4-8AE1-939A-6D74-E1A6CCCCE87C}"/>
              </a:ext>
            </a:extLst>
          </p:cNvPr>
          <p:cNvSpPr>
            <a:spLocks noGrp="1" noChangeArrowheads="1"/>
          </p:cNvSpPr>
          <p:nvPr>
            <p:ph idx="1"/>
          </p:nvPr>
        </p:nvSpPr>
        <p:spPr bwMode="auto">
          <a:xfrm>
            <a:off x="526026" y="2234442"/>
            <a:ext cx="8091948"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Stress Test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Kiểm</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thử</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áp</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lực</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Augmented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vượt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trội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hơn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hẳn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khả</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hiện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Sarcasm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Mỉa</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mai</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Tăng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từ</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 -&gt; 40%).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Nhận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diện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tốt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hơn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câu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phức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câu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ý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nghĩa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LLM-as-a-Judge:</a:t>
            </a: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Tỷ</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lệ</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Hòa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(Tie)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chiếm</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98% -&gt;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tỏ</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vẫn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giữ</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sự</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ổn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định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bị</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mất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kiến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thức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nền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Catastrophic Forgetting).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645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3CD07-B975-E5E8-E358-A19A0AB486FC}"/>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17152DDB-55B7-BB3F-9051-4B4D4C91CE50}"/>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58FE4BEF-2EF0-CE9F-F94E-4F24EDE53F46}"/>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81CABBC3-E0D4-971D-39BB-8D6B1123CD77}"/>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5E1AFAB1-2E00-B6DE-F88C-CF7BF7A49A19}"/>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E8FA4BD2-1807-9CDF-13DB-1D322D49E02C}"/>
              </a:ext>
            </a:extLst>
          </p:cNvPr>
          <p:cNvSpPr>
            <a:spLocks noGrp="1"/>
          </p:cNvSpPr>
          <p:nvPr>
            <p:ph type="title"/>
          </p:nvPr>
        </p:nvSpPr>
        <p:spPr>
          <a:xfrm>
            <a:off x="-2415" y="10956"/>
            <a:ext cx="7886700" cy="1325563"/>
          </a:xfrm>
        </p:spPr>
        <p:txBody>
          <a:bodyPr>
            <a:normAutofit/>
          </a:bodyPr>
          <a:lstStyle/>
          <a:p>
            <a:r>
              <a:rPr lang="en-US" sz="3600" dirty="0" err="1">
                <a:latin typeface="Times New Roman" panose="02020603050405020304" pitchFamily="18" charset="0"/>
                <a:cs typeface="Times New Roman" panose="02020603050405020304" pitchFamily="18" charset="0"/>
              </a:rPr>
              <a:t>Điểm</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sáng</a:t>
            </a:r>
            <a:r>
              <a:rPr lang="en-US" sz="3600" dirty="0">
                <a:latin typeface="Times New Roman" panose="02020603050405020304" pitchFamily="18" charset="0"/>
                <a:cs typeface="Times New Roman" panose="02020603050405020304" pitchFamily="18" charset="0"/>
              </a:rPr>
              <a:t> &amp;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Định </a:t>
            </a:r>
            <a:r>
              <a:rPr lang="en-US" sz="3600" dirty="0" err="1">
                <a:latin typeface="Times New Roman" panose="02020603050405020304" pitchFamily="18" charset="0"/>
                <a:cs typeface="Times New Roman" panose="02020603050405020304" pitchFamily="18" charset="0"/>
              </a:rPr>
              <a:t>tính</a:t>
            </a:r>
            <a:r>
              <a:rPr lang="en-US" sz="3600" dirty="0">
                <a:latin typeface="Times New Roman" panose="02020603050405020304" pitchFamily="18" charset="0"/>
                <a:cs typeface="Times New Roman" panose="02020603050405020304" pitchFamily="18" charset="0"/>
              </a:rPr>
              <a:t> (Qualitative Analysis)</a:t>
            </a:r>
            <a:endParaRPr lang="vi-VN" sz="3500" dirty="0">
              <a:latin typeface="Times New Roman" panose="02020603050405020304" pitchFamily="18" charset="0"/>
              <a:cs typeface="Times New Roman" panose="02020603050405020304" pitchFamily="18" charset="0"/>
            </a:endParaRPr>
          </a:p>
        </p:txBody>
      </p:sp>
      <p:pic>
        <p:nvPicPr>
          <p:cNvPr id="9" name="Content Placeholder 8" descr="A graph with green and red bars&#10;&#10;AI-generated content may be incorrect.">
            <a:extLst>
              <a:ext uri="{FF2B5EF4-FFF2-40B4-BE49-F238E27FC236}">
                <a16:creationId xmlns:a16="http://schemas.microsoft.com/office/drawing/2014/main" id="{A544579A-C00D-A054-E506-026B6F7CA55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2204" y="1922938"/>
            <a:ext cx="7420426" cy="4351338"/>
          </a:xfrm>
        </p:spPr>
      </p:pic>
    </p:spTree>
    <p:extLst>
      <p:ext uri="{BB962C8B-B14F-4D97-AF65-F5344CB8AC3E}">
        <p14:creationId xmlns:p14="http://schemas.microsoft.com/office/powerpoint/2010/main" val="1749252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42B7-AB1E-FF9E-876E-FA135749E7E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2FE832AF-A981-3874-2DB6-5E4C06B54705}"/>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DD392C3D-F7A1-E7E5-6CAB-8D186874D70A}"/>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BAC2CA39-F06C-2E0B-E1BD-9464BCA28C01}"/>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B470E847-856E-A2DC-9E49-0CF4FB605998}"/>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50584A3F-58BD-E55A-CD4F-FD8C44B1078C}"/>
              </a:ext>
            </a:extLst>
          </p:cNvPr>
          <p:cNvSpPr>
            <a:spLocks noGrp="1"/>
          </p:cNvSpPr>
          <p:nvPr>
            <p:ph type="title"/>
          </p:nvPr>
        </p:nvSpPr>
        <p:spPr>
          <a:xfrm>
            <a:off x="-2415" y="10956"/>
            <a:ext cx="7886700" cy="1325563"/>
          </a:xfrm>
        </p:spPr>
        <p:txBody>
          <a:bodyPr>
            <a:normAutofit/>
          </a:bodyPr>
          <a:lstStyle/>
          <a:p>
            <a:r>
              <a:rPr lang="en-US" sz="3600" dirty="0" err="1">
                <a:latin typeface="Times New Roman" panose="02020603050405020304" pitchFamily="18" charset="0"/>
                <a:cs typeface="Times New Roman" panose="02020603050405020304" pitchFamily="18" charset="0"/>
              </a:rPr>
              <a:t>Kết</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luận</a:t>
            </a:r>
            <a:endParaRPr lang="vi-VN" sz="35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id="{C013B821-021B-1FBF-2DA9-420A987C020D}"/>
              </a:ext>
            </a:extLst>
          </p:cNvPr>
          <p:cNvSpPr>
            <a:spLocks noGrp="1" noChangeArrowheads="1"/>
          </p:cNvSpPr>
          <p:nvPr>
            <p:ph idx="1"/>
          </p:nvPr>
        </p:nvSpPr>
        <p:spPr bwMode="auto">
          <a:xfrm>
            <a:off x="525718" y="1955326"/>
            <a:ext cx="8092563"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Tổng</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kết</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PhoBERT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là</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mạnh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mẽ</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cho</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bài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toán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Augmentation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giúp</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cải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thiện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khả</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hiểu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ngữ</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cảnh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phức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tạp</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mỉa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ẩn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ý)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nhưng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đánh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đổi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bằng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việc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giảm</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nhẹ</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độ</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chính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xác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trên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câu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đơn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Bài</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học</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rút</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Trong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bài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toán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NLP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thù</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như</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teencode</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chất</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lượng</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sự</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tương</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đồng</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văn</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phong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quan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trọng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hơn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lượng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Hướng</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phát</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triển</a:t>
            </a: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Cần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chỉnh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Prompt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sinh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chứa</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teencode</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lỗi</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chính</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tả</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giống</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tế</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hơn</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02880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10665"/>
            <a:ext cx="9143365" cy="5177155"/>
          </a:xfrm>
        </p:spPr>
        <p:txBody>
          <a:bodyPr anchor="ctr" anchorCtr="0">
            <a:normAutofit/>
          </a:bodyPr>
          <a:lstStyle/>
          <a:p>
            <a:pPr algn="ctr"/>
            <a:r>
              <a:rPr lang="en-US" b="0" i="0">
                <a:solidFill>
                  <a:srgbClr val="373A3C"/>
                </a:solidFill>
                <a:effectLst/>
                <a:latin typeface="Times New Roman" panose="02020603050405020304" pitchFamily="18" charset="0"/>
                <a:cs typeface="Times New Roman" panose="02020603050405020304" pitchFamily="18" charset="0"/>
              </a:rPr>
              <a:t>Decoder-only</a:t>
            </a:r>
          </a:p>
        </p:txBody>
      </p:sp>
      <p:pic>
        <p:nvPicPr>
          <p:cNvPr id="100" name="Picture 99"/>
          <p:cNvPicPr/>
          <p:nvPr/>
        </p:nvPicPr>
        <p:blipFill>
          <a:blip r:embed="rId2"/>
          <a:stretch>
            <a:fillRect/>
          </a:stretch>
        </p:blipFill>
        <p:spPr>
          <a:xfrm>
            <a:off x="7622540" y="88900"/>
            <a:ext cx="1440180" cy="935355"/>
          </a:xfrm>
          <a:prstGeom prst="rect">
            <a:avLst/>
          </a:prstGeom>
          <a:noFill/>
          <a:ln w="9525">
            <a:noFill/>
          </a:ln>
        </p:spPr>
      </p:pic>
      <p:sp>
        <p:nvSpPr>
          <p:cNvPr id="4" name="Text Box 3"/>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20663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6BB51-D442-65AD-B164-AD7DA7CA9C54}"/>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B7A3404B-33F3-5D38-C59C-F29DDEF0351A}"/>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9702D0FB-CF34-7F04-E957-AE461359CE0A}"/>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C181319E-09C5-1412-A6F3-A624A133CD6D}"/>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BD575AE1-E7A8-6102-5C9D-094F02D9AE29}"/>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FDFAAEEE-677E-F7AA-4EA2-49AA0709CE13}"/>
              </a:ext>
            </a:extLst>
          </p:cNvPr>
          <p:cNvSpPr>
            <a:spLocks noGrp="1"/>
          </p:cNvSpPr>
          <p:nvPr>
            <p:ph type="title"/>
          </p:nvPr>
        </p:nvSpPr>
        <p:spPr>
          <a:xfrm>
            <a:off x="-2415" y="10956"/>
            <a:ext cx="7886700" cy="1325563"/>
          </a:xfrm>
        </p:spPr>
        <p:txBody>
          <a:bodyPr/>
          <a:lstStyle/>
          <a:p>
            <a:r>
              <a:rPr lang="vi-VN">
                <a:latin typeface="Times New Roman"/>
                <a:cs typeface="Times New Roman"/>
              </a:rPr>
              <a:t>Tổng quan về </a:t>
            </a:r>
            <a:r>
              <a:rPr lang="vi-VN" err="1">
                <a:latin typeface="Times New Roman"/>
                <a:cs typeface="Times New Roman"/>
              </a:rPr>
              <a:t>Decoder-only</a:t>
            </a:r>
          </a:p>
        </p:txBody>
      </p:sp>
      <p:sp>
        <p:nvSpPr>
          <p:cNvPr id="9" name="Content Placeholder 2">
            <a:extLst>
              <a:ext uri="{FF2B5EF4-FFF2-40B4-BE49-F238E27FC236}">
                <a16:creationId xmlns:a16="http://schemas.microsoft.com/office/drawing/2014/main" id="{F0222D4B-2F89-76BD-FCE9-CC188C94FA36}"/>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b="1" dirty="0" err="1">
                <a:solidFill>
                  <a:srgbClr val="373A3C"/>
                </a:solidFill>
                <a:latin typeface="Times New Roman"/>
                <a:ea typeface="+mn-lt"/>
                <a:cs typeface="+mn-lt"/>
              </a:rPr>
              <a:t>Định</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nghĩa</a:t>
            </a:r>
            <a:r>
              <a:rPr lang="en-US" b="1" dirty="0">
                <a:solidFill>
                  <a:srgbClr val="373A3C"/>
                </a:solidFill>
                <a:latin typeface="Times New Roman"/>
                <a:ea typeface="+mn-lt"/>
                <a:cs typeface="+mn-lt"/>
              </a:rPr>
              <a:t>:</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Là</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kiến</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trúc</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chỉ</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giữ</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lại</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phần</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giải</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mã</a:t>
            </a:r>
            <a:r>
              <a:rPr lang="en-US" dirty="0">
                <a:solidFill>
                  <a:srgbClr val="373A3C"/>
                </a:solidFill>
                <a:latin typeface="Times New Roman"/>
                <a:ea typeface="+mn-lt"/>
                <a:cs typeface="+mn-lt"/>
              </a:rPr>
              <a:t> (Decoder) </a:t>
            </a:r>
            <a:r>
              <a:rPr lang="en-US" dirty="0" err="1">
                <a:solidFill>
                  <a:srgbClr val="373A3C"/>
                </a:solidFill>
                <a:latin typeface="Times New Roman"/>
                <a:ea typeface="+mn-lt"/>
                <a:cs typeface="+mn-lt"/>
              </a:rPr>
              <a:t>của</a:t>
            </a:r>
            <a:r>
              <a:rPr lang="en-US" dirty="0">
                <a:solidFill>
                  <a:srgbClr val="373A3C"/>
                </a:solidFill>
                <a:latin typeface="Times New Roman"/>
                <a:ea typeface="+mn-lt"/>
                <a:cs typeface="+mn-lt"/>
              </a:rPr>
              <a:t> Transformer, </a:t>
            </a:r>
            <a:r>
              <a:rPr lang="en-US" dirty="0" err="1">
                <a:solidFill>
                  <a:srgbClr val="373A3C"/>
                </a:solidFill>
                <a:latin typeface="Times New Roman"/>
                <a:ea typeface="+mn-lt"/>
                <a:cs typeface="+mn-lt"/>
              </a:rPr>
              <a:t>loại</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bỏ</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phần</a:t>
            </a:r>
            <a:r>
              <a:rPr lang="en-US" dirty="0">
                <a:solidFill>
                  <a:srgbClr val="373A3C"/>
                </a:solidFill>
                <a:latin typeface="Times New Roman"/>
                <a:ea typeface="+mn-lt"/>
                <a:cs typeface="+mn-lt"/>
              </a:rPr>
              <a:t> Encoder.</a:t>
            </a:r>
            <a:endParaRPr lang="vi-VN" dirty="0">
              <a:latin typeface="Times New Roman"/>
              <a:cs typeface="Times New Roman"/>
            </a:endParaRPr>
          </a:p>
          <a:p>
            <a:pPr>
              <a:buFont typeface="Arial"/>
              <a:buChar char="•"/>
            </a:pPr>
            <a:r>
              <a:rPr lang="en-US" b="1" dirty="0" err="1">
                <a:solidFill>
                  <a:srgbClr val="373A3C"/>
                </a:solidFill>
                <a:latin typeface="Times New Roman"/>
                <a:ea typeface="+mn-lt"/>
                <a:cs typeface="+mn-lt"/>
              </a:rPr>
              <a:t>Cơ</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chế</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cốt</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lõi</a:t>
            </a:r>
            <a:r>
              <a:rPr lang="en-US" b="1" dirty="0">
                <a:solidFill>
                  <a:srgbClr val="373A3C"/>
                </a:solidFill>
                <a:latin typeface="Times New Roman"/>
                <a:ea typeface="+mn-lt"/>
                <a:cs typeface="+mn-lt"/>
              </a:rPr>
              <a:t>:</a:t>
            </a:r>
            <a:endParaRPr lang="en-US" dirty="0">
              <a:latin typeface="Times New Roman"/>
              <a:cs typeface="Times New Roman"/>
            </a:endParaRPr>
          </a:p>
          <a:p>
            <a:pPr lvl="1">
              <a:buFont typeface="Courier New"/>
              <a:buChar char="o"/>
            </a:pPr>
            <a:r>
              <a:rPr lang="en-US" dirty="0" err="1">
                <a:solidFill>
                  <a:srgbClr val="373A3C"/>
                </a:solidFill>
                <a:latin typeface="Times New Roman"/>
                <a:ea typeface="+mn-lt"/>
                <a:cs typeface="+mn-lt"/>
              </a:rPr>
              <a:t>Sử</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dụng</a:t>
            </a:r>
            <a:r>
              <a:rPr lang="en-US" dirty="0">
                <a:solidFill>
                  <a:srgbClr val="373A3C"/>
                </a:solidFill>
                <a:latin typeface="Times New Roman"/>
                <a:ea typeface="+mn-lt"/>
                <a:cs typeface="+mn-lt"/>
              </a:rPr>
              <a:t> </a:t>
            </a:r>
            <a:r>
              <a:rPr lang="en-US" b="1" dirty="0">
                <a:solidFill>
                  <a:srgbClr val="373A3C"/>
                </a:solidFill>
                <a:latin typeface="Times New Roman"/>
                <a:ea typeface="+mn-lt"/>
                <a:cs typeface="+mn-lt"/>
              </a:rPr>
              <a:t>Masked Self-Attention</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Đảm</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bảo</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mô</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hình</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chỉ</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nhìn</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thấy</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các</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từ</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phía</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trước</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khi</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dự</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đoán</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từ</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tiếp</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theo</a:t>
            </a:r>
            <a:r>
              <a:rPr lang="en-US" dirty="0">
                <a:solidFill>
                  <a:srgbClr val="373A3C"/>
                </a:solidFill>
                <a:latin typeface="Times New Roman"/>
                <a:ea typeface="+mn-lt"/>
                <a:cs typeface="+mn-lt"/>
              </a:rPr>
              <a:t> (Causal Language Modeling).</a:t>
            </a:r>
            <a:endParaRPr lang="en-US" dirty="0">
              <a:latin typeface="Times New Roman"/>
              <a:cs typeface="Times New Roman"/>
            </a:endParaRPr>
          </a:p>
          <a:p>
            <a:pPr lvl="1">
              <a:buFont typeface="Courier New"/>
              <a:buChar char="o"/>
            </a:pPr>
            <a:r>
              <a:rPr lang="en-US" dirty="0" err="1">
                <a:solidFill>
                  <a:srgbClr val="373A3C"/>
                </a:solidFill>
                <a:latin typeface="Times New Roman"/>
                <a:ea typeface="+mn-lt"/>
                <a:cs typeface="+mn-lt"/>
              </a:rPr>
              <a:t>Xử</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lý</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một</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chiều</a:t>
            </a:r>
            <a:r>
              <a:rPr lang="en-US" dirty="0">
                <a:solidFill>
                  <a:srgbClr val="373A3C"/>
                </a:solidFill>
                <a:latin typeface="Times New Roman"/>
                <a:ea typeface="+mn-lt"/>
                <a:cs typeface="+mn-lt"/>
              </a:rPr>
              <a:t> (Unidirectional) </a:t>
            </a:r>
            <a:r>
              <a:rPr lang="en-US" dirty="0" err="1">
                <a:solidFill>
                  <a:srgbClr val="373A3C"/>
                </a:solidFill>
                <a:latin typeface="Times New Roman"/>
                <a:ea typeface="+mn-lt"/>
                <a:cs typeface="+mn-lt"/>
              </a:rPr>
              <a:t>từ</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trái</a:t>
            </a:r>
            <a:r>
              <a:rPr lang="en-US" dirty="0">
                <a:solidFill>
                  <a:srgbClr val="373A3C"/>
                </a:solidFill>
                <a:latin typeface="Times New Roman"/>
                <a:ea typeface="+mn-lt"/>
                <a:cs typeface="+mn-lt"/>
              </a:rPr>
              <a:t> sang </a:t>
            </a:r>
            <a:r>
              <a:rPr lang="en-US" dirty="0" err="1">
                <a:solidFill>
                  <a:srgbClr val="373A3C"/>
                </a:solidFill>
                <a:latin typeface="Times New Roman"/>
                <a:ea typeface="+mn-lt"/>
                <a:cs typeface="+mn-lt"/>
              </a:rPr>
              <a:t>phải</a:t>
            </a:r>
            <a:r>
              <a:rPr lang="en-US" dirty="0">
                <a:solidFill>
                  <a:srgbClr val="373A3C"/>
                </a:solidFill>
                <a:latin typeface="Times New Roman"/>
                <a:ea typeface="+mn-lt"/>
                <a:cs typeface="+mn-lt"/>
              </a:rPr>
              <a:t>.</a:t>
            </a:r>
            <a:endParaRPr lang="en-US" dirty="0">
              <a:latin typeface="Times New Roman"/>
              <a:cs typeface="Times New Roman"/>
            </a:endParaRPr>
          </a:p>
          <a:p>
            <a:pPr>
              <a:buFont typeface="Arial"/>
              <a:buChar char="•"/>
            </a:pPr>
            <a:r>
              <a:rPr lang="en-US" b="1" dirty="0" err="1">
                <a:solidFill>
                  <a:srgbClr val="373A3C"/>
                </a:solidFill>
                <a:latin typeface="Times New Roman"/>
                <a:ea typeface="+mn-lt"/>
                <a:cs typeface="+mn-lt"/>
              </a:rPr>
              <a:t>Đặc</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điểm</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nổi</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bật</a:t>
            </a:r>
            <a:r>
              <a:rPr lang="en-US" b="1" dirty="0">
                <a:solidFill>
                  <a:srgbClr val="373A3C"/>
                </a:solidFill>
                <a:latin typeface="Times New Roman"/>
                <a:ea typeface="+mn-lt"/>
                <a:cs typeface="+mn-lt"/>
              </a:rPr>
              <a:t>:</a:t>
            </a:r>
            <a:endParaRPr lang="en-US" dirty="0">
              <a:latin typeface="Times New Roman"/>
              <a:cs typeface="Times New Roman"/>
            </a:endParaRPr>
          </a:p>
          <a:p>
            <a:pPr lvl="1">
              <a:buFont typeface="Courier New"/>
              <a:buChar char="o"/>
            </a:pPr>
            <a:r>
              <a:rPr lang="en-US" dirty="0" err="1">
                <a:solidFill>
                  <a:srgbClr val="373A3C"/>
                </a:solidFill>
                <a:latin typeface="Times New Roman"/>
                <a:ea typeface="+mn-lt"/>
                <a:cs typeface="+mn-lt"/>
              </a:rPr>
              <a:t>Tối</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ưu</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cho</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bài</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toán</a:t>
            </a:r>
            <a:r>
              <a:rPr lang="en-US" dirty="0">
                <a:solidFill>
                  <a:srgbClr val="373A3C"/>
                </a:solidFill>
                <a:latin typeface="Times New Roman"/>
                <a:ea typeface="+mn-lt"/>
                <a:cs typeface="+mn-lt"/>
              </a:rPr>
              <a:t> </a:t>
            </a:r>
            <a:r>
              <a:rPr lang="en-US" b="1" dirty="0" err="1">
                <a:solidFill>
                  <a:srgbClr val="373A3C"/>
                </a:solidFill>
                <a:latin typeface="Times New Roman"/>
                <a:ea typeface="+mn-lt"/>
                <a:cs typeface="+mn-lt"/>
              </a:rPr>
              <a:t>sinh</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văn</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bản</a:t>
            </a:r>
            <a:r>
              <a:rPr lang="en-US" b="1" dirty="0">
                <a:solidFill>
                  <a:srgbClr val="373A3C"/>
                </a:solidFill>
                <a:latin typeface="Times New Roman"/>
                <a:ea typeface="+mn-lt"/>
                <a:cs typeface="+mn-lt"/>
              </a:rPr>
              <a:t> </a:t>
            </a:r>
            <a:r>
              <a:rPr lang="en-US" b="1" dirty="0" err="1">
                <a:solidFill>
                  <a:srgbClr val="373A3C"/>
                </a:solidFill>
                <a:latin typeface="Times New Roman"/>
                <a:ea typeface="+mn-lt"/>
                <a:cs typeface="+mn-lt"/>
              </a:rPr>
              <a:t>tự</a:t>
            </a:r>
            <a:r>
              <a:rPr lang="en-US" b="1" dirty="0">
                <a:solidFill>
                  <a:srgbClr val="373A3C"/>
                </a:solidFill>
                <a:latin typeface="Times New Roman"/>
                <a:ea typeface="+mn-lt"/>
                <a:cs typeface="+mn-lt"/>
              </a:rPr>
              <a:t> do</a:t>
            </a:r>
            <a:r>
              <a:rPr lang="en-US" dirty="0">
                <a:solidFill>
                  <a:srgbClr val="373A3C"/>
                </a:solidFill>
                <a:latin typeface="Times New Roman"/>
                <a:ea typeface="+mn-lt"/>
                <a:cs typeface="+mn-lt"/>
              </a:rPr>
              <a:t> (Generative tasks).</a:t>
            </a:r>
            <a:endParaRPr lang="en-US" dirty="0">
              <a:latin typeface="Times New Roman"/>
              <a:cs typeface="Times New Roman"/>
            </a:endParaRPr>
          </a:p>
          <a:p>
            <a:pPr lvl="1">
              <a:buFont typeface="Courier New"/>
              <a:buChar char="o"/>
            </a:pPr>
            <a:r>
              <a:rPr lang="en-US" dirty="0" err="1">
                <a:solidFill>
                  <a:srgbClr val="373A3C"/>
                </a:solidFill>
                <a:latin typeface="Times New Roman"/>
                <a:ea typeface="+mn-lt"/>
                <a:cs typeface="+mn-lt"/>
              </a:rPr>
              <a:t>Khả</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năng</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tư</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duy</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chuỗi</a:t>
            </a:r>
            <a:r>
              <a:rPr lang="en-US" dirty="0">
                <a:solidFill>
                  <a:srgbClr val="373A3C"/>
                </a:solidFill>
                <a:latin typeface="Times New Roman"/>
                <a:ea typeface="+mn-lt"/>
                <a:cs typeface="+mn-lt"/>
              </a:rPr>
              <a:t> (Chain-of-thought) </a:t>
            </a:r>
            <a:r>
              <a:rPr lang="en-US" dirty="0" err="1">
                <a:solidFill>
                  <a:srgbClr val="373A3C"/>
                </a:solidFill>
                <a:latin typeface="Times New Roman"/>
                <a:ea typeface="+mn-lt"/>
                <a:cs typeface="+mn-lt"/>
              </a:rPr>
              <a:t>và</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sáng</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tạo</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nội</a:t>
            </a:r>
            <a:r>
              <a:rPr lang="en-US" dirty="0">
                <a:solidFill>
                  <a:srgbClr val="373A3C"/>
                </a:solidFill>
                <a:latin typeface="Times New Roman"/>
                <a:ea typeface="+mn-lt"/>
                <a:cs typeface="+mn-lt"/>
              </a:rPr>
              <a:t> dung </a:t>
            </a:r>
            <a:r>
              <a:rPr lang="en-US" dirty="0" err="1">
                <a:solidFill>
                  <a:srgbClr val="373A3C"/>
                </a:solidFill>
                <a:latin typeface="Times New Roman"/>
                <a:ea typeface="+mn-lt"/>
                <a:cs typeface="+mn-lt"/>
              </a:rPr>
              <a:t>mạnh</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mẽ</a:t>
            </a:r>
            <a:r>
              <a:rPr lang="en-US" dirty="0">
                <a:solidFill>
                  <a:srgbClr val="373A3C"/>
                </a:solidFill>
                <a:latin typeface="Times New Roman"/>
                <a:ea typeface="+mn-lt"/>
                <a:cs typeface="+mn-lt"/>
              </a:rPr>
              <a:t>.</a:t>
            </a:r>
            <a:endParaRPr lang="en-US" dirty="0">
              <a:latin typeface="Times New Roman"/>
              <a:cs typeface="Times New Roman"/>
            </a:endParaRPr>
          </a:p>
          <a:p>
            <a:pPr lvl="1">
              <a:buFont typeface="Courier New"/>
              <a:buChar char="o"/>
            </a:pPr>
            <a:r>
              <a:rPr lang="en-US" dirty="0" err="1">
                <a:solidFill>
                  <a:srgbClr val="373A3C"/>
                </a:solidFill>
                <a:latin typeface="Times New Roman"/>
                <a:ea typeface="+mn-lt"/>
                <a:cs typeface="+mn-lt"/>
              </a:rPr>
              <a:t>Là</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nền</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tảng</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của</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các</a:t>
            </a:r>
            <a:r>
              <a:rPr lang="en-US" dirty="0">
                <a:solidFill>
                  <a:srgbClr val="373A3C"/>
                </a:solidFill>
                <a:latin typeface="Times New Roman"/>
                <a:ea typeface="+mn-lt"/>
                <a:cs typeface="+mn-lt"/>
              </a:rPr>
              <a:t> LLM </a:t>
            </a:r>
            <a:r>
              <a:rPr lang="en-US" dirty="0" err="1">
                <a:solidFill>
                  <a:srgbClr val="373A3C"/>
                </a:solidFill>
                <a:latin typeface="Times New Roman"/>
                <a:ea typeface="+mn-lt"/>
                <a:cs typeface="+mn-lt"/>
              </a:rPr>
              <a:t>hiện</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đại</a:t>
            </a:r>
            <a:r>
              <a:rPr lang="en-US" dirty="0">
                <a:solidFill>
                  <a:srgbClr val="373A3C"/>
                </a:solidFill>
                <a:latin typeface="Times New Roman"/>
                <a:ea typeface="+mn-lt"/>
                <a:cs typeface="+mn-lt"/>
              </a:rPr>
              <a:t>: GPT, </a:t>
            </a:r>
            <a:r>
              <a:rPr lang="en-US" dirty="0" err="1">
                <a:solidFill>
                  <a:srgbClr val="373A3C"/>
                </a:solidFill>
                <a:latin typeface="Times New Roman"/>
                <a:ea typeface="+mn-lt"/>
                <a:cs typeface="+mn-lt"/>
              </a:rPr>
              <a:t>LLaMA</a:t>
            </a:r>
            <a:r>
              <a:rPr lang="en-US" dirty="0">
                <a:solidFill>
                  <a:srgbClr val="373A3C"/>
                </a:solidFill>
                <a:latin typeface="Times New Roman"/>
                <a:ea typeface="+mn-lt"/>
                <a:cs typeface="+mn-lt"/>
              </a:rPr>
              <a:t>, </a:t>
            </a:r>
            <a:r>
              <a:rPr lang="en-US" dirty="0" err="1">
                <a:solidFill>
                  <a:srgbClr val="373A3C"/>
                </a:solidFill>
                <a:latin typeface="Times New Roman"/>
                <a:ea typeface="+mn-lt"/>
                <a:cs typeface="+mn-lt"/>
              </a:rPr>
              <a:t>Qwen</a:t>
            </a:r>
            <a:r>
              <a:rPr lang="en-US" dirty="0">
                <a:solidFill>
                  <a:srgbClr val="373A3C"/>
                </a:solidFill>
                <a:latin typeface="Times New Roman"/>
                <a:ea typeface="+mn-lt"/>
                <a:cs typeface="+mn-lt"/>
              </a:rPr>
              <a:t>, Gemini</a:t>
            </a:r>
            <a:endParaRPr lang="en-US" dirty="0">
              <a:latin typeface="Times New Roman"/>
              <a:cs typeface="Times New Roman"/>
            </a:endParaRPr>
          </a:p>
          <a:p>
            <a:pPr marL="0" indent="0">
              <a:buNone/>
            </a:pPr>
            <a:endParaRPr lang="en-US" dirty="0">
              <a:solidFill>
                <a:srgbClr val="373A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926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0F26D-E788-54D3-640C-FDE851F9ABE0}"/>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40E24578-96FF-A763-594F-7FEE8EC675FA}"/>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F67696E1-B54B-0A14-439C-7B94C50DDDB4}"/>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D191DB1C-7A51-547C-D382-A61B04EA1C92}"/>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5A70A7EE-00B3-2D08-F808-56DF40B93B8A}"/>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481C4073-81C5-A5C4-7CD8-C47060D60F82}"/>
              </a:ext>
            </a:extLst>
          </p:cNvPr>
          <p:cNvSpPr>
            <a:spLocks noGrp="1"/>
          </p:cNvSpPr>
          <p:nvPr>
            <p:ph type="title"/>
          </p:nvPr>
        </p:nvSpPr>
        <p:spPr>
          <a:xfrm>
            <a:off x="-2415" y="10956"/>
            <a:ext cx="7886700" cy="1325563"/>
          </a:xfrm>
        </p:spPr>
        <p:txBody>
          <a:bodyPr/>
          <a:lstStyle/>
          <a:p>
            <a:r>
              <a:rPr lang="vi-VN">
                <a:latin typeface="Times New Roman"/>
                <a:cs typeface="Times New Roman"/>
              </a:rPr>
              <a:t>Bài toán</a:t>
            </a:r>
            <a:endParaRPr lang="vi-VN"/>
          </a:p>
        </p:txBody>
      </p:sp>
      <p:sp>
        <p:nvSpPr>
          <p:cNvPr id="9" name="Content Placeholder 2">
            <a:extLst>
              <a:ext uri="{FF2B5EF4-FFF2-40B4-BE49-F238E27FC236}">
                <a16:creationId xmlns:a16="http://schemas.microsoft.com/office/drawing/2014/main" id="{7E7F4873-8337-D1FA-5DA0-C5BC57D7E9EF}"/>
              </a:ext>
            </a:extLst>
          </p:cNvPr>
          <p:cNvSpPr>
            <a:spLocks noGrp="1"/>
          </p:cNvSpPr>
          <p:nvPr>
            <p:ph idx="1"/>
          </p:nvPr>
        </p:nvSpPr>
        <p:spPr>
          <a:xfrm>
            <a:off x="-2415" y="1503653"/>
            <a:ext cx="9148829" cy="5188464"/>
          </a:xfrm>
        </p:spPr>
        <p:txBody>
          <a:bodyPr vert="horz" lIns="91440" tIns="45720" rIns="91440" bIns="45720" rtlCol="0" anchor="t">
            <a:normAutofit fontScale="85000" lnSpcReduction="20000"/>
          </a:bodyPr>
          <a:lstStyle/>
          <a:p>
            <a:pPr>
              <a:buFont typeface="Arial"/>
              <a:buChar char="•"/>
            </a:pPr>
            <a:r>
              <a:rPr lang="en-US" b="1">
                <a:solidFill>
                  <a:srgbClr val="373A3C"/>
                </a:solidFill>
                <a:ea typeface="+mn-lt"/>
                <a:cs typeface="+mn-lt"/>
              </a:rPr>
              <a:t>Định </a:t>
            </a:r>
            <a:r>
              <a:rPr lang="en-US" b="1" err="1">
                <a:solidFill>
                  <a:srgbClr val="373A3C"/>
                </a:solidFill>
                <a:ea typeface="+mn-lt"/>
                <a:cs typeface="+mn-lt"/>
              </a:rPr>
              <a:t>nghĩa</a:t>
            </a:r>
            <a:r>
              <a:rPr lang="en-US" b="1">
                <a:solidFill>
                  <a:srgbClr val="373A3C"/>
                </a:solidFill>
                <a:ea typeface="+mn-lt"/>
                <a:cs typeface="+mn-lt"/>
              </a:rPr>
              <a:t> </a:t>
            </a:r>
            <a:r>
              <a:rPr lang="en-US" b="1" err="1">
                <a:solidFill>
                  <a:srgbClr val="373A3C"/>
                </a:solidFill>
                <a:ea typeface="+mn-lt"/>
                <a:cs typeface="+mn-lt"/>
              </a:rPr>
              <a:t>bài</a:t>
            </a:r>
            <a:r>
              <a:rPr lang="en-US" b="1">
                <a:solidFill>
                  <a:srgbClr val="373A3C"/>
                </a:solidFill>
                <a:ea typeface="+mn-lt"/>
                <a:cs typeface="+mn-lt"/>
              </a:rPr>
              <a:t> </a:t>
            </a:r>
            <a:r>
              <a:rPr lang="en-US" b="1" err="1">
                <a:solidFill>
                  <a:srgbClr val="373A3C"/>
                </a:solidFill>
                <a:ea typeface="+mn-lt"/>
                <a:cs typeface="+mn-lt"/>
              </a:rPr>
              <a:t>toán</a:t>
            </a:r>
            <a:r>
              <a:rPr lang="en-US" b="1">
                <a:solidFill>
                  <a:srgbClr val="373A3C"/>
                </a:solidFill>
                <a:ea typeface="+mn-lt"/>
                <a:cs typeface="+mn-lt"/>
              </a:rPr>
              <a:t>:</a:t>
            </a:r>
            <a:endParaRPr lang="vi-VN">
              <a:solidFill>
                <a:srgbClr val="000000"/>
              </a:solidFill>
              <a:latin typeface="Times New Roman"/>
              <a:ea typeface="+mn-lt"/>
              <a:cs typeface="Times New Roman"/>
            </a:endParaRPr>
          </a:p>
          <a:p>
            <a:pPr lvl="1">
              <a:buFont typeface="Courier New"/>
              <a:buChar char="o"/>
            </a:pPr>
            <a:r>
              <a:rPr lang="en-US" b="1" err="1">
                <a:solidFill>
                  <a:srgbClr val="373A3C"/>
                </a:solidFill>
                <a:ea typeface="+mn-lt"/>
                <a:cs typeface="+mn-lt"/>
              </a:rPr>
              <a:t>Nhiệm</a:t>
            </a:r>
            <a:r>
              <a:rPr lang="en-US" b="1">
                <a:solidFill>
                  <a:srgbClr val="373A3C"/>
                </a:solidFill>
                <a:ea typeface="+mn-lt"/>
                <a:cs typeface="+mn-lt"/>
              </a:rPr>
              <a:t> </a:t>
            </a:r>
            <a:r>
              <a:rPr lang="en-US" b="1" err="1">
                <a:solidFill>
                  <a:srgbClr val="373A3C"/>
                </a:solidFill>
                <a:ea typeface="+mn-lt"/>
                <a:cs typeface="+mn-lt"/>
              </a:rPr>
              <a:t>vụ</a:t>
            </a:r>
            <a:r>
              <a:rPr lang="en-US" b="1">
                <a:solidFill>
                  <a:srgbClr val="373A3C"/>
                </a:solidFill>
                <a:ea typeface="+mn-lt"/>
                <a:cs typeface="+mn-lt"/>
              </a:rPr>
              <a:t>:</a:t>
            </a:r>
            <a:r>
              <a:rPr lang="en-US">
                <a:solidFill>
                  <a:srgbClr val="373A3C"/>
                </a:solidFill>
                <a:ea typeface="+mn-lt"/>
                <a:cs typeface="+mn-lt"/>
              </a:rPr>
              <a:t> </a:t>
            </a:r>
            <a:r>
              <a:rPr lang="en-US" err="1">
                <a:solidFill>
                  <a:srgbClr val="373A3C"/>
                </a:solidFill>
                <a:ea typeface="+mn-lt"/>
                <a:cs typeface="+mn-lt"/>
              </a:rPr>
              <a:t>Đọc</a:t>
            </a:r>
            <a:r>
              <a:rPr lang="en-US">
                <a:solidFill>
                  <a:srgbClr val="373A3C"/>
                </a:solidFill>
                <a:ea typeface="+mn-lt"/>
                <a:cs typeface="+mn-lt"/>
              </a:rPr>
              <a:t> </a:t>
            </a:r>
            <a:r>
              <a:rPr lang="en-US" err="1">
                <a:solidFill>
                  <a:srgbClr val="373A3C"/>
                </a:solidFill>
                <a:ea typeface="+mn-lt"/>
                <a:cs typeface="+mn-lt"/>
              </a:rPr>
              <a:t>hiểu</a:t>
            </a:r>
            <a:r>
              <a:rPr lang="en-US">
                <a:solidFill>
                  <a:srgbClr val="373A3C"/>
                </a:solidFill>
                <a:ea typeface="+mn-lt"/>
                <a:cs typeface="+mn-lt"/>
              </a:rPr>
              <a:t> </a:t>
            </a:r>
            <a:r>
              <a:rPr lang="en-US" err="1">
                <a:solidFill>
                  <a:srgbClr val="373A3C"/>
                </a:solidFill>
                <a:ea typeface="+mn-lt"/>
                <a:cs typeface="+mn-lt"/>
              </a:rPr>
              <a:t>máy</a:t>
            </a:r>
            <a:r>
              <a:rPr lang="en-US">
                <a:solidFill>
                  <a:srgbClr val="373A3C"/>
                </a:solidFill>
                <a:ea typeface="+mn-lt"/>
                <a:cs typeface="+mn-lt"/>
              </a:rPr>
              <a:t> (Machine Reading Comprehension).</a:t>
            </a:r>
            <a:endParaRPr lang="en-US">
              <a:ea typeface="Calibri"/>
              <a:cs typeface="Calibri"/>
            </a:endParaRPr>
          </a:p>
          <a:p>
            <a:pPr lvl="1">
              <a:buFont typeface="Courier New"/>
              <a:buChar char="o"/>
            </a:pPr>
            <a:r>
              <a:rPr lang="en-US" b="1">
                <a:solidFill>
                  <a:srgbClr val="373A3C"/>
                </a:solidFill>
                <a:ea typeface="+mn-lt"/>
                <a:cs typeface="+mn-lt"/>
              </a:rPr>
              <a:t>Input:</a:t>
            </a:r>
            <a:r>
              <a:rPr lang="en-US">
                <a:solidFill>
                  <a:srgbClr val="373A3C"/>
                </a:solidFill>
                <a:ea typeface="+mn-lt"/>
                <a:cs typeface="+mn-lt"/>
              </a:rPr>
              <a:t> </a:t>
            </a:r>
            <a:r>
              <a:rPr lang="en-US" err="1">
                <a:solidFill>
                  <a:srgbClr val="373A3C"/>
                </a:solidFill>
                <a:ea typeface="+mn-lt"/>
                <a:cs typeface="+mn-lt"/>
              </a:rPr>
              <a:t>Một</a:t>
            </a:r>
            <a:r>
              <a:rPr lang="en-US">
                <a:solidFill>
                  <a:srgbClr val="373A3C"/>
                </a:solidFill>
                <a:ea typeface="+mn-lt"/>
                <a:cs typeface="+mn-lt"/>
              </a:rPr>
              <a:t> </a:t>
            </a:r>
            <a:r>
              <a:rPr lang="en-US" err="1">
                <a:solidFill>
                  <a:srgbClr val="373A3C"/>
                </a:solidFill>
                <a:ea typeface="+mn-lt"/>
                <a:cs typeface="+mn-lt"/>
              </a:rPr>
              <a:t>đoạn</a:t>
            </a:r>
            <a:r>
              <a:rPr lang="en-US">
                <a:solidFill>
                  <a:srgbClr val="373A3C"/>
                </a:solidFill>
                <a:ea typeface="+mn-lt"/>
                <a:cs typeface="+mn-lt"/>
              </a:rPr>
              <a:t> </a:t>
            </a:r>
            <a:r>
              <a:rPr lang="en-US" err="1">
                <a:solidFill>
                  <a:srgbClr val="373A3C"/>
                </a:solidFill>
                <a:ea typeface="+mn-lt"/>
                <a:cs typeface="+mn-lt"/>
              </a:rPr>
              <a:t>văn</a:t>
            </a:r>
            <a:r>
              <a:rPr lang="en-US">
                <a:solidFill>
                  <a:srgbClr val="373A3C"/>
                </a:solidFill>
                <a:ea typeface="+mn-lt"/>
                <a:cs typeface="+mn-lt"/>
              </a:rPr>
              <a:t> </a:t>
            </a:r>
            <a:r>
              <a:rPr lang="en-US" err="1">
                <a:solidFill>
                  <a:srgbClr val="373A3C"/>
                </a:solidFill>
                <a:ea typeface="+mn-lt"/>
                <a:cs typeface="+mn-lt"/>
              </a:rPr>
              <a:t>bản</a:t>
            </a:r>
            <a:r>
              <a:rPr lang="en-US">
                <a:solidFill>
                  <a:srgbClr val="373A3C"/>
                </a:solidFill>
                <a:ea typeface="+mn-lt"/>
                <a:cs typeface="+mn-lt"/>
              </a:rPr>
              <a:t> (Context) </a:t>
            </a:r>
            <a:r>
              <a:rPr lang="en-US" err="1">
                <a:solidFill>
                  <a:srgbClr val="373A3C"/>
                </a:solidFill>
                <a:ea typeface="+mn-lt"/>
                <a:cs typeface="+mn-lt"/>
              </a:rPr>
              <a:t>và</a:t>
            </a:r>
            <a:r>
              <a:rPr lang="en-US">
                <a:solidFill>
                  <a:srgbClr val="373A3C"/>
                </a:solidFill>
                <a:ea typeface="+mn-lt"/>
                <a:cs typeface="+mn-lt"/>
              </a:rPr>
              <a:t> </a:t>
            </a:r>
            <a:r>
              <a:rPr lang="en-US" err="1">
                <a:solidFill>
                  <a:srgbClr val="373A3C"/>
                </a:solidFill>
                <a:ea typeface="+mn-lt"/>
                <a:cs typeface="+mn-lt"/>
              </a:rPr>
              <a:t>một</a:t>
            </a:r>
            <a:r>
              <a:rPr lang="en-US">
                <a:solidFill>
                  <a:srgbClr val="373A3C"/>
                </a:solidFill>
                <a:ea typeface="+mn-lt"/>
                <a:cs typeface="+mn-lt"/>
              </a:rPr>
              <a:t> </a:t>
            </a:r>
            <a:r>
              <a:rPr lang="en-US" err="1">
                <a:solidFill>
                  <a:srgbClr val="373A3C"/>
                </a:solidFill>
                <a:ea typeface="+mn-lt"/>
                <a:cs typeface="+mn-lt"/>
              </a:rPr>
              <a:t>câu</a:t>
            </a:r>
            <a:r>
              <a:rPr lang="en-US">
                <a:solidFill>
                  <a:srgbClr val="373A3C"/>
                </a:solidFill>
                <a:ea typeface="+mn-lt"/>
                <a:cs typeface="+mn-lt"/>
              </a:rPr>
              <a:t> </a:t>
            </a:r>
            <a:r>
              <a:rPr lang="en-US" err="1">
                <a:solidFill>
                  <a:srgbClr val="373A3C"/>
                </a:solidFill>
                <a:ea typeface="+mn-lt"/>
                <a:cs typeface="+mn-lt"/>
              </a:rPr>
              <a:t>hỏi</a:t>
            </a:r>
            <a:r>
              <a:rPr lang="en-US">
                <a:solidFill>
                  <a:srgbClr val="373A3C"/>
                </a:solidFill>
                <a:ea typeface="+mn-lt"/>
                <a:cs typeface="+mn-lt"/>
              </a:rPr>
              <a:t> (Question) </a:t>
            </a:r>
            <a:r>
              <a:rPr lang="en-US" err="1">
                <a:solidFill>
                  <a:srgbClr val="373A3C"/>
                </a:solidFill>
                <a:ea typeface="+mn-lt"/>
                <a:cs typeface="+mn-lt"/>
              </a:rPr>
              <a:t>liên</a:t>
            </a:r>
            <a:r>
              <a:rPr lang="en-US">
                <a:solidFill>
                  <a:srgbClr val="373A3C"/>
                </a:solidFill>
                <a:ea typeface="+mn-lt"/>
                <a:cs typeface="+mn-lt"/>
              </a:rPr>
              <a:t> </a:t>
            </a:r>
            <a:r>
              <a:rPr lang="en-US" err="1">
                <a:solidFill>
                  <a:srgbClr val="373A3C"/>
                </a:solidFill>
                <a:ea typeface="+mn-lt"/>
                <a:cs typeface="+mn-lt"/>
              </a:rPr>
              <a:t>quan</a:t>
            </a:r>
            <a:r>
              <a:rPr lang="en-US">
                <a:solidFill>
                  <a:srgbClr val="373A3C"/>
                </a:solidFill>
                <a:ea typeface="+mn-lt"/>
                <a:cs typeface="+mn-lt"/>
              </a:rPr>
              <a:t> </a:t>
            </a:r>
            <a:r>
              <a:rPr lang="en-US" err="1">
                <a:solidFill>
                  <a:srgbClr val="373A3C"/>
                </a:solidFill>
                <a:ea typeface="+mn-lt"/>
                <a:cs typeface="+mn-lt"/>
              </a:rPr>
              <a:t>đến</a:t>
            </a:r>
            <a:r>
              <a:rPr lang="en-US">
                <a:solidFill>
                  <a:srgbClr val="373A3C"/>
                </a:solidFill>
                <a:ea typeface="+mn-lt"/>
                <a:cs typeface="+mn-lt"/>
              </a:rPr>
              <a:t> </a:t>
            </a:r>
            <a:r>
              <a:rPr lang="en-US" err="1">
                <a:solidFill>
                  <a:srgbClr val="373A3C"/>
                </a:solidFill>
                <a:ea typeface="+mn-lt"/>
                <a:cs typeface="+mn-lt"/>
              </a:rPr>
              <a:t>nội</a:t>
            </a:r>
            <a:r>
              <a:rPr lang="en-US">
                <a:solidFill>
                  <a:srgbClr val="373A3C"/>
                </a:solidFill>
                <a:ea typeface="+mn-lt"/>
                <a:cs typeface="+mn-lt"/>
              </a:rPr>
              <a:t> dung </a:t>
            </a:r>
            <a:r>
              <a:rPr lang="en-US" err="1">
                <a:solidFill>
                  <a:srgbClr val="373A3C"/>
                </a:solidFill>
                <a:ea typeface="+mn-lt"/>
                <a:cs typeface="+mn-lt"/>
              </a:rPr>
              <a:t>đó</a:t>
            </a:r>
            <a:r>
              <a:rPr lang="en-US">
                <a:solidFill>
                  <a:srgbClr val="373A3C"/>
                </a:solidFill>
                <a:ea typeface="+mn-lt"/>
                <a:cs typeface="+mn-lt"/>
              </a:rPr>
              <a:t>.</a:t>
            </a:r>
            <a:endParaRPr lang="en-US">
              <a:ea typeface="Calibri"/>
              <a:cs typeface="Calibri"/>
            </a:endParaRPr>
          </a:p>
          <a:p>
            <a:pPr lvl="1">
              <a:buFont typeface="Courier New"/>
              <a:buChar char="o"/>
            </a:pPr>
            <a:r>
              <a:rPr lang="en-US" b="1">
                <a:solidFill>
                  <a:srgbClr val="373A3C"/>
                </a:solidFill>
                <a:ea typeface="+mn-lt"/>
                <a:cs typeface="+mn-lt"/>
              </a:rPr>
              <a:t>Output:</a:t>
            </a:r>
            <a:r>
              <a:rPr lang="en-US">
                <a:solidFill>
                  <a:srgbClr val="373A3C"/>
                </a:solidFill>
                <a:ea typeface="+mn-lt"/>
                <a:cs typeface="+mn-lt"/>
              </a:rPr>
              <a:t> Sinh </a:t>
            </a:r>
            <a:r>
              <a:rPr lang="en-US" err="1">
                <a:solidFill>
                  <a:srgbClr val="373A3C"/>
                </a:solidFill>
                <a:ea typeface="+mn-lt"/>
                <a:cs typeface="+mn-lt"/>
              </a:rPr>
              <a:t>ra</a:t>
            </a:r>
            <a:r>
              <a:rPr lang="en-US">
                <a:solidFill>
                  <a:srgbClr val="373A3C"/>
                </a:solidFill>
                <a:ea typeface="+mn-lt"/>
                <a:cs typeface="+mn-lt"/>
              </a:rPr>
              <a:t> </a:t>
            </a:r>
            <a:r>
              <a:rPr lang="en-US" err="1">
                <a:solidFill>
                  <a:srgbClr val="373A3C"/>
                </a:solidFill>
                <a:ea typeface="+mn-lt"/>
                <a:cs typeface="+mn-lt"/>
              </a:rPr>
              <a:t>câu</a:t>
            </a:r>
            <a:r>
              <a:rPr lang="en-US">
                <a:solidFill>
                  <a:srgbClr val="373A3C"/>
                </a:solidFill>
                <a:ea typeface="+mn-lt"/>
                <a:cs typeface="+mn-lt"/>
              </a:rPr>
              <a:t> </a:t>
            </a:r>
            <a:r>
              <a:rPr lang="en-US" err="1">
                <a:solidFill>
                  <a:srgbClr val="373A3C"/>
                </a:solidFill>
                <a:ea typeface="+mn-lt"/>
                <a:cs typeface="+mn-lt"/>
              </a:rPr>
              <a:t>trả</a:t>
            </a:r>
            <a:r>
              <a:rPr lang="en-US">
                <a:solidFill>
                  <a:srgbClr val="373A3C"/>
                </a:solidFill>
                <a:ea typeface="+mn-lt"/>
                <a:cs typeface="+mn-lt"/>
              </a:rPr>
              <a:t> </a:t>
            </a:r>
            <a:r>
              <a:rPr lang="en-US" err="1">
                <a:solidFill>
                  <a:srgbClr val="373A3C"/>
                </a:solidFill>
                <a:ea typeface="+mn-lt"/>
                <a:cs typeface="+mn-lt"/>
              </a:rPr>
              <a:t>lời</a:t>
            </a:r>
            <a:r>
              <a:rPr lang="en-US">
                <a:solidFill>
                  <a:srgbClr val="373A3C"/>
                </a:solidFill>
                <a:ea typeface="+mn-lt"/>
                <a:cs typeface="+mn-lt"/>
              </a:rPr>
              <a:t> (Answer) </a:t>
            </a:r>
            <a:r>
              <a:rPr lang="en-US" err="1">
                <a:solidFill>
                  <a:srgbClr val="373A3C"/>
                </a:solidFill>
                <a:ea typeface="+mn-lt"/>
                <a:cs typeface="+mn-lt"/>
              </a:rPr>
              <a:t>chính</a:t>
            </a:r>
            <a:r>
              <a:rPr lang="en-US">
                <a:solidFill>
                  <a:srgbClr val="373A3C"/>
                </a:solidFill>
                <a:ea typeface="+mn-lt"/>
                <a:cs typeface="+mn-lt"/>
              </a:rPr>
              <a:t> </a:t>
            </a:r>
            <a:r>
              <a:rPr lang="en-US" err="1">
                <a:solidFill>
                  <a:srgbClr val="373A3C"/>
                </a:solidFill>
                <a:ea typeface="+mn-lt"/>
                <a:cs typeface="+mn-lt"/>
              </a:rPr>
              <a:t>xác</a:t>
            </a:r>
            <a:r>
              <a:rPr lang="en-US">
                <a:solidFill>
                  <a:srgbClr val="373A3C"/>
                </a:solidFill>
                <a:ea typeface="+mn-lt"/>
                <a:cs typeface="+mn-lt"/>
              </a:rPr>
              <a:t> </a:t>
            </a:r>
            <a:r>
              <a:rPr lang="en-US" err="1">
                <a:solidFill>
                  <a:srgbClr val="373A3C"/>
                </a:solidFill>
                <a:ea typeface="+mn-lt"/>
                <a:cs typeface="+mn-lt"/>
              </a:rPr>
              <a:t>dưới</a:t>
            </a:r>
            <a:r>
              <a:rPr lang="en-US">
                <a:solidFill>
                  <a:srgbClr val="373A3C"/>
                </a:solidFill>
                <a:ea typeface="+mn-lt"/>
                <a:cs typeface="+mn-lt"/>
              </a:rPr>
              <a:t> </a:t>
            </a:r>
            <a:r>
              <a:rPr lang="en-US" err="1">
                <a:solidFill>
                  <a:srgbClr val="373A3C"/>
                </a:solidFill>
                <a:ea typeface="+mn-lt"/>
                <a:cs typeface="+mn-lt"/>
              </a:rPr>
              <a:t>dạng</a:t>
            </a:r>
            <a:r>
              <a:rPr lang="en-US">
                <a:solidFill>
                  <a:srgbClr val="373A3C"/>
                </a:solidFill>
                <a:ea typeface="+mn-lt"/>
                <a:cs typeface="+mn-lt"/>
              </a:rPr>
              <a:t> </a:t>
            </a:r>
            <a:r>
              <a:rPr lang="en-US" err="1">
                <a:solidFill>
                  <a:srgbClr val="373A3C"/>
                </a:solidFill>
                <a:ea typeface="+mn-lt"/>
                <a:cs typeface="+mn-lt"/>
              </a:rPr>
              <a:t>chuỗi</a:t>
            </a:r>
            <a:r>
              <a:rPr lang="en-US">
                <a:solidFill>
                  <a:srgbClr val="373A3C"/>
                </a:solidFill>
                <a:ea typeface="+mn-lt"/>
                <a:cs typeface="+mn-lt"/>
              </a:rPr>
              <a:t> </a:t>
            </a:r>
            <a:r>
              <a:rPr lang="en-US" err="1">
                <a:solidFill>
                  <a:srgbClr val="373A3C"/>
                </a:solidFill>
                <a:ea typeface="+mn-lt"/>
                <a:cs typeface="+mn-lt"/>
              </a:rPr>
              <a:t>ký</a:t>
            </a:r>
            <a:r>
              <a:rPr lang="en-US">
                <a:solidFill>
                  <a:srgbClr val="373A3C"/>
                </a:solidFill>
                <a:ea typeface="+mn-lt"/>
                <a:cs typeface="+mn-lt"/>
              </a:rPr>
              <a:t> </a:t>
            </a:r>
            <a:r>
              <a:rPr lang="en-US" err="1">
                <a:solidFill>
                  <a:srgbClr val="373A3C"/>
                </a:solidFill>
                <a:ea typeface="+mn-lt"/>
                <a:cs typeface="+mn-lt"/>
              </a:rPr>
              <a:t>tự</a:t>
            </a:r>
            <a:r>
              <a:rPr lang="en-US">
                <a:solidFill>
                  <a:srgbClr val="373A3C"/>
                </a:solidFill>
                <a:ea typeface="+mn-lt"/>
                <a:cs typeface="+mn-lt"/>
              </a:rPr>
              <a:t> </a:t>
            </a:r>
            <a:r>
              <a:rPr lang="en-US" err="1">
                <a:solidFill>
                  <a:srgbClr val="373A3C"/>
                </a:solidFill>
                <a:ea typeface="+mn-lt"/>
                <a:cs typeface="+mn-lt"/>
              </a:rPr>
              <a:t>tự</a:t>
            </a:r>
            <a:r>
              <a:rPr lang="en-US">
                <a:solidFill>
                  <a:srgbClr val="373A3C"/>
                </a:solidFill>
                <a:ea typeface="+mn-lt"/>
                <a:cs typeface="+mn-lt"/>
              </a:rPr>
              <a:t> </a:t>
            </a:r>
            <a:r>
              <a:rPr lang="en-US" err="1">
                <a:solidFill>
                  <a:srgbClr val="373A3C"/>
                </a:solidFill>
                <a:ea typeface="+mn-lt"/>
                <a:cs typeface="+mn-lt"/>
              </a:rPr>
              <a:t>nhiên</a:t>
            </a:r>
            <a:r>
              <a:rPr lang="en-US">
                <a:solidFill>
                  <a:srgbClr val="373A3C"/>
                </a:solidFill>
                <a:ea typeface="+mn-lt"/>
                <a:cs typeface="+mn-lt"/>
              </a:rPr>
              <a:t>.</a:t>
            </a:r>
            <a:endParaRPr lang="vi-VN">
              <a:latin typeface="Arial"/>
              <a:ea typeface="+mn-lt"/>
              <a:cs typeface="Arial"/>
            </a:endParaRPr>
          </a:p>
          <a:p>
            <a:pPr>
              <a:buFont typeface="Arial"/>
              <a:buChar char="•"/>
            </a:pPr>
            <a:r>
              <a:rPr lang="en-US" b="1">
                <a:solidFill>
                  <a:srgbClr val="373A3C"/>
                </a:solidFill>
                <a:ea typeface="+mn-lt"/>
                <a:cs typeface="+mn-lt"/>
              </a:rPr>
              <a:t>Phương </a:t>
            </a:r>
            <a:r>
              <a:rPr lang="en-US" b="1" err="1">
                <a:solidFill>
                  <a:srgbClr val="373A3C"/>
                </a:solidFill>
                <a:ea typeface="+mn-lt"/>
                <a:cs typeface="+mn-lt"/>
              </a:rPr>
              <a:t>pháp</a:t>
            </a:r>
            <a:r>
              <a:rPr lang="en-US" b="1">
                <a:solidFill>
                  <a:srgbClr val="373A3C"/>
                </a:solidFill>
                <a:ea typeface="+mn-lt"/>
                <a:cs typeface="+mn-lt"/>
              </a:rPr>
              <a:t> </a:t>
            </a:r>
            <a:r>
              <a:rPr lang="en-US" b="1" err="1">
                <a:solidFill>
                  <a:srgbClr val="373A3C"/>
                </a:solidFill>
                <a:ea typeface="+mn-lt"/>
                <a:cs typeface="+mn-lt"/>
              </a:rPr>
              <a:t>tiếp</a:t>
            </a:r>
            <a:r>
              <a:rPr lang="en-US" b="1">
                <a:solidFill>
                  <a:srgbClr val="373A3C"/>
                </a:solidFill>
                <a:ea typeface="+mn-lt"/>
                <a:cs typeface="+mn-lt"/>
              </a:rPr>
              <a:t> </a:t>
            </a:r>
            <a:r>
              <a:rPr lang="en-US" b="1" err="1">
                <a:solidFill>
                  <a:srgbClr val="373A3C"/>
                </a:solidFill>
                <a:ea typeface="+mn-lt"/>
                <a:cs typeface="+mn-lt"/>
              </a:rPr>
              <a:t>cận</a:t>
            </a:r>
            <a:r>
              <a:rPr lang="en-US" b="1">
                <a:solidFill>
                  <a:srgbClr val="373A3C"/>
                </a:solidFill>
                <a:ea typeface="+mn-lt"/>
                <a:cs typeface="+mn-lt"/>
              </a:rPr>
              <a:t> (Decoder-only):</a:t>
            </a:r>
            <a:endParaRPr lang="en-US"/>
          </a:p>
          <a:p>
            <a:pPr lvl="1">
              <a:buFont typeface="Courier New"/>
              <a:buChar char="o"/>
            </a:pPr>
            <a:r>
              <a:rPr lang="en-US" b="1" err="1">
                <a:solidFill>
                  <a:srgbClr val="373A3C"/>
                </a:solidFill>
                <a:ea typeface="+mn-lt"/>
                <a:cs typeface="+mn-lt"/>
              </a:rPr>
              <a:t>Loại</a:t>
            </a:r>
            <a:r>
              <a:rPr lang="en-US" b="1">
                <a:solidFill>
                  <a:srgbClr val="373A3C"/>
                </a:solidFill>
                <a:ea typeface="+mn-lt"/>
                <a:cs typeface="+mn-lt"/>
              </a:rPr>
              <a:t> </a:t>
            </a:r>
            <a:r>
              <a:rPr lang="en-US" b="1" err="1">
                <a:solidFill>
                  <a:srgbClr val="373A3C"/>
                </a:solidFill>
                <a:ea typeface="+mn-lt"/>
                <a:cs typeface="+mn-lt"/>
              </a:rPr>
              <a:t>hình</a:t>
            </a:r>
            <a:r>
              <a:rPr lang="en-US" b="1">
                <a:solidFill>
                  <a:srgbClr val="373A3C"/>
                </a:solidFill>
                <a:ea typeface="+mn-lt"/>
                <a:cs typeface="+mn-lt"/>
              </a:rPr>
              <a:t>:</a:t>
            </a:r>
            <a:r>
              <a:rPr lang="en-US">
                <a:solidFill>
                  <a:srgbClr val="373A3C"/>
                </a:solidFill>
                <a:ea typeface="+mn-lt"/>
                <a:cs typeface="+mn-lt"/>
              </a:rPr>
              <a:t> </a:t>
            </a:r>
            <a:r>
              <a:rPr lang="en-US" b="1">
                <a:solidFill>
                  <a:srgbClr val="373A3C"/>
                </a:solidFill>
                <a:ea typeface="+mn-lt"/>
                <a:cs typeface="+mn-lt"/>
              </a:rPr>
              <a:t>Generative QA</a:t>
            </a:r>
            <a:r>
              <a:rPr lang="en-US">
                <a:solidFill>
                  <a:srgbClr val="373A3C"/>
                </a:solidFill>
                <a:ea typeface="+mn-lt"/>
                <a:cs typeface="+mn-lt"/>
              </a:rPr>
              <a:t> (Sinh </a:t>
            </a:r>
            <a:r>
              <a:rPr lang="en-US" err="1">
                <a:solidFill>
                  <a:srgbClr val="373A3C"/>
                </a:solidFill>
                <a:ea typeface="+mn-lt"/>
                <a:cs typeface="+mn-lt"/>
              </a:rPr>
              <a:t>câu</a:t>
            </a:r>
            <a:r>
              <a:rPr lang="en-US">
                <a:solidFill>
                  <a:srgbClr val="373A3C"/>
                </a:solidFill>
                <a:ea typeface="+mn-lt"/>
                <a:cs typeface="+mn-lt"/>
              </a:rPr>
              <a:t> </a:t>
            </a:r>
            <a:r>
              <a:rPr lang="en-US" err="1">
                <a:solidFill>
                  <a:srgbClr val="373A3C"/>
                </a:solidFill>
                <a:ea typeface="+mn-lt"/>
                <a:cs typeface="+mn-lt"/>
              </a:rPr>
              <a:t>trả</a:t>
            </a:r>
            <a:r>
              <a:rPr lang="en-US">
                <a:solidFill>
                  <a:srgbClr val="373A3C"/>
                </a:solidFill>
                <a:ea typeface="+mn-lt"/>
                <a:cs typeface="+mn-lt"/>
              </a:rPr>
              <a:t> </a:t>
            </a:r>
            <a:r>
              <a:rPr lang="en-US" err="1">
                <a:solidFill>
                  <a:srgbClr val="373A3C"/>
                </a:solidFill>
                <a:ea typeface="+mn-lt"/>
                <a:cs typeface="+mn-lt"/>
              </a:rPr>
              <a:t>lời</a:t>
            </a:r>
            <a:r>
              <a:rPr lang="en-US">
                <a:solidFill>
                  <a:srgbClr val="373A3C"/>
                </a:solidFill>
                <a:ea typeface="+mn-lt"/>
                <a:cs typeface="+mn-lt"/>
              </a:rPr>
              <a:t> </a:t>
            </a:r>
            <a:r>
              <a:rPr lang="en-US" err="1">
                <a:solidFill>
                  <a:srgbClr val="373A3C"/>
                </a:solidFill>
                <a:ea typeface="+mn-lt"/>
                <a:cs typeface="+mn-lt"/>
              </a:rPr>
              <a:t>tự</a:t>
            </a:r>
            <a:r>
              <a:rPr lang="en-US">
                <a:solidFill>
                  <a:srgbClr val="373A3C"/>
                </a:solidFill>
                <a:ea typeface="+mn-lt"/>
                <a:cs typeface="+mn-lt"/>
              </a:rPr>
              <a:t> do) </a:t>
            </a:r>
            <a:r>
              <a:rPr lang="en-US" err="1">
                <a:solidFill>
                  <a:srgbClr val="373A3C"/>
                </a:solidFill>
                <a:ea typeface="+mn-lt"/>
                <a:cs typeface="+mn-lt"/>
              </a:rPr>
              <a:t>thay</a:t>
            </a:r>
            <a:r>
              <a:rPr lang="en-US">
                <a:solidFill>
                  <a:srgbClr val="373A3C"/>
                </a:solidFill>
                <a:ea typeface="+mn-lt"/>
                <a:cs typeface="+mn-lt"/>
              </a:rPr>
              <a:t> </a:t>
            </a:r>
            <a:r>
              <a:rPr lang="en-US" err="1">
                <a:solidFill>
                  <a:srgbClr val="373A3C"/>
                </a:solidFill>
                <a:ea typeface="+mn-lt"/>
                <a:cs typeface="+mn-lt"/>
              </a:rPr>
              <a:t>vì</a:t>
            </a:r>
            <a:r>
              <a:rPr lang="en-US">
                <a:solidFill>
                  <a:srgbClr val="373A3C"/>
                </a:solidFill>
                <a:ea typeface="+mn-lt"/>
                <a:cs typeface="+mn-lt"/>
              </a:rPr>
              <a:t> Extractive QA (</a:t>
            </a:r>
            <a:r>
              <a:rPr lang="en-US" err="1">
                <a:solidFill>
                  <a:srgbClr val="373A3C"/>
                </a:solidFill>
                <a:ea typeface="+mn-lt"/>
                <a:cs typeface="+mn-lt"/>
              </a:rPr>
              <a:t>Trích</a:t>
            </a:r>
            <a:r>
              <a:rPr lang="en-US">
                <a:solidFill>
                  <a:srgbClr val="373A3C"/>
                </a:solidFill>
                <a:ea typeface="+mn-lt"/>
                <a:cs typeface="+mn-lt"/>
              </a:rPr>
              <a:t> </a:t>
            </a:r>
            <a:r>
              <a:rPr lang="en-US" err="1">
                <a:solidFill>
                  <a:srgbClr val="373A3C"/>
                </a:solidFill>
                <a:ea typeface="+mn-lt"/>
                <a:cs typeface="+mn-lt"/>
              </a:rPr>
              <a:t>xuất</a:t>
            </a:r>
            <a:r>
              <a:rPr lang="en-US">
                <a:solidFill>
                  <a:srgbClr val="373A3C"/>
                </a:solidFill>
                <a:ea typeface="+mn-lt"/>
                <a:cs typeface="+mn-lt"/>
              </a:rPr>
              <a:t> </a:t>
            </a:r>
            <a:r>
              <a:rPr lang="en-US" err="1">
                <a:solidFill>
                  <a:srgbClr val="373A3C"/>
                </a:solidFill>
                <a:ea typeface="+mn-lt"/>
                <a:cs typeface="+mn-lt"/>
              </a:rPr>
              <a:t>vị</a:t>
            </a:r>
            <a:r>
              <a:rPr lang="en-US">
                <a:solidFill>
                  <a:srgbClr val="373A3C"/>
                </a:solidFill>
                <a:ea typeface="+mn-lt"/>
                <a:cs typeface="+mn-lt"/>
              </a:rPr>
              <a:t> </a:t>
            </a:r>
            <a:r>
              <a:rPr lang="en-US" err="1">
                <a:solidFill>
                  <a:srgbClr val="373A3C"/>
                </a:solidFill>
                <a:ea typeface="+mn-lt"/>
                <a:cs typeface="+mn-lt"/>
              </a:rPr>
              <a:t>trí</a:t>
            </a:r>
            <a:r>
              <a:rPr lang="en-US">
                <a:solidFill>
                  <a:srgbClr val="373A3C"/>
                </a:solidFill>
                <a:ea typeface="+mn-lt"/>
                <a:cs typeface="+mn-lt"/>
              </a:rPr>
              <a:t>).</a:t>
            </a:r>
            <a:endParaRPr lang="en-US">
              <a:ea typeface="Calibri"/>
              <a:cs typeface="Calibri"/>
            </a:endParaRPr>
          </a:p>
          <a:p>
            <a:pPr lvl="1">
              <a:buFont typeface="Courier New"/>
              <a:buChar char="o"/>
            </a:pPr>
            <a:r>
              <a:rPr lang="en-US" b="1" err="1">
                <a:solidFill>
                  <a:srgbClr val="373A3C"/>
                </a:solidFill>
                <a:ea typeface="+mn-lt"/>
                <a:cs typeface="+mn-lt"/>
              </a:rPr>
              <a:t>Cơ</a:t>
            </a:r>
            <a:r>
              <a:rPr lang="en-US" b="1">
                <a:solidFill>
                  <a:srgbClr val="373A3C"/>
                </a:solidFill>
                <a:ea typeface="+mn-lt"/>
                <a:cs typeface="+mn-lt"/>
              </a:rPr>
              <a:t> </a:t>
            </a:r>
            <a:r>
              <a:rPr lang="en-US" b="1" err="1">
                <a:solidFill>
                  <a:srgbClr val="373A3C"/>
                </a:solidFill>
                <a:ea typeface="+mn-lt"/>
                <a:cs typeface="+mn-lt"/>
              </a:rPr>
              <a:t>chế</a:t>
            </a:r>
            <a:r>
              <a:rPr lang="en-US" b="1">
                <a:solidFill>
                  <a:srgbClr val="373A3C"/>
                </a:solidFill>
                <a:ea typeface="+mn-lt"/>
                <a:cs typeface="+mn-lt"/>
              </a:rPr>
              <a:t>:</a:t>
            </a:r>
            <a:r>
              <a:rPr lang="en-US">
                <a:solidFill>
                  <a:srgbClr val="373A3C"/>
                </a:solidFill>
                <a:ea typeface="+mn-lt"/>
                <a:cs typeface="+mn-lt"/>
              </a:rPr>
              <a:t> </a:t>
            </a:r>
            <a:r>
              <a:rPr lang="en-US" err="1">
                <a:solidFill>
                  <a:srgbClr val="373A3C"/>
                </a:solidFill>
                <a:ea typeface="+mn-lt"/>
                <a:cs typeface="+mn-lt"/>
              </a:rPr>
              <a:t>Mô</a:t>
            </a:r>
            <a:r>
              <a:rPr lang="en-US">
                <a:solidFill>
                  <a:srgbClr val="373A3C"/>
                </a:solidFill>
                <a:ea typeface="+mn-lt"/>
                <a:cs typeface="+mn-lt"/>
              </a:rPr>
              <a:t> </a:t>
            </a:r>
            <a:r>
              <a:rPr lang="en-US" err="1">
                <a:solidFill>
                  <a:srgbClr val="373A3C"/>
                </a:solidFill>
                <a:ea typeface="+mn-lt"/>
                <a:cs typeface="+mn-lt"/>
              </a:rPr>
              <a:t>hình</a:t>
            </a:r>
            <a:r>
              <a:rPr lang="en-US">
                <a:solidFill>
                  <a:srgbClr val="373A3C"/>
                </a:solidFill>
                <a:ea typeface="+mn-lt"/>
                <a:cs typeface="+mn-lt"/>
              </a:rPr>
              <a:t> </a:t>
            </a:r>
            <a:r>
              <a:rPr lang="en-US" err="1">
                <a:solidFill>
                  <a:srgbClr val="373A3C"/>
                </a:solidFill>
                <a:ea typeface="+mn-lt"/>
                <a:cs typeface="+mn-lt"/>
              </a:rPr>
              <a:t>học</a:t>
            </a:r>
            <a:r>
              <a:rPr lang="en-US">
                <a:solidFill>
                  <a:srgbClr val="373A3C"/>
                </a:solidFill>
                <a:ea typeface="+mn-lt"/>
                <a:cs typeface="+mn-lt"/>
              </a:rPr>
              <a:t> </a:t>
            </a:r>
            <a:r>
              <a:rPr lang="en-US" err="1">
                <a:solidFill>
                  <a:srgbClr val="373A3C"/>
                </a:solidFill>
                <a:ea typeface="+mn-lt"/>
                <a:cs typeface="+mn-lt"/>
              </a:rPr>
              <a:t>theo</a:t>
            </a:r>
            <a:r>
              <a:rPr lang="en-US">
                <a:solidFill>
                  <a:srgbClr val="373A3C"/>
                </a:solidFill>
                <a:ea typeface="+mn-lt"/>
                <a:cs typeface="+mn-lt"/>
              </a:rPr>
              <a:t> </a:t>
            </a:r>
            <a:r>
              <a:rPr lang="en-US" err="1">
                <a:solidFill>
                  <a:srgbClr val="373A3C"/>
                </a:solidFill>
                <a:ea typeface="+mn-lt"/>
                <a:cs typeface="+mn-lt"/>
              </a:rPr>
              <a:t>cơ</a:t>
            </a:r>
            <a:r>
              <a:rPr lang="en-US">
                <a:solidFill>
                  <a:srgbClr val="373A3C"/>
                </a:solidFill>
                <a:ea typeface="+mn-lt"/>
                <a:cs typeface="+mn-lt"/>
              </a:rPr>
              <a:t> </a:t>
            </a:r>
            <a:r>
              <a:rPr lang="en-US" err="1">
                <a:solidFill>
                  <a:srgbClr val="373A3C"/>
                </a:solidFill>
                <a:ea typeface="+mn-lt"/>
                <a:cs typeface="+mn-lt"/>
              </a:rPr>
              <a:t>chế</a:t>
            </a:r>
            <a:r>
              <a:rPr lang="en-US">
                <a:solidFill>
                  <a:srgbClr val="373A3C"/>
                </a:solidFill>
                <a:ea typeface="+mn-lt"/>
                <a:cs typeface="+mn-lt"/>
              </a:rPr>
              <a:t> </a:t>
            </a:r>
            <a:r>
              <a:rPr lang="en-US" b="1">
                <a:solidFill>
                  <a:srgbClr val="373A3C"/>
                </a:solidFill>
                <a:ea typeface="+mn-lt"/>
                <a:cs typeface="+mn-lt"/>
              </a:rPr>
              <a:t>Causal Language Modeling</a:t>
            </a:r>
            <a:r>
              <a:rPr lang="en-US">
                <a:solidFill>
                  <a:srgbClr val="373A3C"/>
                </a:solidFill>
                <a:ea typeface="+mn-lt"/>
                <a:cs typeface="+mn-lt"/>
              </a:rPr>
              <a:t> (</a:t>
            </a:r>
            <a:r>
              <a:rPr lang="en-US" err="1">
                <a:solidFill>
                  <a:srgbClr val="373A3C"/>
                </a:solidFill>
                <a:ea typeface="+mn-lt"/>
                <a:cs typeface="+mn-lt"/>
              </a:rPr>
              <a:t>Dự</a:t>
            </a:r>
            <a:r>
              <a:rPr lang="en-US">
                <a:solidFill>
                  <a:srgbClr val="373A3C"/>
                </a:solidFill>
                <a:ea typeface="+mn-lt"/>
                <a:cs typeface="+mn-lt"/>
              </a:rPr>
              <a:t> </a:t>
            </a:r>
            <a:r>
              <a:rPr lang="en-US" err="1">
                <a:solidFill>
                  <a:srgbClr val="373A3C"/>
                </a:solidFill>
                <a:ea typeface="+mn-lt"/>
                <a:cs typeface="+mn-lt"/>
              </a:rPr>
              <a:t>đoán</a:t>
            </a:r>
            <a:r>
              <a:rPr lang="en-US">
                <a:solidFill>
                  <a:srgbClr val="373A3C"/>
                </a:solidFill>
                <a:ea typeface="+mn-lt"/>
                <a:cs typeface="+mn-lt"/>
              </a:rPr>
              <a:t> token </a:t>
            </a:r>
            <a:r>
              <a:rPr lang="en-US" err="1">
                <a:solidFill>
                  <a:srgbClr val="373A3C"/>
                </a:solidFill>
                <a:ea typeface="+mn-lt"/>
                <a:cs typeface="+mn-lt"/>
              </a:rPr>
              <a:t>tiếp</a:t>
            </a:r>
            <a:r>
              <a:rPr lang="en-US">
                <a:solidFill>
                  <a:srgbClr val="373A3C"/>
                </a:solidFill>
                <a:ea typeface="+mn-lt"/>
                <a:cs typeface="+mn-lt"/>
              </a:rPr>
              <a:t> </a:t>
            </a:r>
            <a:r>
              <a:rPr lang="en-US" err="1">
                <a:solidFill>
                  <a:srgbClr val="373A3C"/>
                </a:solidFill>
                <a:ea typeface="+mn-lt"/>
                <a:cs typeface="+mn-lt"/>
              </a:rPr>
              <a:t>theo</a:t>
            </a:r>
            <a:r>
              <a:rPr lang="en-US">
                <a:solidFill>
                  <a:srgbClr val="373A3C"/>
                </a:solidFill>
                <a:ea typeface="+mn-lt"/>
                <a:cs typeface="+mn-lt"/>
              </a:rPr>
              <a:t> </a:t>
            </a:r>
            <a:r>
              <a:rPr lang="en-US" err="1">
                <a:solidFill>
                  <a:srgbClr val="373A3C"/>
                </a:solidFill>
                <a:ea typeface="+mn-lt"/>
                <a:cs typeface="+mn-lt"/>
              </a:rPr>
              <a:t>dựa</a:t>
            </a:r>
            <a:r>
              <a:rPr lang="en-US">
                <a:solidFill>
                  <a:srgbClr val="373A3C"/>
                </a:solidFill>
                <a:ea typeface="+mn-lt"/>
                <a:cs typeface="+mn-lt"/>
              </a:rPr>
              <a:t> </a:t>
            </a:r>
            <a:r>
              <a:rPr lang="en-US" err="1">
                <a:solidFill>
                  <a:srgbClr val="373A3C"/>
                </a:solidFill>
                <a:ea typeface="+mn-lt"/>
                <a:cs typeface="+mn-lt"/>
              </a:rPr>
              <a:t>trên</a:t>
            </a:r>
            <a:r>
              <a:rPr lang="en-US">
                <a:solidFill>
                  <a:srgbClr val="373A3C"/>
                </a:solidFill>
                <a:ea typeface="+mn-lt"/>
                <a:cs typeface="+mn-lt"/>
              </a:rPr>
              <a:t> </a:t>
            </a:r>
            <a:r>
              <a:rPr lang="en-US" err="1">
                <a:solidFill>
                  <a:srgbClr val="373A3C"/>
                </a:solidFill>
                <a:ea typeface="+mn-lt"/>
                <a:cs typeface="+mn-lt"/>
              </a:rPr>
              <a:t>chuỗi</a:t>
            </a:r>
            <a:r>
              <a:rPr lang="en-US">
                <a:solidFill>
                  <a:srgbClr val="373A3C"/>
                </a:solidFill>
                <a:ea typeface="+mn-lt"/>
                <a:cs typeface="+mn-lt"/>
              </a:rPr>
              <a:t> </a:t>
            </a:r>
            <a:r>
              <a:rPr lang="en-US" err="1">
                <a:solidFill>
                  <a:srgbClr val="373A3C"/>
                </a:solidFill>
                <a:ea typeface="+mn-lt"/>
                <a:cs typeface="+mn-lt"/>
              </a:rPr>
              <a:t>phía</a:t>
            </a:r>
            <a:r>
              <a:rPr lang="en-US">
                <a:solidFill>
                  <a:srgbClr val="373A3C"/>
                </a:solidFill>
                <a:ea typeface="+mn-lt"/>
                <a:cs typeface="+mn-lt"/>
              </a:rPr>
              <a:t> </a:t>
            </a:r>
            <a:r>
              <a:rPr lang="en-US" err="1">
                <a:solidFill>
                  <a:srgbClr val="373A3C"/>
                </a:solidFill>
                <a:ea typeface="+mn-lt"/>
                <a:cs typeface="+mn-lt"/>
              </a:rPr>
              <a:t>trước</a:t>
            </a:r>
            <a:r>
              <a:rPr lang="en-US">
                <a:solidFill>
                  <a:srgbClr val="373A3C"/>
                </a:solidFill>
                <a:ea typeface="+mn-lt"/>
                <a:cs typeface="+mn-lt"/>
              </a:rPr>
              <a:t>).</a:t>
            </a:r>
            <a:endParaRPr lang="en-US">
              <a:ea typeface="+mn-lt"/>
              <a:cs typeface="+mn-lt"/>
            </a:endParaRPr>
          </a:p>
          <a:p>
            <a:pPr lvl="1">
              <a:buFont typeface="Courier New"/>
              <a:buChar char="o"/>
            </a:pPr>
            <a:r>
              <a:rPr lang="en-US" b="1" err="1">
                <a:solidFill>
                  <a:srgbClr val="373A3C"/>
                </a:solidFill>
                <a:ea typeface="+mn-lt"/>
                <a:cs typeface="+mn-lt"/>
              </a:rPr>
              <a:t>Ưu</a:t>
            </a:r>
            <a:r>
              <a:rPr lang="en-US" b="1">
                <a:solidFill>
                  <a:srgbClr val="373A3C"/>
                </a:solidFill>
                <a:ea typeface="+mn-lt"/>
                <a:cs typeface="+mn-lt"/>
              </a:rPr>
              <a:t> </a:t>
            </a:r>
            <a:r>
              <a:rPr lang="en-US" b="1" err="1">
                <a:solidFill>
                  <a:srgbClr val="373A3C"/>
                </a:solidFill>
                <a:ea typeface="+mn-lt"/>
                <a:cs typeface="+mn-lt"/>
              </a:rPr>
              <a:t>điểm</a:t>
            </a:r>
            <a:r>
              <a:rPr lang="en-US" b="1">
                <a:solidFill>
                  <a:srgbClr val="373A3C"/>
                </a:solidFill>
                <a:ea typeface="+mn-lt"/>
                <a:cs typeface="+mn-lt"/>
              </a:rPr>
              <a:t>:</a:t>
            </a:r>
            <a:r>
              <a:rPr lang="en-US">
                <a:solidFill>
                  <a:srgbClr val="373A3C"/>
                </a:solidFill>
                <a:ea typeface="+mn-lt"/>
                <a:cs typeface="+mn-lt"/>
              </a:rPr>
              <a:t> </a:t>
            </a:r>
            <a:r>
              <a:rPr lang="en-US" err="1">
                <a:solidFill>
                  <a:srgbClr val="373A3C"/>
                </a:solidFill>
                <a:ea typeface="+mn-lt"/>
                <a:cs typeface="+mn-lt"/>
              </a:rPr>
              <a:t>Câu</a:t>
            </a:r>
            <a:r>
              <a:rPr lang="en-US">
                <a:solidFill>
                  <a:srgbClr val="373A3C"/>
                </a:solidFill>
                <a:ea typeface="+mn-lt"/>
                <a:cs typeface="+mn-lt"/>
              </a:rPr>
              <a:t> </a:t>
            </a:r>
            <a:r>
              <a:rPr lang="en-US" err="1">
                <a:solidFill>
                  <a:srgbClr val="373A3C"/>
                </a:solidFill>
                <a:ea typeface="+mn-lt"/>
                <a:cs typeface="+mn-lt"/>
              </a:rPr>
              <a:t>trả</a:t>
            </a:r>
            <a:r>
              <a:rPr lang="en-US">
                <a:solidFill>
                  <a:srgbClr val="373A3C"/>
                </a:solidFill>
                <a:ea typeface="+mn-lt"/>
                <a:cs typeface="+mn-lt"/>
              </a:rPr>
              <a:t> </a:t>
            </a:r>
            <a:r>
              <a:rPr lang="en-US" err="1">
                <a:solidFill>
                  <a:srgbClr val="373A3C"/>
                </a:solidFill>
                <a:ea typeface="+mn-lt"/>
                <a:cs typeface="+mn-lt"/>
              </a:rPr>
              <a:t>lời</a:t>
            </a:r>
            <a:r>
              <a:rPr lang="en-US">
                <a:solidFill>
                  <a:srgbClr val="373A3C"/>
                </a:solidFill>
                <a:ea typeface="+mn-lt"/>
                <a:cs typeface="+mn-lt"/>
              </a:rPr>
              <a:t> </a:t>
            </a:r>
            <a:r>
              <a:rPr lang="en-US" err="1">
                <a:solidFill>
                  <a:srgbClr val="373A3C"/>
                </a:solidFill>
                <a:ea typeface="+mn-lt"/>
                <a:cs typeface="+mn-lt"/>
              </a:rPr>
              <a:t>tự</a:t>
            </a:r>
            <a:r>
              <a:rPr lang="en-US">
                <a:solidFill>
                  <a:srgbClr val="373A3C"/>
                </a:solidFill>
                <a:ea typeface="+mn-lt"/>
                <a:cs typeface="+mn-lt"/>
              </a:rPr>
              <a:t> </a:t>
            </a:r>
            <a:r>
              <a:rPr lang="en-US" err="1">
                <a:solidFill>
                  <a:srgbClr val="373A3C"/>
                </a:solidFill>
                <a:ea typeface="+mn-lt"/>
                <a:cs typeface="+mn-lt"/>
              </a:rPr>
              <a:t>nhiên</a:t>
            </a:r>
            <a:r>
              <a:rPr lang="en-US">
                <a:solidFill>
                  <a:srgbClr val="373A3C"/>
                </a:solidFill>
                <a:ea typeface="+mn-lt"/>
                <a:cs typeface="+mn-lt"/>
              </a:rPr>
              <a:t>, </a:t>
            </a:r>
            <a:r>
              <a:rPr lang="en-US" err="1">
                <a:solidFill>
                  <a:srgbClr val="373A3C"/>
                </a:solidFill>
                <a:ea typeface="+mn-lt"/>
                <a:cs typeface="+mn-lt"/>
              </a:rPr>
              <a:t>trôi</a:t>
            </a:r>
            <a:r>
              <a:rPr lang="en-US">
                <a:solidFill>
                  <a:srgbClr val="373A3C"/>
                </a:solidFill>
                <a:ea typeface="+mn-lt"/>
                <a:cs typeface="+mn-lt"/>
              </a:rPr>
              <a:t> </a:t>
            </a:r>
            <a:r>
              <a:rPr lang="en-US" err="1">
                <a:solidFill>
                  <a:srgbClr val="373A3C"/>
                </a:solidFill>
                <a:ea typeface="+mn-lt"/>
                <a:cs typeface="+mn-lt"/>
              </a:rPr>
              <a:t>chảy</a:t>
            </a:r>
            <a:r>
              <a:rPr lang="en-US">
                <a:solidFill>
                  <a:srgbClr val="373A3C"/>
                </a:solidFill>
                <a:ea typeface="+mn-lt"/>
                <a:cs typeface="+mn-lt"/>
              </a:rPr>
              <a:t> </a:t>
            </a:r>
            <a:r>
              <a:rPr lang="en-US" err="1">
                <a:solidFill>
                  <a:srgbClr val="373A3C"/>
                </a:solidFill>
                <a:ea typeface="+mn-lt"/>
                <a:cs typeface="+mn-lt"/>
              </a:rPr>
              <a:t>và</a:t>
            </a:r>
            <a:r>
              <a:rPr lang="en-US">
                <a:solidFill>
                  <a:srgbClr val="373A3C"/>
                </a:solidFill>
                <a:ea typeface="+mn-lt"/>
                <a:cs typeface="+mn-lt"/>
              </a:rPr>
              <a:t> </a:t>
            </a:r>
            <a:r>
              <a:rPr lang="en-US" err="1">
                <a:solidFill>
                  <a:srgbClr val="373A3C"/>
                </a:solidFill>
                <a:ea typeface="+mn-lt"/>
                <a:cs typeface="+mn-lt"/>
              </a:rPr>
              <a:t>không</a:t>
            </a:r>
            <a:r>
              <a:rPr lang="en-US">
                <a:solidFill>
                  <a:srgbClr val="373A3C"/>
                </a:solidFill>
                <a:ea typeface="+mn-lt"/>
                <a:cs typeface="+mn-lt"/>
              </a:rPr>
              <a:t> </a:t>
            </a:r>
            <a:r>
              <a:rPr lang="en-US" err="1">
                <a:solidFill>
                  <a:srgbClr val="373A3C"/>
                </a:solidFill>
                <a:ea typeface="+mn-lt"/>
                <a:cs typeface="+mn-lt"/>
              </a:rPr>
              <a:t>bị</a:t>
            </a:r>
            <a:r>
              <a:rPr lang="en-US">
                <a:solidFill>
                  <a:srgbClr val="373A3C"/>
                </a:solidFill>
                <a:ea typeface="+mn-lt"/>
                <a:cs typeface="+mn-lt"/>
              </a:rPr>
              <a:t> </a:t>
            </a:r>
            <a:r>
              <a:rPr lang="en-US" err="1">
                <a:solidFill>
                  <a:srgbClr val="373A3C"/>
                </a:solidFill>
                <a:ea typeface="+mn-lt"/>
                <a:cs typeface="+mn-lt"/>
              </a:rPr>
              <a:t>giới</a:t>
            </a:r>
            <a:r>
              <a:rPr lang="en-US">
                <a:solidFill>
                  <a:srgbClr val="373A3C"/>
                </a:solidFill>
                <a:ea typeface="+mn-lt"/>
                <a:cs typeface="+mn-lt"/>
              </a:rPr>
              <a:t> </a:t>
            </a:r>
            <a:r>
              <a:rPr lang="en-US" err="1">
                <a:solidFill>
                  <a:srgbClr val="373A3C"/>
                </a:solidFill>
                <a:ea typeface="+mn-lt"/>
                <a:cs typeface="+mn-lt"/>
              </a:rPr>
              <a:t>hạn</a:t>
            </a:r>
            <a:r>
              <a:rPr lang="en-US">
                <a:solidFill>
                  <a:srgbClr val="373A3C"/>
                </a:solidFill>
                <a:ea typeface="+mn-lt"/>
                <a:cs typeface="+mn-lt"/>
              </a:rPr>
              <a:t> </a:t>
            </a:r>
            <a:r>
              <a:rPr lang="en-US" err="1">
                <a:solidFill>
                  <a:srgbClr val="373A3C"/>
                </a:solidFill>
                <a:ea typeface="+mn-lt"/>
                <a:cs typeface="+mn-lt"/>
              </a:rPr>
              <a:t>bởi</a:t>
            </a:r>
            <a:r>
              <a:rPr lang="en-US">
                <a:solidFill>
                  <a:srgbClr val="373A3C"/>
                </a:solidFill>
                <a:ea typeface="+mn-lt"/>
                <a:cs typeface="+mn-lt"/>
              </a:rPr>
              <a:t> </a:t>
            </a:r>
            <a:r>
              <a:rPr lang="en-US" err="1">
                <a:solidFill>
                  <a:srgbClr val="373A3C"/>
                </a:solidFill>
                <a:ea typeface="+mn-lt"/>
                <a:cs typeface="+mn-lt"/>
              </a:rPr>
              <a:t>việc</a:t>
            </a:r>
            <a:r>
              <a:rPr lang="en-US">
                <a:solidFill>
                  <a:srgbClr val="373A3C"/>
                </a:solidFill>
                <a:ea typeface="+mn-lt"/>
                <a:cs typeface="+mn-lt"/>
              </a:rPr>
              <a:t> </a:t>
            </a:r>
            <a:r>
              <a:rPr lang="en-US" err="1">
                <a:solidFill>
                  <a:srgbClr val="373A3C"/>
                </a:solidFill>
                <a:ea typeface="+mn-lt"/>
                <a:cs typeface="+mn-lt"/>
              </a:rPr>
              <a:t>cắt</a:t>
            </a:r>
            <a:r>
              <a:rPr lang="en-US">
                <a:solidFill>
                  <a:srgbClr val="373A3C"/>
                </a:solidFill>
                <a:ea typeface="+mn-lt"/>
                <a:cs typeface="+mn-lt"/>
              </a:rPr>
              <a:t> </a:t>
            </a:r>
            <a:r>
              <a:rPr lang="en-US" err="1">
                <a:solidFill>
                  <a:srgbClr val="373A3C"/>
                </a:solidFill>
                <a:ea typeface="+mn-lt"/>
                <a:cs typeface="+mn-lt"/>
              </a:rPr>
              <a:t>ghép</a:t>
            </a:r>
            <a:r>
              <a:rPr lang="en-US">
                <a:solidFill>
                  <a:srgbClr val="373A3C"/>
                </a:solidFill>
                <a:ea typeface="+mn-lt"/>
                <a:cs typeface="+mn-lt"/>
              </a:rPr>
              <a:t> </a:t>
            </a:r>
            <a:r>
              <a:rPr lang="en-US" err="1">
                <a:solidFill>
                  <a:srgbClr val="373A3C"/>
                </a:solidFill>
                <a:ea typeface="+mn-lt"/>
                <a:cs typeface="+mn-lt"/>
              </a:rPr>
              <a:t>từ</a:t>
            </a:r>
            <a:r>
              <a:rPr lang="en-US">
                <a:solidFill>
                  <a:srgbClr val="373A3C"/>
                </a:solidFill>
                <a:ea typeface="+mn-lt"/>
                <a:cs typeface="+mn-lt"/>
              </a:rPr>
              <a:t> </a:t>
            </a:r>
            <a:r>
              <a:rPr lang="en-US" err="1">
                <a:solidFill>
                  <a:srgbClr val="373A3C"/>
                </a:solidFill>
                <a:ea typeface="+mn-lt"/>
                <a:cs typeface="+mn-lt"/>
              </a:rPr>
              <a:t>đoạn</a:t>
            </a:r>
            <a:r>
              <a:rPr lang="en-US">
                <a:solidFill>
                  <a:srgbClr val="373A3C"/>
                </a:solidFill>
                <a:ea typeface="+mn-lt"/>
                <a:cs typeface="+mn-lt"/>
              </a:rPr>
              <a:t> </a:t>
            </a:r>
            <a:r>
              <a:rPr lang="en-US" err="1">
                <a:solidFill>
                  <a:srgbClr val="373A3C"/>
                </a:solidFill>
                <a:ea typeface="+mn-lt"/>
                <a:cs typeface="+mn-lt"/>
              </a:rPr>
              <a:t>văn</a:t>
            </a:r>
            <a:r>
              <a:rPr lang="en-US">
                <a:solidFill>
                  <a:srgbClr val="373A3C"/>
                </a:solidFill>
                <a:ea typeface="+mn-lt"/>
                <a:cs typeface="+mn-lt"/>
              </a:rPr>
              <a:t> </a:t>
            </a:r>
            <a:r>
              <a:rPr lang="en-US" err="1">
                <a:solidFill>
                  <a:srgbClr val="373A3C"/>
                </a:solidFill>
                <a:ea typeface="+mn-lt"/>
                <a:cs typeface="+mn-lt"/>
              </a:rPr>
              <a:t>gốc</a:t>
            </a:r>
            <a:r>
              <a:rPr lang="en-US">
                <a:solidFill>
                  <a:srgbClr val="373A3C"/>
                </a:solidFill>
                <a:ea typeface="+mn-lt"/>
                <a:cs typeface="+mn-lt"/>
              </a:rPr>
              <a:t>.</a:t>
            </a:r>
            <a:endParaRPr lang="en-US">
              <a:ea typeface="+mn-lt"/>
              <a:cs typeface="+mn-lt"/>
            </a:endParaRPr>
          </a:p>
          <a:p>
            <a:pPr>
              <a:buFont typeface="Arial"/>
              <a:buChar char="•"/>
            </a:pPr>
            <a:r>
              <a:rPr lang="en-US" b="1" err="1">
                <a:solidFill>
                  <a:srgbClr val="373A3C"/>
                </a:solidFill>
                <a:ea typeface="+mn-lt"/>
                <a:cs typeface="+mn-lt"/>
              </a:rPr>
              <a:t>Đóng</a:t>
            </a:r>
            <a:r>
              <a:rPr lang="en-US" b="1">
                <a:solidFill>
                  <a:srgbClr val="373A3C"/>
                </a:solidFill>
                <a:ea typeface="+mn-lt"/>
                <a:cs typeface="+mn-lt"/>
              </a:rPr>
              <a:t> </a:t>
            </a:r>
            <a:r>
              <a:rPr lang="en-US" b="1" err="1">
                <a:solidFill>
                  <a:srgbClr val="373A3C"/>
                </a:solidFill>
                <a:ea typeface="+mn-lt"/>
                <a:cs typeface="+mn-lt"/>
              </a:rPr>
              <a:t>gói</a:t>
            </a:r>
            <a:r>
              <a:rPr lang="en-US" b="1">
                <a:solidFill>
                  <a:srgbClr val="373A3C"/>
                </a:solidFill>
                <a:ea typeface="+mn-lt"/>
                <a:cs typeface="+mn-lt"/>
              </a:rPr>
              <a:t> </a:t>
            </a:r>
            <a:r>
              <a:rPr lang="en-US" b="1" err="1">
                <a:solidFill>
                  <a:srgbClr val="373A3C"/>
                </a:solidFill>
                <a:ea typeface="+mn-lt"/>
                <a:cs typeface="+mn-lt"/>
              </a:rPr>
              <a:t>dữ</a:t>
            </a:r>
            <a:r>
              <a:rPr lang="en-US" b="1">
                <a:solidFill>
                  <a:srgbClr val="373A3C"/>
                </a:solidFill>
                <a:ea typeface="+mn-lt"/>
                <a:cs typeface="+mn-lt"/>
              </a:rPr>
              <a:t> </a:t>
            </a:r>
            <a:r>
              <a:rPr lang="en-US" b="1" err="1">
                <a:solidFill>
                  <a:srgbClr val="373A3C"/>
                </a:solidFill>
                <a:ea typeface="+mn-lt"/>
                <a:cs typeface="+mn-lt"/>
              </a:rPr>
              <a:t>liệu</a:t>
            </a:r>
            <a:r>
              <a:rPr lang="en-US" b="1">
                <a:solidFill>
                  <a:srgbClr val="373A3C"/>
                </a:solidFill>
                <a:ea typeface="+mn-lt"/>
                <a:cs typeface="+mn-lt"/>
              </a:rPr>
              <a:t> (Data Formatting):</a:t>
            </a:r>
            <a:r>
              <a:rPr lang="en-US">
                <a:solidFill>
                  <a:srgbClr val="373A3C"/>
                </a:solidFill>
                <a:ea typeface="+mn-lt"/>
                <a:cs typeface="+mn-lt"/>
              </a:rPr>
              <a:t> </a:t>
            </a:r>
            <a:r>
              <a:rPr lang="en-US" err="1">
                <a:solidFill>
                  <a:srgbClr val="373A3C"/>
                </a:solidFill>
                <a:ea typeface="+mn-lt"/>
                <a:cs typeface="+mn-lt"/>
              </a:rPr>
              <a:t>Chuyển</a:t>
            </a:r>
            <a:r>
              <a:rPr lang="en-US">
                <a:solidFill>
                  <a:srgbClr val="373A3C"/>
                </a:solidFill>
                <a:ea typeface="+mn-lt"/>
                <a:cs typeface="+mn-lt"/>
              </a:rPr>
              <a:t> </a:t>
            </a:r>
            <a:r>
              <a:rPr lang="en-US" err="1">
                <a:solidFill>
                  <a:srgbClr val="373A3C"/>
                </a:solidFill>
                <a:ea typeface="+mn-lt"/>
                <a:cs typeface="+mn-lt"/>
              </a:rPr>
              <a:t>đổi</a:t>
            </a:r>
            <a:r>
              <a:rPr lang="en-US">
                <a:solidFill>
                  <a:srgbClr val="373A3C"/>
                </a:solidFill>
                <a:ea typeface="+mn-lt"/>
                <a:cs typeface="+mn-lt"/>
              </a:rPr>
              <a:t> </a:t>
            </a:r>
            <a:r>
              <a:rPr lang="en-US" err="1">
                <a:solidFill>
                  <a:srgbClr val="373A3C"/>
                </a:solidFill>
                <a:ea typeface="+mn-lt"/>
                <a:cs typeface="+mn-lt"/>
              </a:rPr>
              <a:t>bài</a:t>
            </a:r>
            <a:r>
              <a:rPr lang="en-US">
                <a:solidFill>
                  <a:srgbClr val="373A3C"/>
                </a:solidFill>
                <a:ea typeface="+mn-lt"/>
                <a:cs typeface="+mn-lt"/>
              </a:rPr>
              <a:t> </a:t>
            </a:r>
            <a:r>
              <a:rPr lang="en-US" err="1">
                <a:solidFill>
                  <a:srgbClr val="373A3C"/>
                </a:solidFill>
                <a:ea typeface="+mn-lt"/>
                <a:cs typeface="+mn-lt"/>
              </a:rPr>
              <a:t>toán</a:t>
            </a:r>
            <a:r>
              <a:rPr lang="en-US">
                <a:solidFill>
                  <a:srgbClr val="373A3C"/>
                </a:solidFill>
                <a:ea typeface="+mn-lt"/>
                <a:cs typeface="+mn-lt"/>
              </a:rPr>
              <a:t> QA </a:t>
            </a:r>
            <a:r>
              <a:rPr lang="en-US" err="1">
                <a:solidFill>
                  <a:srgbClr val="373A3C"/>
                </a:solidFill>
                <a:ea typeface="+mn-lt"/>
                <a:cs typeface="+mn-lt"/>
              </a:rPr>
              <a:t>thành</a:t>
            </a:r>
            <a:r>
              <a:rPr lang="en-US">
                <a:solidFill>
                  <a:srgbClr val="373A3C"/>
                </a:solidFill>
                <a:ea typeface="+mn-lt"/>
                <a:cs typeface="+mn-lt"/>
              </a:rPr>
              <a:t> </a:t>
            </a:r>
            <a:r>
              <a:rPr lang="en-US" err="1">
                <a:solidFill>
                  <a:srgbClr val="373A3C"/>
                </a:solidFill>
                <a:ea typeface="+mn-lt"/>
                <a:cs typeface="+mn-lt"/>
              </a:rPr>
              <a:t>bài</a:t>
            </a:r>
            <a:r>
              <a:rPr lang="en-US">
                <a:solidFill>
                  <a:srgbClr val="373A3C"/>
                </a:solidFill>
                <a:ea typeface="+mn-lt"/>
                <a:cs typeface="+mn-lt"/>
              </a:rPr>
              <a:t> </a:t>
            </a:r>
            <a:r>
              <a:rPr lang="en-US" err="1">
                <a:solidFill>
                  <a:srgbClr val="373A3C"/>
                </a:solidFill>
                <a:ea typeface="+mn-lt"/>
                <a:cs typeface="+mn-lt"/>
              </a:rPr>
              <a:t>toán</a:t>
            </a:r>
            <a:r>
              <a:rPr lang="en-US">
                <a:solidFill>
                  <a:srgbClr val="373A3C"/>
                </a:solidFill>
                <a:ea typeface="+mn-lt"/>
                <a:cs typeface="+mn-lt"/>
              </a:rPr>
              <a:t> </a:t>
            </a:r>
            <a:r>
              <a:rPr lang="en-US" err="1">
                <a:solidFill>
                  <a:srgbClr val="373A3C"/>
                </a:solidFill>
                <a:ea typeface="+mn-lt"/>
                <a:cs typeface="+mn-lt"/>
              </a:rPr>
              <a:t>sinh</a:t>
            </a:r>
            <a:r>
              <a:rPr lang="en-US">
                <a:solidFill>
                  <a:srgbClr val="373A3C"/>
                </a:solidFill>
                <a:ea typeface="+mn-lt"/>
                <a:cs typeface="+mn-lt"/>
              </a:rPr>
              <a:t> </a:t>
            </a:r>
            <a:r>
              <a:rPr lang="en-US" err="1">
                <a:solidFill>
                  <a:srgbClr val="373A3C"/>
                </a:solidFill>
                <a:ea typeface="+mn-lt"/>
                <a:cs typeface="+mn-lt"/>
              </a:rPr>
              <a:t>văn</a:t>
            </a:r>
            <a:r>
              <a:rPr lang="en-US">
                <a:solidFill>
                  <a:srgbClr val="373A3C"/>
                </a:solidFill>
                <a:ea typeface="+mn-lt"/>
                <a:cs typeface="+mn-lt"/>
              </a:rPr>
              <a:t> </a:t>
            </a:r>
            <a:r>
              <a:rPr lang="en-US" err="1">
                <a:solidFill>
                  <a:srgbClr val="373A3C"/>
                </a:solidFill>
                <a:ea typeface="+mn-lt"/>
                <a:cs typeface="+mn-lt"/>
              </a:rPr>
              <a:t>bản</a:t>
            </a:r>
            <a:r>
              <a:rPr lang="en-US">
                <a:solidFill>
                  <a:srgbClr val="373A3C"/>
                </a:solidFill>
                <a:ea typeface="+mn-lt"/>
                <a:cs typeface="+mn-lt"/>
              </a:rPr>
              <a:t> (Text Generation) </a:t>
            </a:r>
            <a:r>
              <a:rPr lang="en-US" err="1">
                <a:solidFill>
                  <a:srgbClr val="373A3C"/>
                </a:solidFill>
                <a:ea typeface="+mn-lt"/>
                <a:cs typeface="+mn-lt"/>
              </a:rPr>
              <a:t>với</a:t>
            </a:r>
            <a:r>
              <a:rPr lang="en-US">
                <a:solidFill>
                  <a:srgbClr val="373A3C"/>
                </a:solidFill>
                <a:ea typeface="+mn-lt"/>
                <a:cs typeface="+mn-lt"/>
              </a:rPr>
              <a:t> </a:t>
            </a:r>
            <a:r>
              <a:rPr lang="en-US" err="1">
                <a:solidFill>
                  <a:srgbClr val="373A3C"/>
                </a:solidFill>
                <a:ea typeface="+mn-lt"/>
                <a:cs typeface="+mn-lt"/>
              </a:rPr>
              <a:t>định</a:t>
            </a:r>
            <a:r>
              <a:rPr lang="en-US">
                <a:solidFill>
                  <a:srgbClr val="373A3C"/>
                </a:solidFill>
                <a:ea typeface="+mn-lt"/>
                <a:cs typeface="+mn-lt"/>
              </a:rPr>
              <a:t> </a:t>
            </a:r>
            <a:r>
              <a:rPr lang="en-US" err="1">
                <a:solidFill>
                  <a:srgbClr val="373A3C"/>
                </a:solidFill>
                <a:ea typeface="+mn-lt"/>
                <a:cs typeface="+mn-lt"/>
              </a:rPr>
              <a:t>dạng</a:t>
            </a:r>
            <a:r>
              <a:rPr lang="en-US">
                <a:solidFill>
                  <a:srgbClr val="373A3C"/>
                </a:solidFill>
                <a:ea typeface="+mn-lt"/>
                <a:cs typeface="+mn-lt"/>
              </a:rPr>
              <a:t> Prompt </a:t>
            </a:r>
            <a:r>
              <a:rPr lang="en-US" err="1">
                <a:solidFill>
                  <a:srgbClr val="373A3C"/>
                </a:solidFill>
                <a:ea typeface="+mn-lt"/>
                <a:cs typeface="+mn-lt"/>
              </a:rPr>
              <a:t>duy</a:t>
            </a:r>
            <a:r>
              <a:rPr lang="en-US">
                <a:solidFill>
                  <a:srgbClr val="373A3C"/>
                </a:solidFill>
                <a:ea typeface="+mn-lt"/>
                <a:cs typeface="+mn-lt"/>
              </a:rPr>
              <a:t> </a:t>
            </a:r>
            <a:r>
              <a:rPr lang="en-US" err="1">
                <a:solidFill>
                  <a:srgbClr val="373A3C"/>
                </a:solidFill>
                <a:ea typeface="+mn-lt"/>
                <a:cs typeface="+mn-lt"/>
              </a:rPr>
              <a:t>nhất</a:t>
            </a:r>
            <a:r>
              <a:rPr lang="en-US">
                <a:solidFill>
                  <a:srgbClr val="373A3C"/>
                </a:solidFill>
                <a:ea typeface="+mn-lt"/>
                <a:cs typeface="+mn-lt"/>
              </a:rPr>
              <a:t>:</a:t>
            </a:r>
            <a:endParaRPr lang="en-US"/>
          </a:p>
          <a:p>
            <a:pPr lvl="1">
              <a:buFont typeface="Courier New"/>
              <a:buChar char="o"/>
            </a:pPr>
            <a:r>
              <a:rPr lang="en-US">
                <a:solidFill>
                  <a:srgbClr val="373A3C"/>
                </a:solidFill>
                <a:latin typeface="Consolas"/>
                <a:ea typeface="+mn-lt"/>
                <a:cs typeface="+mn-lt"/>
              </a:rPr>
              <a:t>Title: &lt;</a:t>
            </a:r>
            <a:r>
              <a:rPr lang="en-US" err="1">
                <a:solidFill>
                  <a:srgbClr val="373A3C"/>
                </a:solidFill>
                <a:latin typeface="Consolas"/>
                <a:ea typeface="+mn-lt"/>
                <a:cs typeface="+mn-lt"/>
              </a:rPr>
              <a:t>Tiêu</a:t>
            </a:r>
            <a:r>
              <a:rPr lang="en-US">
                <a:solidFill>
                  <a:srgbClr val="373A3C"/>
                </a:solidFill>
                <a:latin typeface="Consolas"/>
                <a:ea typeface="+mn-lt"/>
                <a:cs typeface="+mn-lt"/>
              </a:rPr>
              <a:t> </a:t>
            </a:r>
            <a:r>
              <a:rPr lang="en-US" err="1">
                <a:solidFill>
                  <a:srgbClr val="373A3C"/>
                </a:solidFill>
                <a:latin typeface="Consolas"/>
                <a:ea typeface="+mn-lt"/>
                <a:cs typeface="+mn-lt"/>
              </a:rPr>
              <a:t>đề</a:t>
            </a:r>
            <a:r>
              <a:rPr lang="en-US">
                <a:solidFill>
                  <a:srgbClr val="373A3C"/>
                </a:solidFill>
                <a:latin typeface="Consolas"/>
                <a:ea typeface="+mn-lt"/>
                <a:cs typeface="+mn-lt"/>
              </a:rPr>
              <a:t>&gt;</a:t>
            </a:r>
            <a:endParaRPr lang="en-US">
              <a:ea typeface="Calibri"/>
              <a:cs typeface="Calibri"/>
            </a:endParaRPr>
          </a:p>
          <a:p>
            <a:pPr lvl="1">
              <a:buFont typeface="Courier New"/>
              <a:buChar char="o"/>
            </a:pPr>
            <a:r>
              <a:rPr lang="en-US">
                <a:solidFill>
                  <a:srgbClr val="373A3C"/>
                </a:solidFill>
                <a:latin typeface="Consolas"/>
                <a:ea typeface="+mn-lt"/>
                <a:cs typeface="+mn-lt"/>
              </a:rPr>
              <a:t>Context: &lt;</a:t>
            </a:r>
            <a:r>
              <a:rPr lang="en-US" err="1">
                <a:solidFill>
                  <a:srgbClr val="373A3C"/>
                </a:solidFill>
                <a:latin typeface="Consolas"/>
                <a:ea typeface="+mn-lt"/>
                <a:cs typeface="+mn-lt"/>
              </a:rPr>
              <a:t>Nội</a:t>
            </a:r>
            <a:r>
              <a:rPr lang="en-US">
                <a:solidFill>
                  <a:srgbClr val="373A3C"/>
                </a:solidFill>
                <a:latin typeface="Consolas"/>
                <a:ea typeface="+mn-lt"/>
                <a:cs typeface="+mn-lt"/>
              </a:rPr>
              <a:t> dung </a:t>
            </a:r>
            <a:r>
              <a:rPr lang="en-US" err="1">
                <a:solidFill>
                  <a:srgbClr val="373A3C"/>
                </a:solidFill>
                <a:latin typeface="Consolas"/>
                <a:ea typeface="+mn-lt"/>
                <a:cs typeface="+mn-lt"/>
              </a:rPr>
              <a:t>đoạn</a:t>
            </a:r>
            <a:r>
              <a:rPr lang="en-US">
                <a:solidFill>
                  <a:srgbClr val="373A3C"/>
                </a:solidFill>
                <a:latin typeface="Consolas"/>
                <a:ea typeface="+mn-lt"/>
                <a:cs typeface="+mn-lt"/>
              </a:rPr>
              <a:t> </a:t>
            </a:r>
            <a:r>
              <a:rPr lang="en-US" err="1">
                <a:solidFill>
                  <a:srgbClr val="373A3C"/>
                </a:solidFill>
                <a:latin typeface="Consolas"/>
                <a:ea typeface="+mn-lt"/>
                <a:cs typeface="+mn-lt"/>
              </a:rPr>
              <a:t>văn</a:t>
            </a:r>
            <a:r>
              <a:rPr lang="en-US">
                <a:solidFill>
                  <a:srgbClr val="373A3C"/>
                </a:solidFill>
                <a:latin typeface="Consolas"/>
                <a:ea typeface="+mn-lt"/>
                <a:cs typeface="+mn-lt"/>
              </a:rPr>
              <a:t>&gt;</a:t>
            </a:r>
            <a:endParaRPr lang="en-US">
              <a:ea typeface="Calibri"/>
              <a:cs typeface="Calibri"/>
            </a:endParaRPr>
          </a:p>
          <a:p>
            <a:pPr lvl="1">
              <a:buFont typeface="Courier New"/>
              <a:buChar char="o"/>
            </a:pPr>
            <a:r>
              <a:rPr lang="en-US">
                <a:solidFill>
                  <a:srgbClr val="373A3C"/>
                </a:solidFill>
                <a:latin typeface="Consolas"/>
                <a:ea typeface="+mn-lt"/>
                <a:cs typeface="+mn-lt"/>
              </a:rPr>
              <a:t>Question: &lt;</a:t>
            </a:r>
            <a:r>
              <a:rPr lang="en-US" err="1">
                <a:solidFill>
                  <a:srgbClr val="373A3C"/>
                </a:solidFill>
                <a:latin typeface="Consolas"/>
                <a:ea typeface="+mn-lt"/>
                <a:cs typeface="+mn-lt"/>
              </a:rPr>
              <a:t>Câu</a:t>
            </a:r>
            <a:r>
              <a:rPr lang="en-US">
                <a:solidFill>
                  <a:srgbClr val="373A3C"/>
                </a:solidFill>
                <a:latin typeface="Consolas"/>
                <a:ea typeface="+mn-lt"/>
                <a:cs typeface="+mn-lt"/>
              </a:rPr>
              <a:t> </a:t>
            </a:r>
            <a:r>
              <a:rPr lang="en-US" err="1">
                <a:solidFill>
                  <a:srgbClr val="373A3C"/>
                </a:solidFill>
                <a:latin typeface="Consolas"/>
                <a:ea typeface="+mn-lt"/>
                <a:cs typeface="+mn-lt"/>
              </a:rPr>
              <a:t>hỏi</a:t>
            </a:r>
            <a:r>
              <a:rPr lang="en-US">
                <a:solidFill>
                  <a:srgbClr val="373A3C"/>
                </a:solidFill>
                <a:latin typeface="Consolas"/>
                <a:ea typeface="+mn-lt"/>
                <a:cs typeface="+mn-lt"/>
              </a:rPr>
              <a:t>&gt;</a:t>
            </a:r>
            <a:endParaRPr lang="en-US">
              <a:ea typeface="Calibri"/>
              <a:cs typeface="Calibri"/>
            </a:endParaRPr>
          </a:p>
          <a:p>
            <a:pPr lvl="1">
              <a:buFont typeface="Courier New"/>
              <a:buChar char="o"/>
            </a:pPr>
            <a:r>
              <a:rPr lang="en-US">
                <a:solidFill>
                  <a:srgbClr val="373A3C"/>
                </a:solidFill>
                <a:latin typeface="Consolas"/>
                <a:ea typeface="+mn-lt"/>
                <a:cs typeface="+mn-lt"/>
              </a:rPr>
              <a:t>Answer: &lt;</a:t>
            </a:r>
            <a:r>
              <a:rPr lang="en-US" err="1">
                <a:solidFill>
                  <a:srgbClr val="373A3C"/>
                </a:solidFill>
                <a:latin typeface="Consolas"/>
                <a:ea typeface="+mn-lt"/>
                <a:cs typeface="+mn-lt"/>
              </a:rPr>
              <a:t>Mô</a:t>
            </a:r>
            <a:r>
              <a:rPr lang="en-US">
                <a:solidFill>
                  <a:srgbClr val="373A3C"/>
                </a:solidFill>
                <a:latin typeface="Consolas"/>
                <a:ea typeface="+mn-lt"/>
                <a:cs typeface="+mn-lt"/>
              </a:rPr>
              <a:t> </a:t>
            </a:r>
            <a:r>
              <a:rPr lang="en-US" err="1">
                <a:solidFill>
                  <a:srgbClr val="373A3C"/>
                </a:solidFill>
                <a:latin typeface="Consolas"/>
                <a:ea typeface="+mn-lt"/>
                <a:cs typeface="+mn-lt"/>
              </a:rPr>
              <a:t>hình</a:t>
            </a:r>
            <a:r>
              <a:rPr lang="en-US">
                <a:solidFill>
                  <a:srgbClr val="373A3C"/>
                </a:solidFill>
                <a:latin typeface="Consolas"/>
                <a:ea typeface="+mn-lt"/>
                <a:cs typeface="+mn-lt"/>
              </a:rPr>
              <a:t> </a:t>
            </a:r>
            <a:r>
              <a:rPr lang="en-US" err="1">
                <a:solidFill>
                  <a:srgbClr val="373A3C"/>
                </a:solidFill>
                <a:latin typeface="Consolas"/>
                <a:ea typeface="+mn-lt"/>
                <a:cs typeface="+mn-lt"/>
              </a:rPr>
              <a:t>cần</a:t>
            </a:r>
            <a:r>
              <a:rPr lang="en-US">
                <a:solidFill>
                  <a:srgbClr val="373A3C"/>
                </a:solidFill>
                <a:latin typeface="Consolas"/>
                <a:ea typeface="+mn-lt"/>
                <a:cs typeface="+mn-lt"/>
              </a:rPr>
              <a:t> </a:t>
            </a:r>
            <a:r>
              <a:rPr lang="en-US" err="1">
                <a:solidFill>
                  <a:srgbClr val="373A3C"/>
                </a:solidFill>
                <a:latin typeface="Consolas"/>
                <a:ea typeface="+mn-lt"/>
                <a:cs typeface="+mn-lt"/>
              </a:rPr>
              <a:t>dự</a:t>
            </a:r>
            <a:r>
              <a:rPr lang="en-US">
                <a:solidFill>
                  <a:srgbClr val="373A3C"/>
                </a:solidFill>
                <a:latin typeface="Consolas"/>
                <a:ea typeface="+mn-lt"/>
                <a:cs typeface="+mn-lt"/>
              </a:rPr>
              <a:t> </a:t>
            </a:r>
            <a:r>
              <a:rPr lang="en-US" err="1">
                <a:solidFill>
                  <a:srgbClr val="373A3C"/>
                </a:solidFill>
                <a:latin typeface="Consolas"/>
                <a:ea typeface="+mn-lt"/>
                <a:cs typeface="+mn-lt"/>
              </a:rPr>
              <a:t>đoán</a:t>
            </a:r>
            <a:r>
              <a:rPr lang="en-US">
                <a:solidFill>
                  <a:srgbClr val="373A3C"/>
                </a:solidFill>
                <a:latin typeface="Consolas"/>
                <a:ea typeface="+mn-lt"/>
                <a:cs typeface="+mn-lt"/>
              </a:rPr>
              <a:t> </a:t>
            </a:r>
            <a:r>
              <a:rPr lang="en-US" err="1">
                <a:solidFill>
                  <a:srgbClr val="373A3C"/>
                </a:solidFill>
                <a:latin typeface="Consolas"/>
                <a:ea typeface="+mn-lt"/>
                <a:cs typeface="+mn-lt"/>
              </a:rPr>
              <a:t>phần</a:t>
            </a:r>
            <a:r>
              <a:rPr lang="en-US">
                <a:solidFill>
                  <a:srgbClr val="373A3C"/>
                </a:solidFill>
                <a:latin typeface="Consolas"/>
                <a:ea typeface="+mn-lt"/>
                <a:cs typeface="+mn-lt"/>
              </a:rPr>
              <a:t> </a:t>
            </a:r>
            <a:r>
              <a:rPr lang="en-US" err="1">
                <a:solidFill>
                  <a:srgbClr val="373A3C"/>
                </a:solidFill>
                <a:latin typeface="Consolas"/>
                <a:ea typeface="+mn-lt"/>
                <a:cs typeface="+mn-lt"/>
              </a:rPr>
              <a:t>này</a:t>
            </a:r>
            <a:r>
              <a:rPr lang="en-US">
                <a:solidFill>
                  <a:srgbClr val="373A3C"/>
                </a:solidFill>
                <a:latin typeface="Consolas"/>
                <a:ea typeface="+mn-lt"/>
                <a:cs typeface="+mn-lt"/>
              </a:rPr>
              <a:t>&gt;</a:t>
            </a:r>
            <a:endParaRPr lang="en-US">
              <a:ea typeface="Calibri"/>
              <a:cs typeface="Calibri"/>
            </a:endParaRPr>
          </a:p>
          <a:p>
            <a:pPr>
              <a:buFont typeface="Arial"/>
              <a:buChar char="•"/>
            </a:pPr>
            <a:endParaRPr lang="en-US">
              <a:solidFill>
                <a:srgbClr val="373A3C"/>
              </a:solidFill>
              <a:latin typeface="Times New Roman"/>
              <a:ea typeface="Calibri"/>
              <a:cs typeface="Calibri"/>
            </a:endParaRPr>
          </a:p>
          <a:p>
            <a:pPr marL="0" indent="0">
              <a:buNone/>
            </a:pPr>
            <a:endParaRPr lang="en-US">
              <a:solidFill>
                <a:srgbClr val="373A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133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FA1D8-2CD0-E09E-E979-F006236BEE8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8A447C6D-98C5-5E43-B856-B2248B60A638}"/>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C350F247-414F-518A-3011-949948CA2451}"/>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ED934AE6-D6A4-F6DE-CB9E-805412511393}"/>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06ED65ED-8F53-26BE-9DD0-2A277F21EB4C}"/>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791E79A0-1B69-0AFB-C764-F20691A3AEDC}"/>
              </a:ext>
            </a:extLst>
          </p:cNvPr>
          <p:cNvSpPr>
            <a:spLocks noGrp="1"/>
          </p:cNvSpPr>
          <p:nvPr>
            <p:ph type="title"/>
          </p:nvPr>
        </p:nvSpPr>
        <p:spPr>
          <a:xfrm>
            <a:off x="-2415" y="10956"/>
            <a:ext cx="7886700" cy="1325563"/>
          </a:xfrm>
        </p:spPr>
        <p:txBody>
          <a:bodyPr/>
          <a:lstStyle/>
          <a:p>
            <a:r>
              <a:rPr lang="vi-VN">
                <a:latin typeface="Times New Roman"/>
                <a:cs typeface="Times New Roman"/>
              </a:rPr>
              <a:t>Dữ liệu</a:t>
            </a:r>
          </a:p>
        </p:txBody>
      </p:sp>
      <p:sp>
        <p:nvSpPr>
          <p:cNvPr id="9" name="Content Placeholder 2">
            <a:extLst>
              <a:ext uri="{FF2B5EF4-FFF2-40B4-BE49-F238E27FC236}">
                <a16:creationId xmlns:a16="http://schemas.microsoft.com/office/drawing/2014/main" id="{92126916-90F7-86F1-D760-4D450B533E9E}"/>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200" b="1" err="1">
                <a:solidFill>
                  <a:srgbClr val="373A3C"/>
                </a:solidFill>
                <a:ea typeface="+mn-lt"/>
                <a:cs typeface="+mn-lt"/>
              </a:rPr>
              <a:t>Nguồn</a:t>
            </a:r>
            <a:r>
              <a:rPr lang="en-US" sz="2200" b="1">
                <a:solidFill>
                  <a:srgbClr val="373A3C"/>
                </a:solidFill>
                <a:ea typeface="+mn-lt"/>
                <a:cs typeface="+mn-lt"/>
              </a:rPr>
              <a:t> </a:t>
            </a:r>
            <a:r>
              <a:rPr lang="en-US" sz="2200" b="1" err="1">
                <a:solidFill>
                  <a:srgbClr val="373A3C"/>
                </a:solidFill>
                <a:ea typeface="+mn-lt"/>
                <a:cs typeface="+mn-lt"/>
              </a:rPr>
              <a:t>dữ</a:t>
            </a:r>
            <a:r>
              <a:rPr lang="en-US" sz="2200" b="1">
                <a:solidFill>
                  <a:srgbClr val="373A3C"/>
                </a:solidFill>
                <a:ea typeface="+mn-lt"/>
                <a:cs typeface="+mn-lt"/>
              </a:rPr>
              <a:t> </a:t>
            </a:r>
            <a:r>
              <a:rPr lang="en-US" sz="2200" b="1" err="1">
                <a:solidFill>
                  <a:srgbClr val="373A3C"/>
                </a:solidFill>
                <a:ea typeface="+mn-lt"/>
                <a:cs typeface="+mn-lt"/>
              </a:rPr>
              <a:t>liệu</a:t>
            </a:r>
            <a:r>
              <a:rPr lang="en-US" sz="2200" b="1">
                <a:solidFill>
                  <a:srgbClr val="373A3C"/>
                </a:solidFill>
                <a:ea typeface="+mn-lt"/>
                <a:cs typeface="+mn-lt"/>
              </a:rPr>
              <a:t> </a:t>
            </a:r>
            <a:r>
              <a:rPr lang="en-US" sz="2200" b="1" err="1">
                <a:solidFill>
                  <a:srgbClr val="373A3C"/>
                </a:solidFill>
                <a:ea typeface="+mn-lt"/>
                <a:cs typeface="+mn-lt"/>
              </a:rPr>
              <a:t>gốc</a:t>
            </a:r>
            <a:r>
              <a:rPr lang="en-US" sz="2200" b="1">
                <a:solidFill>
                  <a:srgbClr val="373A3C"/>
                </a:solidFill>
                <a:ea typeface="+mn-lt"/>
                <a:cs typeface="+mn-lt"/>
              </a:rPr>
              <a:t> (Original Dataset):</a:t>
            </a:r>
            <a:endParaRPr lang="vi-VN" sz="2200">
              <a:solidFill>
                <a:srgbClr val="000000"/>
              </a:solidFill>
              <a:latin typeface="Times New Roman"/>
              <a:ea typeface="+mn-lt"/>
              <a:cs typeface="Times New Roman"/>
            </a:endParaRPr>
          </a:p>
          <a:p>
            <a:pPr>
              <a:buFont typeface="Arial"/>
              <a:buChar char="•"/>
            </a:pPr>
            <a:r>
              <a:rPr lang="en-US" sz="2200" b="1" err="1">
                <a:solidFill>
                  <a:srgbClr val="373A3C"/>
                </a:solidFill>
                <a:ea typeface="+mn-lt"/>
                <a:cs typeface="+mn-lt"/>
              </a:rPr>
              <a:t>Bộ</a:t>
            </a:r>
            <a:r>
              <a:rPr lang="en-US" sz="2200" b="1">
                <a:solidFill>
                  <a:srgbClr val="373A3C"/>
                </a:solidFill>
                <a:ea typeface="+mn-lt"/>
                <a:cs typeface="+mn-lt"/>
              </a:rPr>
              <a:t> </a:t>
            </a:r>
            <a:r>
              <a:rPr lang="en-US" sz="2200" b="1" err="1">
                <a:solidFill>
                  <a:srgbClr val="373A3C"/>
                </a:solidFill>
                <a:ea typeface="+mn-lt"/>
                <a:cs typeface="+mn-lt"/>
              </a:rPr>
              <a:t>dữ</a:t>
            </a:r>
            <a:r>
              <a:rPr lang="en-US" sz="2200" b="1">
                <a:solidFill>
                  <a:srgbClr val="373A3C"/>
                </a:solidFill>
                <a:ea typeface="+mn-lt"/>
                <a:cs typeface="+mn-lt"/>
              </a:rPr>
              <a:t> </a:t>
            </a:r>
            <a:r>
              <a:rPr lang="en-US" sz="2200" b="1" err="1">
                <a:solidFill>
                  <a:srgbClr val="373A3C"/>
                </a:solidFill>
                <a:ea typeface="+mn-lt"/>
                <a:cs typeface="+mn-lt"/>
              </a:rPr>
              <a:t>liệu</a:t>
            </a:r>
            <a:r>
              <a:rPr lang="en-US" sz="2200" b="1">
                <a:solidFill>
                  <a:srgbClr val="373A3C"/>
                </a:solidFill>
                <a:ea typeface="+mn-lt"/>
                <a:cs typeface="+mn-lt"/>
              </a:rPr>
              <a:t>:</a:t>
            </a:r>
            <a:r>
              <a:rPr lang="en-US" sz="2200">
                <a:solidFill>
                  <a:srgbClr val="373A3C"/>
                </a:solidFill>
                <a:ea typeface="+mn-lt"/>
                <a:cs typeface="+mn-lt"/>
              </a:rPr>
              <a:t> </a:t>
            </a:r>
            <a:r>
              <a:rPr lang="en-US" sz="2200">
                <a:solidFill>
                  <a:srgbClr val="373A3C"/>
                </a:solidFill>
                <a:latin typeface="Consolas"/>
                <a:ea typeface="+mn-lt"/>
                <a:cs typeface="+mn-lt"/>
              </a:rPr>
              <a:t>UIT-ViQuAD2.0</a:t>
            </a:r>
            <a:r>
              <a:rPr lang="en-US" sz="2200">
                <a:solidFill>
                  <a:srgbClr val="373A3C"/>
                </a:solidFill>
                <a:ea typeface="+mn-lt"/>
                <a:cs typeface="+mn-lt"/>
              </a:rPr>
              <a:t> (Vietnamese Question Answering Dataset).</a:t>
            </a:r>
            <a:endParaRPr lang="en-US" sz="2200">
              <a:ea typeface="+mn-lt"/>
              <a:cs typeface="+mn-lt"/>
            </a:endParaRPr>
          </a:p>
          <a:p>
            <a:pPr>
              <a:buFont typeface="Arial"/>
              <a:buChar char="•"/>
            </a:pPr>
            <a:r>
              <a:rPr lang="en-US" sz="2200" b="1" err="1">
                <a:solidFill>
                  <a:srgbClr val="373A3C"/>
                </a:solidFill>
                <a:ea typeface="+mn-lt"/>
                <a:cs typeface="+mn-lt"/>
              </a:rPr>
              <a:t>Đặc</a:t>
            </a:r>
            <a:r>
              <a:rPr lang="en-US" sz="2200" b="1">
                <a:solidFill>
                  <a:srgbClr val="373A3C"/>
                </a:solidFill>
                <a:ea typeface="+mn-lt"/>
                <a:cs typeface="+mn-lt"/>
              </a:rPr>
              <a:t> </a:t>
            </a:r>
            <a:r>
              <a:rPr lang="en-US" sz="2200" b="1" err="1">
                <a:solidFill>
                  <a:srgbClr val="373A3C"/>
                </a:solidFill>
                <a:ea typeface="+mn-lt"/>
                <a:cs typeface="+mn-lt"/>
              </a:rPr>
              <a:t>điểm</a:t>
            </a:r>
            <a:r>
              <a:rPr lang="en-US" sz="2200" b="1">
                <a:solidFill>
                  <a:srgbClr val="373A3C"/>
                </a:solidFill>
                <a:ea typeface="+mn-lt"/>
                <a:cs typeface="+mn-lt"/>
              </a:rPr>
              <a:t>:</a:t>
            </a:r>
            <a:r>
              <a:rPr lang="en-US" sz="2200">
                <a:solidFill>
                  <a:srgbClr val="373A3C"/>
                </a:solidFill>
                <a:ea typeface="+mn-lt"/>
                <a:cs typeface="+mn-lt"/>
              </a:rPr>
              <a:t> </a:t>
            </a:r>
            <a:r>
              <a:rPr lang="en-US" sz="2200" err="1">
                <a:solidFill>
                  <a:srgbClr val="373A3C"/>
                </a:solidFill>
                <a:ea typeface="+mn-lt"/>
                <a:cs typeface="+mn-lt"/>
              </a:rPr>
              <a:t>Gồm</a:t>
            </a:r>
            <a:r>
              <a:rPr lang="en-US" sz="2200">
                <a:solidFill>
                  <a:srgbClr val="373A3C"/>
                </a:solidFill>
                <a:ea typeface="+mn-lt"/>
                <a:cs typeface="+mn-lt"/>
              </a:rPr>
              <a:t> </a:t>
            </a:r>
            <a:r>
              <a:rPr lang="en-US" sz="2200" err="1">
                <a:solidFill>
                  <a:srgbClr val="373A3C"/>
                </a:solidFill>
                <a:ea typeface="+mn-lt"/>
                <a:cs typeface="+mn-lt"/>
              </a:rPr>
              <a:t>các</a:t>
            </a:r>
            <a:r>
              <a:rPr lang="en-US" sz="2200">
                <a:solidFill>
                  <a:srgbClr val="373A3C"/>
                </a:solidFill>
                <a:ea typeface="+mn-lt"/>
                <a:cs typeface="+mn-lt"/>
              </a:rPr>
              <a:t> </a:t>
            </a:r>
            <a:r>
              <a:rPr lang="en-US" sz="2200" err="1">
                <a:solidFill>
                  <a:srgbClr val="373A3C"/>
                </a:solidFill>
                <a:ea typeface="+mn-lt"/>
                <a:cs typeface="+mn-lt"/>
              </a:rPr>
              <a:t>cặp</a:t>
            </a:r>
            <a:r>
              <a:rPr lang="en-US" sz="2200">
                <a:solidFill>
                  <a:srgbClr val="373A3C"/>
                </a:solidFill>
                <a:ea typeface="+mn-lt"/>
                <a:cs typeface="+mn-lt"/>
              </a:rPr>
              <a:t> </a:t>
            </a:r>
            <a:r>
              <a:rPr lang="en-US" sz="2200" err="1">
                <a:solidFill>
                  <a:srgbClr val="373A3C"/>
                </a:solidFill>
                <a:ea typeface="+mn-lt"/>
                <a:cs typeface="+mn-lt"/>
              </a:rPr>
              <a:t>đoạn</a:t>
            </a:r>
            <a:r>
              <a:rPr lang="en-US" sz="2200">
                <a:solidFill>
                  <a:srgbClr val="373A3C"/>
                </a:solidFill>
                <a:ea typeface="+mn-lt"/>
                <a:cs typeface="+mn-lt"/>
              </a:rPr>
              <a:t> </a:t>
            </a:r>
            <a:r>
              <a:rPr lang="en-US" sz="2200" err="1">
                <a:solidFill>
                  <a:srgbClr val="373A3C"/>
                </a:solidFill>
                <a:ea typeface="+mn-lt"/>
                <a:cs typeface="+mn-lt"/>
              </a:rPr>
              <a:t>văn</a:t>
            </a:r>
            <a:r>
              <a:rPr lang="en-US" sz="2200">
                <a:solidFill>
                  <a:srgbClr val="373A3C"/>
                </a:solidFill>
                <a:ea typeface="+mn-lt"/>
                <a:cs typeface="+mn-lt"/>
              </a:rPr>
              <a:t> (Context), </a:t>
            </a:r>
            <a:r>
              <a:rPr lang="en-US" sz="2200" err="1">
                <a:solidFill>
                  <a:srgbClr val="373A3C"/>
                </a:solidFill>
                <a:ea typeface="+mn-lt"/>
                <a:cs typeface="+mn-lt"/>
              </a:rPr>
              <a:t>câu</a:t>
            </a:r>
            <a:r>
              <a:rPr lang="en-US" sz="2200">
                <a:solidFill>
                  <a:srgbClr val="373A3C"/>
                </a:solidFill>
                <a:ea typeface="+mn-lt"/>
                <a:cs typeface="+mn-lt"/>
              </a:rPr>
              <a:t> </a:t>
            </a:r>
            <a:r>
              <a:rPr lang="en-US" sz="2200" err="1">
                <a:solidFill>
                  <a:srgbClr val="373A3C"/>
                </a:solidFill>
                <a:ea typeface="+mn-lt"/>
                <a:cs typeface="+mn-lt"/>
              </a:rPr>
              <a:t>hỏi</a:t>
            </a:r>
            <a:r>
              <a:rPr lang="en-US" sz="2200">
                <a:solidFill>
                  <a:srgbClr val="373A3C"/>
                </a:solidFill>
                <a:ea typeface="+mn-lt"/>
                <a:cs typeface="+mn-lt"/>
              </a:rPr>
              <a:t> (Question) </a:t>
            </a:r>
            <a:r>
              <a:rPr lang="en-US" sz="2200" err="1">
                <a:solidFill>
                  <a:srgbClr val="373A3C"/>
                </a:solidFill>
                <a:ea typeface="+mn-lt"/>
                <a:cs typeface="+mn-lt"/>
              </a:rPr>
              <a:t>và</a:t>
            </a:r>
            <a:r>
              <a:rPr lang="en-US" sz="2200">
                <a:solidFill>
                  <a:srgbClr val="373A3C"/>
                </a:solidFill>
                <a:ea typeface="+mn-lt"/>
                <a:cs typeface="+mn-lt"/>
              </a:rPr>
              <a:t> </a:t>
            </a:r>
            <a:r>
              <a:rPr lang="en-US" sz="2200" err="1">
                <a:solidFill>
                  <a:srgbClr val="373A3C"/>
                </a:solidFill>
                <a:ea typeface="+mn-lt"/>
                <a:cs typeface="+mn-lt"/>
              </a:rPr>
              <a:t>câu</a:t>
            </a:r>
            <a:r>
              <a:rPr lang="en-US" sz="2200">
                <a:solidFill>
                  <a:srgbClr val="373A3C"/>
                </a:solidFill>
                <a:ea typeface="+mn-lt"/>
                <a:cs typeface="+mn-lt"/>
              </a:rPr>
              <a:t> </a:t>
            </a:r>
            <a:r>
              <a:rPr lang="en-US" sz="2200" err="1">
                <a:solidFill>
                  <a:srgbClr val="373A3C"/>
                </a:solidFill>
                <a:ea typeface="+mn-lt"/>
                <a:cs typeface="+mn-lt"/>
              </a:rPr>
              <a:t>trả</a:t>
            </a:r>
            <a:r>
              <a:rPr lang="en-US" sz="2200">
                <a:solidFill>
                  <a:srgbClr val="373A3C"/>
                </a:solidFill>
                <a:ea typeface="+mn-lt"/>
                <a:cs typeface="+mn-lt"/>
              </a:rPr>
              <a:t> </a:t>
            </a:r>
            <a:r>
              <a:rPr lang="en-US" sz="2200" err="1">
                <a:solidFill>
                  <a:srgbClr val="373A3C"/>
                </a:solidFill>
                <a:ea typeface="+mn-lt"/>
                <a:cs typeface="+mn-lt"/>
              </a:rPr>
              <a:t>lời</a:t>
            </a:r>
            <a:r>
              <a:rPr lang="en-US" sz="2200">
                <a:solidFill>
                  <a:srgbClr val="373A3C"/>
                </a:solidFill>
                <a:ea typeface="+mn-lt"/>
                <a:cs typeface="+mn-lt"/>
              </a:rPr>
              <a:t> (Answer) </a:t>
            </a:r>
            <a:r>
              <a:rPr lang="en-US" sz="2200" err="1">
                <a:solidFill>
                  <a:srgbClr val="373A3C"/>
                </a:solidFill>
                <a:ea typeface="+mn-lt"/>
                <a:cs typeface="+mn-lt"/>
              </a:rPr>
              <a:t>thuộc</a:t>
            </a:r>
            <a:r>
              <a:rPr lang="en-US" sz="2200">
                <a:solidFill>
                  <a:srgbClr val="373A3C"/>
                </a:solidFill>
                <a:ea typeface="+mn-lt"/>
                <a:cs typeface="+mn-lt"/>
              </a:rPr>
              <a:t> </a:t>
            </a:r>
            <a:r>
              <a:rPr lang="en-US" sz="2200" err="1">
                <a:solidFill>
                  <a:srgbClr val="373A3C"/>
                </a:solidFill>
                <a:ea typeface="+mn-lt"/>
                <a:cs typeface="+mn-lt"/>
              </a:rPr>
              <a:t>nhiều</a:t>
            </a:r>
            <a:r>
              <a:rPr lang="en-US" sz="2200">
                <a:solidFill>
                  <a:srgbClr val="373A3C"/>
                </a:solidFill>
                <a:ea typeface="+mn-lt"/>
                <a:cs typeface="+mn-lt"/>
              </a:rPr>
              <a:t> </a:t>
            </a:r>
            <a:r>
              <a:rPr lang="en-US" sz="2200" err="1">
                <a:solidFill>
                  <a:srgbClr val="373A3C"/>
                </a:solidFill>
                <a:ea typeface="+mn-lt"/>
                <a:cs typeface="+mn-lt"/>
              </a:rPr>
              <a:t>lĩnh</a:t>
            </a:r>
            <a:r>
              <a:rPr lang="en-US" sz="2200">
                <a:solidFill>
                  <a:srgbClr val="373A3C"/>
                </a:solidFill>
                <a:ea typeface="+mn-lt"/>
                <a:cs typeface="+mn-lt"/>
              </a:rPr>
              <a:t> </a:t>
            </a:r>
            <a:r>
              <a:rPr lang="en-US" sz="2200" err="1">
                <a:solidFill>
                  <a:srgbClr val="373A3C"/>
                </a:solidFill>
                <a:ea typeface="+mn-lt"/>
                <a:cs typeface="+mn-lt"/>
              </a:rPr>
              <a:t>vực</a:t>
            </a:r>
            <a:r>
              <a:rPr lang="en-US" sz="2200">
                <a:solidFill>
                  <a:srgbClr val="373A3C"/>
                </a:solidFill>
                <a:ea typeface="+mn-lt"/>
                <a:cs typeface="+mn-lt"/>
              </a:rPr>
              <a:t> </a:t>
            </a:r>
            <a:r>
              <a:rPr lang="en-US" sz="2200" err="1">
                <a:solidFill>
                  <a:srgbClr val="373A3C"/>
                </a:solidFill>
                <a:ea typeface="+mn-lt"/>
                <a:cs typeface="+mn-lt"/>
              </a:rPr>
              <a:t>khác</a:t>
            </a:r>
            <a:r>
              <a:rPr lang="en-US" sz="2200">
                <a:solidFill>
                  <a:srgbClr val="373A3C"/>
                </a:solidFill>
                <a:ea typeface="+mn-lt"/>
                <a:cs typeface="+mn-lt"/>
              </a:rPr>
              <a:t> </a:t>
            </a:r>
            <a:r>
              <a:rPr lang="en-US" sz="2200" err="1">
                <a:solidFill>
                  <a:srgbClr val="373A3C"/>
                </a:solidFill>
                <a:ea typeface="+mn-lt"/>
                <a:cs typeface="+mn-lt"/>
              </a:rPr>
              <a:t>nhau</a:t>
            </a:r>
            <a:r>
              <a:rPr lang="en-US" sz="2200">
                <a:solidFill>
                  <a:srgbClr val="373A3C"/>
                </a:solidFill>
                <a:ea typeface="+mn-lt"/>
                <a:cs typeface="+mn-lt"/>
              </a:rPr>
              <a:t>.</a:t>
            </a:r>
            <a:endParaRPr lang="vi-VN" sz="2200">
              <a:latin typeface="Arial"/>
              <a:ea typeface="+mn-lt"/>
              <a:cs typeface="Arial"/>
            </a:endParaRPr>
          </a:p>
          <a:p>
            <a:pPr>
              <a:buFont typeface="Arial"/>
              <a:buChar char="•"/>
            </a:pPr>
            <a:r>
              <a:rPr lang="en-US" sz="2200" b="1" err="1">
                <a:solidFill>
                  <a:srgbClr val="373A3C"/>
                </a:solidFill>
                <a:ea typeface="+mn-lt"/>
                <a:cs typeface="+mn-lt"/>
              </a:rPr>
              <a:t>Phân</a:t>
            </a:r>
            <a:r>
              <a:rPr lang="en-US" sz="2200" b="1">
                <a:solidFill>
                  <a:srgbClr val="373A3C"/>
                </a:solidFill>
                <a:ea typeface="+mn-lt"/>
                <a:cs typeface="+mn-lt"/>
              </a:rPr>
              <a:t> chia </a:t>
            </a:r>
            <a:r>
              <a:rPr lang="en-US" sz="2200" b="1" err="1">
                <a:solidFill>
                  <a:srgbClr val="373A3C"/>
                </a:solidFill>
                <a:ea typeface="+mn-lt"/>
                <a:cs typeface="+mn-lt"/>
              </a:rPr>
              <a:t>dữ</a:t>
            </a:r>
            <a:r>
              <a:rPr lang="en-US" sz="2200" b="1">
                <a:solidFill>
                  <a:srgbClr val="373A3C"/>
                </a:solidFill>
                <a:ea typeface="+mn-lt"/>
                <a:cs typeface="+mn-lt"/>
              </a:rPr>
              <a:t> </a:t>
            </a:r>
            <a:r>
              <a:rPr lang="en-US" sz="2200" b="1" err="1">
                <a:solidFill>
                  <a:srgbClr val="373A3C"/>
                </a:solidFill>
                <a:ea typeface="+mn-lt"/>
                <a:cs typeface="+mn-lt"/>
              </a:rPr>
              <a:t>liệu</a:t>
            </a:r>
            <a:r>
              <a:rPr lang="en-US" sz="2200" b="1">
                <a:solidFill>
                  <a:srgbClr val="373A3C"/>
                </a:solidFill>
                <a:ea typeface="+mn-lt"/>
                <a:cs typeface="+mn-lt"/>
              </a:rPr>
              <a:t> (Data Split):</a:t>
            </a:r>
            <a:r>
              <a:rPr lang="en-US" sz="2200">
                <a:solidFill>
                  <a:srgbClr val="373A3C"/>
                </a:solidFill>
                <a:ea typeface="+mn-lt"/>
                <a:cs typeface="+mn-lt"/>
              </a:rPr>
              <a:t> Chia </a:t>
            </a:r>
            <a:r>
              <a:rPr lang="en-US" sz="2200" err="1">
                <a:solidFill>
                  <a:srgbClr val="373A3C"/>
                </a:solidFill>
                <a:ea typeface="+mn-lt"/>
                <a:cs typeface="+mn-lt"/>
              </a:rPr>
              <a:t>lại</a:t>
            </a:r>
            <a:r>
              <a:rPr lang="en-US" sz="2200">
                <a:solidFill>
                  <a:srgbClr val="373A3C"/>
                </a:solidFill>
                <a:ea typeface="+mn-lt"/>
                <a:cs typeface="+mn-lt"/>
              </a:rPr>
              <a:t> </a:t>
            </a:r>
            <a:r>
              <a:rPr lang="en-US" sz="2200" err="1">
                <a:solidFill>
                  <a:srgbClr val="373A3C"/>
                </a:solidFill>
                <a:ea typeface="+mn-lt"/>
                <a:cs typeface="+mn-lt"/>
              </a:rPr>
              <a:t>theo</a:t>
            </a:r>
            <a:r>
              <a:rPr lang="en-US" sz="2200">
                <a:solidFill>
                  <a:srgbClr val="373A3C"/>
                </a:solidFill>
                <a:ea typeface="+mn-lt"/>
                <a:cs typeface="+mn-lt"/>
              </a:rPr>
              <a:t> </a:t>
            </a:r>
            <a:r>
              <a:rPr lang="en-US" sz="2200" err="1">
                <a:solidFill>
                  <a:srgbClr val="373A3C"/>
                </a:solidFill>
                <a:ea typeface="+mn-lt"/>
                <a:cs typeface="+mn-lt"/>
              </a:rPr>
              <a:t>tỉ</a:t>
            </a:r>
            <a:r>
              <a:rPr lang="en-US" sz="2200">
                <a:solidFill>
                  <a:srgbClr val="373A3C"/>
                </a:solidFill>
                <a:ea typeface="+mn-lt"/>
                <a:cs typeface="+mn-lt"/>
              </a:rPr>
              <a:t> </a:t>
            </a:r>
            <a:r>
              <a:rPr lang="en-US" sz="2200" err="1">
                <a:solidFill>
                  <a:srgbClr val="373A3C"/>
                </a:solidFill>
                <a:ea typeface="+mn-lt"/>
                <a:cs typeface="+mn-lt"/>
              </a:rPr>
              <a:t>lệ</a:t>
            </a:r>
            <a:r>
              <a:rPr lang="en-US" sz="2200">
                <a:solidFill>
                  <a:srgbClr val="373A3C"/>
                </a:solidFill>
                <a:ea typeface="+mn-lt"/>
                <a:cs typeface="+mn-lt"/>
              </a:rPr>
              <a:t> </a:t>
            </a:r>
            <a:r>
              <a:rPr lang="en-US" sz="2200" b="1">
                <a:solidFill>
                  <a:srgbClr val="373A3C"/>
                </a:solidFill>
                <a:ea typeface="+mn-lt"/>
                <a:cs typeface="+mn-lt"/>
              </a:rPr>
              <a:t>80% Train - 10% Eval - 10% Test</a:t>
            </a:r>
            <a:r>
              <a:rPr lang="en-US" sz="2200">
                <a:solidFill>
                  <a:srgbClr val="373A3C"/>
                </a:solidFill>
                <a:ea typeface="+mn-lt"/>
                <a:cs typeface="+mn-lt"/>
              </a:rPr>
              <a:t> </a:t>
            </a:r>
            <a:r>
              <a:rPr lang="en-US" sz="2200" err="1">
                <a:solidFill>
                  <a:srgbClr val="373A3C"/>
                </a:solidFill>
                <a:ea typeface="+mn-lt"/>
                <a:cs typeface="+mn-lt"/>
              </a:rPr>
              <a:t>để</a:t>
            </a:r>
            <a:r>
              <a:rPr lang="en-US" sz="2200">
                <a:solidFill>
                  <a:srgbClr val="373A3C"/>
                </a:solidFill>
                <a:ea typeface="+mn-lt"/>
                <a:cs typeface="+mn-lt"/>
              </a:rPr>
              <a:t> </a:t>
            </a:r>
            <a:r>
              <a:rPr lang="en-US" sz="2200" err="1">
                <a:solidFill>
                  <a:srgbClr val="373A3C"/>
                </a:solidFill>
                <a:ea typeface="+mn-lt"/>
                <a:cs typeface="+mn-lt"/>
              </a:rPr>
              <a:t>đảm</a:t>
            </a:r>
            <a:r>
              <a:rPr lang="en-US" sz="2200">
                <a:solidFill>
                  <a:srgbClr val="373A3C"/>
                </a:solidFill>
                <a:ea typeface="+mn-lt"/>
                <a:cs typeface="+mn-lt"/>
              </a:rPr>
              <a:t> </a:t>
            </a:r>
            <a:r>
              <a:rPr lang="en-US" sz="2200" err="1">
                <a:solidFill>
                  <a:srgbClr val="373A3C"/>
                </a:solidFill>
                <a:ea typeface="+mn-lt"/>
                <a:cs typeface="+mn-lt"/>
              </a:rPr>
              <a:t>bảo</a:t>
            </a:r>
            <a:r>
              <a:rPr lang="en-US" sz="2200">
                <a:solidFill>
                  <a:srgbClr val="373A3C"/>
                </a:solidFill>
                <a:ea typeface="+mn-lt"/>
                <a:cs typeface="+mn-lt"/>
              </a:rPr>
              <a:t> </a:t>
            </a:r>
            <a:r>
              <a:rPr lang="en-US" sz="2200" err="1">
                <a:solidFill>
                  <a:srgbClr val="373A3C"/>
                </a:solidFill>
                <a:ea typeface="+mn-lt"/>
                <a:cs typeface="+mn-lt"/>
              </a:rPr>
              <a:t>tính</a:t>
            </a:r>
            <a:r>
              <a:rPr lang="en-US" sz="2200">
                <a:solidFill>
                  <a:srgbClr val="373A3C"/>
                </a:solidFill>
                <a:ea typeface="+mn-lt"/>
                <a:cs typeface="+mn-lt"/>
              </a:rPr>
              <a:t> </a:t>
            </a:r>
            <a:r>
              <a:rPr lang="en-US" sz="2200" err="1">
                <a:solidFill>
                  <a:srgbClr val="373A3C"/>
                </a:solidFill>
                <a:ea typeface="+mn-lt"/>
                <a:cs typeface="+mn-lt"/>
              </a:rPr>
              <a:t>nhất</a:t>
            </a:r>
            <a:r>
              <a:rPr lang="en-US" sz="2200">
                <a:solidFill>
                  <a:srgbClr val="373A3C"/>
                </a:solidFill>
                <a:ea typeface="+mn-lt"/>
                <a:cs typeface="+mn-lt"/>
              </a:rPr>
              <a:t> </a:t>
            </a:r>
            <a:r>
              <a:rPr lang="en-US" sz="2200" err="1">
                <a:solidFill>
                  <a:srgbClr val="373A3C"/>
                </a:solidFill>
                <a:ea typeface="+mn-lt"/>
                <a:cs typeface="+mn-lt"/>
              </a:rPr>
              <a:t>quán</a:t>
            </a:r>
            <a:r>
              <a:rPr lang="en-US" sz="2200">
                <a:solidFill>
                  <a:srgbClr val="373A3C"/>
                </a:solidFill>
                <a:ea typeface="+mn-lt"/>
                <a:cs typeface="+mn-lt"/>
              </a:rPr>
              <a:t>.</a:t>
            </a:r>
            <a:endParaRPr lang="en-US" sz="2200">
              <a:ea typeface="Calibri"/>
              <a:cs typeface="Calibri"/>
            </a:endParaRPr>
          </a:p>
          <a:p>
            <a:pPr lvl="1">
              <a:buFont typeface="Arial"/>
              <a:buChar char="•"/>
            </a:pPr>
            <a:r>
              <a:rPr lang="en-US" sz="2200" i="1">
                <a:solidFill>
                  <a:srgbClr val="373A3C"/>
                </a:solidFill>
                <a:ea typeface="+mn-lt"/>
                <a:cs typeface="+mn-lt"/>
              </a:rPr>
              <a:t>Train set (</a:t>
            </a:r>
            <a:r>
              <a:rPr lang="en-US" sz="2200" i="1" err="1">
                <a:solidFill>
                  <a:srgbClr val="373A3C"/>
                </a:solidFill>
                <a:ea typeface="+mn-lt"/>
                <a:cs typeface="+mn-lt"/>
              </a:rPr>
              <a:t>thực</a:t>
            </a:r>
            <a:r>
              <a:rPr lang="en-US" sz="2200" i="1">
                <a:solidFill>
                  <a:srgbClr val="373A3C"/>
                </a:solidFill>
                <a:ea typeface="+mn-lt"/>
                <a:cs typeface="+mn-lt"/>
              </a:rPr>
              <a:t> </a:t>
            </a:r>
            <a:r>
              <a:rPr lang="en-US" sz="2200" i="1" err="1">
                <a:solidFill>
                  <a:srgbClr val="373A3C"/>
                </a:solidFill>
                <a:ea typeface="+mn-lt"/>
                <a:cs typeface="+mn-lt"/>
              </a:rPr>
              <a:t>nghiệm</a:t>
            </a:r>
            <a:r>
              <a:rPr lang="en-US" sz="2200" i="1">
                <a:solidFill>
                  <a:srgbClr val="373A3C"/>
                </a:solidFill>
                <a:ea typeface="+mn-lt"/>
                <a:cs typeface="+mn-lt"/>
              </a:rPr>
              <a:t>):</a:t>
            </a:r>
            <a:r>
              <a:rPr lang="en-US" sz="2200">
                <a:solidFill>
                  <a:srgbClr val="373A3C"/>
                </a:solidFill>
                <a:ea typeface="+mn-lt"/>
                <a:cs typeface="+mn-lt"/>
              </a:rPr>
              <a:t> </a:t>
            </a:r>
            <a:r>
              <a:rPr lang="en-US" sz="2200" err="1">
                <a:solidFill>
                  <a:srgbClr val="373A3C"/>
                </a:solidFill>
                <a:ea typeface="+mn-lt"/>
                <a:cs typeface="+mn-lt"/>
              </a:rPr>
              <a:t>Giới</a:t>
            </a:r>
            <a:r>
              <a:rPr lang="en-US" sz="2200">
                <a:solidFill>
                  <a:srgbClr val="373A3C"/>
                </a:solidFill>
                <a:ea typeface="+mn-lt"/>
                <a:cs typeface="+mn-lt"/>
              </a:rPr>
              <a:t> </a:t>
            </a:r>
            <a:r>
              <a:rPr lang="en-US" sz="2200" err="1">
                <a:solidFill>
                  <a:srgbClr val="373A3C"/>
                </a:solidFill>
                <a:ea typeface="+mn-lt"/>
                <a:cs typeface="+mn-lt"/>
              </a:rPr>
              <a:t>hạn</a:t>
            </a:r>
            <a:r>
              <a:rPr lang="en-US" sz="2200">
                <a:solidFill>
                  <a:srgbClr val="373A3C"/>
                </a:solidFill>
                <a:ea typeface="+mn-lt"/>
                <a:cs typeface="+mn-lt"/>
              </a:rPr>
              <a:t> 6.000 </a:t>
            </a:r>
            <a:r>
              <a:rPr lang="en-US" sz="2200" err="1">
                <a:solidFill>
                  <a:srgbClr val="373A3C"/>
                </a:solidFill>
                <a:ea typeface="+mn-lt"/>
                <a:cs typeface="+mn-lt"/>
              </a:rPr>
              <a:t>mẫu</a:t>
            </a:r>
            <a:r>
              <a:rPr lang="en-US" sz="2200">
                <a:solidFill>
                  <a:srgbClr val="373A3C"/>
                </a:solidFill>
                <a:ea typeface="+mn-lt"/>
                <a:cs typeface="+mn-lt"/>
              </a:rPr>
              <a:t> </a:t>
            </a:r>
            <a:r>
              <a:rPr lang="en-US" sz="2200" err="1">
                <a:solidFill>
                  <a:srgbClr val="373A3C"/>
                </a:solidFill>
                <a:ea typeface="+mn-lt"/>
                <a:cs typeface="+mn-lt"/>
              </a:rPr>
              <a:t>để</a:t>
            </a:r>
            <a:r>
              <a:rPr lang="en-US" sz="2200">
                <a:solidFill>
                  <a:srgbClr val="373A3C"/>
                </a:solidFill>
                <a:ea typeface="+mn-lt"/>
                <a:cs typeface="+mn-lt"/>
              </a:rPr>
              <a:t> </a:t>
            </a:r>
            <a:r>
              <a:rPr lang="en-US" sz="2200" err="1">
                <a:solidFill>
                  <a:srgbClr val="373A3C"/>
                </a:solidFill>
                <a:ea typeface="+mn-lt"/>
                <a:cs typeface="+mn-lt"/>
              </a:rPr>
              <a:t>phù</a:t>
            </a:r>
            <a:r>
              <a:rPr lang="en-US" sz="2200">
                <a:solidFill>
                  <a:srgbClr val="373A3C"/>
                </a:solidFill>
                <a:ea typeface="+mn-lt"/>
                <a:cs typeface="+mn-lt"/>
              </a:rPr>
              <a:t> </a:t>
            </a:r>
            <a:r>
              <a:rPr lang="en-US" sz="2200" err="1">
                <a:solidFill>
                  <a:srgbClr val="373A3C"/>
                </a:solidFill>
                <a:ea typeface="+mn-lt"/>
                <a:cs typeface="+mn-lt"/>
              </a:rPr>
              <a:t>hợp</a:t>
            </a:r>
            <a:r>
              <a:rPr lang="en-US" sz="2200">
                <a:solidFill>
                  <a:srgbClr val="373A3C"/>
                </a:solidFill>
                <a:ea typeface="+mn-lt"/>
                <a:cs typeface="+mn-lt"/>
              </a:rPr>
              <a:t> </a:t>
            </a:r>
            <a:r>
              <a:rPr lang="en-US" sz="2200" err="1">
                <a:solidFill>
                  <a:srgbClr val="373A3C"/>
                </a:solidFill>
                <a:ea typeface="+mn-lt"/>
                <a:cs typeface="+mn-lt"/>
              </a:rPr>
              <a:t>tài</a:t>
            </a:r>
            <a:r>
              <a:rPr lang="en-US" sz="2200">
                <a:solidFill>
                  <a:srgbClr val="373A3C"/>
                </a:solidFill>
                <a:ea typeface="+mn-lt"/>
                <a:cs typeface="+mn-lt"/>
              </a:rPr>
              <a:t> </a:t>
            </a:r>
            <a:r>
              <a:rPr lang="en-US" sz="2200" err="1">
                <a:solidFill>
                  <a:srgbClr val="373A3C"/>
                </a:solidFill>
                <a:ea typeface="+mn-lt"/>
                <a:cs typeface="+mn-lt"/>
              </a:rPr>
              <a:t>nguyên</a:t>
            </a:r>
            <a:r>
              <a:rPr lang="en-US" sz="2200">
                <a:solidFill>
                  <a:srgbClr val="373A3C"/>
                </a:solidFill>
                <a:ea typeface="+mn-lt"/>
                <a:cs typeface="+mn-lt"/>
              </a:rPr>
              <a:t> GPU.</a:t>
            </a:r>
            <a:endParaRPr lang="en-US" sz="2200">
              <a:ea typeface="Calibri"/>
              <a:cs typeface="Calibri"/>
            </a:endParaRPr>
          </a:p>
          <a:p>
            <a:pPr>
              <a:buFont typeface="Arial"/>
              <a:buChar char="•"/>
            </a:pPr>
            <a:r>
              <a:rPr lang="en-US" sz="2200" b="1" err="1">
                <a:solidFill>
                  <a:srgbClr val="373A3C"/>
                </a:solidFill>
                <a:ea typeface="+mn-lt"/>
                <a:cs typeface="+mn-lt"/>
              </a:rPr>
              <a:t>Tiền</a:t>
            </a:r>
            <a:r>
              <a:rPr lang="en-US" sz="2200" b="1">
                <a:solidFill>
                  <a:srgbClr val="373A3C"/>
                </a:solidFill>
                <a:ea typeface="+mn-lt"/>
                <a:cs typeface="+mn-lt"/>
              </a:rPr>
              <a:t> </a:t>
            </a:r>
            <a:r>
              <a:rPr lang="en-US" sz="2200" b="1" err="1">
                <a:solidFill>
                  <a:srgbClr val="373A3C"/>
                </a:solidFill>
                <a:ea typeface="+mn-lt"/>
                <a:cs typeface="+mn-lt"/>
              </a:rPr>
              <a:t>xử</a:t>
            </a:r>
            <a:r>
              <a:rPr lang="en-US" sz="2200" b="1">
                <a:solidFill>
                  <a:srgbClr val="373A3C"/>
                </a:solidFill>
                <a:ea typeface="+mn-lt"/>
                <a:cs typeface="+mn-lt"/>
              </a:rPr>
              <a:t> </a:t>
            </a:r>
            <a:r>
              <a:rPr lang="en-US" sz="2200" b="1" err="1">
                <a:solidFill>
                  <a:srgbClr val="373A3C"/>
                </a:solidFill>
                <a:ea typeface="+mn-lt"/>
                <a:cs typeface="+mn-lt"/>
              </a:rPr>
              <a:t>lý</a:t>
            </a:r>
            <a:r>
              <a:rPr lang="en-US" sz="2200" b="1">
                <a:solidFill>
                  <a:srgbClr val="373A3C"/>
                </a:solidFill>
                <a:ea typeface="+mn-lt"/>
                <a:cs typeface="+mn-lt"/>
              </a:rPr>
              <a:t> </a:t>
            </a:r>
            <a:r>
              <a:rPr lang="en-US" sz="2200" b="1" err="1">
                <a:solidFill>
                  <a:srgbClr val="373A3C"/>
                </a:solidFill>
                <a:ea typeface="+mn-lt"/>
                <a:cs typeface="+mn-lt"/>
              </a:rPr>
              <a:t>cho</a:t>
            </a:r>
            <a:r>
              <a:rPr lang="en-US" sz="2200" b="1">
                <a:solidFill>
                  <a:srgbClr val="373A3C"/>
                </a:solidFill>
                <a:ea typeface="+mn-lt"/>
                <a:cs typeface="+mn-lt"/>
              </a:rPr>
              <a:t> Decoder-only (Preprocessing):</a:t>
            </a:r>
            <a:endParaRPr lang="en-US" sz="2200">
              <a:ea typeface="Calibri"/>
              <a:cs typeface="Calibri"/>
            </a:endParaRPr>
          </a:p>
          <a:p>
            <a:pPr lvl="1">
              <a:buFont typeface="Arial"/>
              <a:buChar char="•"/>
            </a:pPr>
            <a:r>
              <a:rPr lang="en-US" sz="2200" b="1">
                <a:solidFill>
                  <a:srgbClr val="373A3C"/>
                </a:solidFill>
                <a:ea typeface="+mn-lt"/>
                <a:cs typeface="+mn-lt"/>
              </a:rPr>
              <a:t>Định </a:t>
            </a:r>
            <a:r>
              <a:rPr lang="en-US" sz="2200" b="1" err="1">
                <a:solidFill>
                  <a:srgbClr val="373A3C"/>
                </a:solidFill>
                <a:ea typeface="+mn-lt"/>
                <a:cs typeface="+mn-lt"/>
              </a:rPr>
              <a:t>dạng</a:t>
            </a:r>
            <a:r>
              <a:rPr lang="en-US" sz="2200" b="1">
                <a:solidFill>
                  <a:srgbClr val="373A3C"/>
                </a:solidFill>
                <a:ea typeface="+mn-lt"/>
                <a:cs typeface="+mn-lt"/>
              </a:rPr>
              <a:t> SFT (Supervised Fine-Tuning):</a:t>
            </a:r>
            <a:r>
              <a:rPr lang="en-US" sz="2200">
                <a:solidFill>
                  <a:srgbClr val="373A3C"/>
                </a:solidFill>
                <a:ea typeface="+mn-lt"/>
                <a:cs typeface="+mn-lt"/>
              </a:rPr>
              <a:t> </a:t>
            </a:r>
            <a:r>
              <a:rPr lang="en-US" sz="2200" err="1">
                <a:solidFill>
                  <a:srgbClr val="373A3C"/>
                </a:solidFill>
                <a:ea typeface="+mn-lt"/>
                <a:cs typeface="+mn-lt"/>
              </a:rPr>
              <a:t>Khác</a:t>
            </a:r>
            <a:r>
              <a:rPr lang="en-US" sz="2200">
                <a:solidFill>
                  <a:srgbClr val="373A3C"/>
                </a:solidFill>
                <a:ea typeface="+mn-lt"/>
                <a:cs typeface="+mn-lt"/>
              </a:rPr>
              <a:t> </a:t>
            </a:r>
            <a:r>
              <a:rPr lang="en-US" sz="2200" err="1">
                <a:solidFill>
                  <a:srgbClr val="373A3C"/>
                </a:solidFill>
                <a:ea typeface="+mn-lt"/>
                <a:cs typeface="+mn-lt"/>
              </a:rPr>
              <a:t>với</a:t>
            </a:r>
            <a:r>
              <a:rPr lang="en-US" sz="2200">
                <a:solidFill>
                  <a:srgbClr val="373A3C"/>
                </a:solidFill>
                <a:ea typeface="+mn-lt"/>
                <a:cs typeface="+mn-lt"/>
              </a:rPr>
              <a:t> </a:t>
            </a:r>
            <a:r>
              <a:rPr lang="en-US" sz="2200" err="1">
                <a:solidFill>
                  <a:srgbClr val="373A3C"/>
                </a:solidFill>
                <a:ea typeface="+mn-lt"/>
                <a:cs typeface="+mn-lt"/>
              </a:rPr>
              <a:t>các</a:t>
            </a:r>
            <a:r>
              <a:rPr lang="en-US" sz="2200">
                <a:solidFill>
                  <a:srgbClr val="373A3C"/>
                </a:solidFill>
                <a:ea typeface="+mn-lt"/>
                <a:cs typeface="+mn-lt"/>
              </a:rPr>
              <a:t> </a:t>
            </a:r>
            <a:r>
              <a:rPr lang="en-US" sz="2200" err="1">
                <a:solidFill>
                  <a:srgbClr val="373A3C"/>
                </a:solidFill>
                <a:ea typeface="+mn-lt"/>
                <a:cs typeface="+mn-lt"/>
              </a:rPr>
              <a:t>mô</a:t>
            </a:r>
            <a:r>
              <a:rPr lang="en-US" sz="2200">
                <a:solidFill>
                  <a:srgbClr val="373A3C"/>
                </a:solidFill>
                <a:ea typeface="+mn-lt"/>
                <a:cs typeface="+mn-lt"/>
              </a:rPr>
              <a:t> </a:t>
            </a:r>
            <a:r>
              <a:rPr lang="en-US" sz="2200" err="1">
                <a:solidFill>
                  <a:srgbClr val="373A3C"/>
                </a:solidFill>
                <a:ea typeface="+mn-lt"/>
                <a:cs typeface="+mn-lt"/>
              </a:rPr>
              <a:t>hình</a:t>
            </a:r>
            <a:r>
              <a:rPr lang="en-US" sz="2200">
                <a:solidFill>
                  <a:srgbClr val="373A3C"/>
                </a:solidFill>
                <a:ea typeface="+mn-lt"/>
                <a:cs typeface="+mn-lt"/>
              </a:rPr>
              <a:t> </a:t>
            </a:r>
            <a:r>
              <a:rPr lang="en-US" sz="2200" err="1">
                <a:solidFill>
                  <a:srgbClr val="373A3C"/>
                </a:solidFill>
                <a:ea typeface="+mn-lt"/>
                <a:cs typeface="+mn-lt"/>
              </a:rPr>
              <a:t>khác</a:t>
            </a:r>
            <a:r>
              <a:rPr lang="en-US" sz="2200">
                <a:solidFill>
                  <a:srgbClr val="373A3C"/>
                </a:solidFill>
                <a:ea typeface="+mn-lt"/>
                <a:cs typeface="+mn-lt"/>
              </a:rPr>
              <a:t>, </a:t>
            </a:r>
            <a:r>
              <a:rPr lang="en-US" sz="2200" err="1">
                <a:solidFill>
                  <a:srgbClr val="373A3C"/>
                </a:solidFill>
                <a:ea typeface="+mn-lt"/>
                <a:cs typeface="+mn-lt"/>
              </a:rPr>
              <a:t>dữ</a:t>
            </a:r>
            <a:r>
              <a:rPr lang="en-US" sz="2200">
                <a:solidFill>
                  <a:srgbClr val="373A3C"/>
                </a:solidFill>
                <a:ea typeface="+mn-lt"/>
                <a:cs typeface="+mn-lt"/>
              </a:rPr>
              <a:t> </a:t>
            </a:r>
            <a:r>
              <a:rPr lang="en-US" sz="2200" err="1">
                <a:solidFill>
                  <a:srgbClr val="373A3C"/>
                </a:solidFill>
                <a:ea typeface="+mn-lt"/>
                <a:cs typeface="+mn-lt"/>
              </a:rPr>
              <a:t>liệu</a:t>
            </a:r>
            <a:r>
              <a:rPr lang="en-US" sz="2200">
                <a:solidFill>
                  <a:srgbClr val="373A3C"/>
                </a:solidFill>
                <a:ea typeface="+mn-lt"/>
                <a:cs typeface="+mn-lt"/>
              </a:rPr>
              <a:t> </a:t>
            </a:r>
            <a:r>
              <a:rPr lang="en-US" sz="2200" err="1">
                <a:solidFill>
                  <a:srgbClr val="373A3C"/>
                </a:solidFill>
                <a:ea typeface="+mn-lt"/>
                <a:cs typeface="+mn-lt"/>
              </a:rPr>
              <a:t>được</a:t>
            </a:r>
            <a:r>
              <a:rPr lang="en-US" sz="2200">
                <a:solidFill>
                  <a:srgbClr val="373A3C"/>
                </a:solidFill>
                <a:ea typeface="+mn-lt"/>
                <a:cs typeface="+mn-lt"/>
              </a:rPr>
              <a:t> </a:t>
            </a:r>
            <a:r>
              <a:rPr lang="en-US" sz="2200" err="1">
                <a:solidFill>
                  <a:srgbClr val="373A3C"/>
                </a:solidFill>
                <a:ea typeface="+mn-lt"/>
                <a:cs typeface="+mn-lt"/>
              </a:rPr>
              <a:t>đóng</a:t>
            </a:r>
            <a:r>
              <a:rPr lang="en-US" sz="2200">
                <a:solidFill>
                  <a:srgbClr val="373A3C"/>
                </a:solidFill>
                <a:ea typeface="+mn-lt"/>
                <a:cs typeface="+mn-lt"/>
              </a:rPr>
              <a:t> </a:t>
            </a:r>
            <a:r>
              <a:rPr lang="en-US" sz="2200" err="1">
                <a:solidFill>
                  <a:srgbClr val="373A3C"/>
                </a:solidFill>
                <a:ea typeface="+mn-lt"/>
                <a:cs typeface="+mn-lt"/>
              </a:rPr>
              <a:t>gói</a:t>
            </a:r>
            <a:r>
              <a:rPr lang="en-US" sz="2200">
                <a:solidFill>
                  <a:srgbClr val="373A3C"/>
                </a:solidFill>
                <a:ea typeface="+mn-lt"/>
                <a:cs typeface="+mn-lt"/>
              </a:rPr>
              <a:t> </a:t>
            </a:r>
            <a:r>
              <a:rPr lang="en-US" sz="2200" err="1">
                <a:solidFill>
                  <a:srgbClr val="373A3C"/>
                </a:solidFill>
                <a:ea typeface="+mn-lt"/>
                <a:cs typeface="+mn-lt"/>
              </a:rPr>
              <a:t>thành</a:t>
            </a:r>
            <a:r>
              <a:rPr lang="en-US" sz="2200">
                <a:solidFill>
                  <a:srgbClr val="373A3C"/>
                </a:solidFill>
                <a:ea typeface="+mn-lt"/>
                <a:cs typeface="+mn-lt"/>
              </a:rPr>
              <a:t> </a:t>
            </a:r>
            <a:r>
              <a:rPr lang="en-US" sz="2200" b="1" err="1">
                <a:solidFill>
                  <a:srgbClr val="373A3C"/>
                </a:solidFill>
                <a:ea typeface="+mn-lt"/>
                <a:cs typeface="+mn-lt"/>
              </a:rPr>
              <a:t>một</a:t>
            </a:r>
            <a:r>
              <a:rPr lang="en-US" sz="2200" b="1">
                <a:solidFill>
                  <a:srgbClr val="373A3C"/>
                </a:solidFill>
                <a:ea typeface="+mn-lt"/>
                <a:cs typeface="+mn-lt"/>
              </a:rPr>
              <a:t> </a:t>
            </a:r>
            <a:r>
              <a:rPr lang="en-US" sz="2200" b="1" err="1">
                <a:solidFill>
                  <a:srgbClr val="373A3C"/>
                </a:solidFill>
                <a:ea typeface="+mn-lt"/>
                <a:cs typeface="+mn-lt"/>
              </a:rPr>
              <a:t>chuỗi</a:t>
            </a:r>
            <a:r>
              <a:rPr lang="en-US" sz="2200" b="1">
                <a:solidFill>
                  <a:srgbClr val="373A3C"/>
                </a:solidFill>
                <a:ea typeface="+mn-lt"/>
                <a:cs typeface="+mn-lt"/>
              </a:rPr>
              <a:t> </a:t>
            </a:r>
            <a:r>
              <a:rPr lang="en-US" sz="2200" b="1" err="1">
                <a:solidFill>
                  <a:srgbClr val="373A3C"/>
                </a:solidFill>
                <a:ea typeface="+mn-lt"/>
                <a:cs typeface="+mn-lt"/>
              </a:rPr>
              <a:t>văn</a:t>
            </a:r>
            <a:r>
              <a:rPr lang="en-US" sz="2200" b="1">
                <a:solidFill>
                  <a:srgbClr val="373A3C"/>
                </a:solidFill>
                <a:ea typeface="+mn-lt"/>
                <a:cs typeface="+mn-lt"/>
              </a:rPr>
              <a:t> </a:t>
            </a:r>
            <a:r>
              <a:rPr lang="en-US" sz="2200" b="1" err="1">
                <a:solidFill>
                  <a:srgbClr val="373A3C"/>
                </a:solidFill>
                <a:ea typeface="+mn-lt"/>
                <a:cs typeface="+mn-lt"/>
              </a:rPr>
              <a:t>bản</a:t>
            </a:r>
            <a:r>
              <a:rPr lang="en-US" sz="2200" b="1">
                <a:solidFill>
                  <a:srgbClr val="373A3C"/>
                </a:solidFill>
                <a:ea typeface="+mn-lt"/>
                <a:cs typeface="+mn-lt"/>
              </a:rPr>
              <a:t> </a:t>
            </a:r>
            <a:r>
              <a:rPr lang="en-US" sz="2200" b="1" err="1">
                <a:solidFill>
                  <a:srgbClr val="373A3C"/>
                </a:solidFill>
                <a:ea typeface="+mn-lt"/>
                <a:cs typeface="+mn-lt"/>
              </a:rPr>
              <a:t>duy</a:t>
            </a:r>
            <a:r>
              <a:rPr lang="en-US" sz="2200" b="1">
                <a:solidFill>
                  <a:srgbClr val="373A3C"/>
                </a:solidFill>
                <a:ea typeface="+mn-lt"/>
                <a:cs typeface="+mn-lt"/>
              </a:rPr>
              <a:t> </a:t>
            </a:r>
            <a:r>
              <a:rPr lang="en-US" sz="2200" b="1" err="1">
                <a:solidFill>
                  <a:srgbClr val="373A3C"/>
                </a:solidFill>
                <a:ea typeface="+mn-lt"/>
                <a:cs typeface="+mn-lt"/>
              </a:rPr>
              <a:t>nhất</a:t>
            </a:r>
            <a:r>
              <a:rPr lang="en-US" sz="2200">
                <a:solidFill>
                  <a:srgbClr val="373A3C"/>
                </a:solidFill>
                <a:ea typeface="+mn-lt"/>
                <a:cs typeface="+mn-lt"/>
              </a:rPr>
              <a:t> </a:t>
            </a:r>
            <a:r>
              <a:rPr lang="en-US" sz="2200" err="1">
                <a:solidFill>
                  <a:srgbClr val="373A3C"/>
                </a:solidFill>
                <a:ea typeface="+mn-lt"/>
                <a:cs typeface="+mn-lt"/>
              </a:rPr>
              <a:t>để</a:t>
            </a:r>
            <a:r>
              <a:rPr lang="en-US" sz="2200">
                <a:solidFill>
                  <a:srgbClr val="373A3C"/>
                </a:solidFill>
                <a:ea typeface="+mn-lt"/>
                <a:cs typeface="+mn-lt"/>
              </a:rPr>
              <a:t> </a:t>
            </a:r>
            <a:r>
              <a:rPr lang="en-US" sz="2200" err="1">
                <a:solidFill>
                  <a:srgbClr val="373A3C"/>
                </a:solidFill>
                <a:ea typeface="+mn-lt"/>
                <a:cs typeface="+mn-lt"/>
              </a:rPr>
              <a:t>mô</a:t>
            </a:r>
            <a:r>
              <a:rPr lang="en-US" sz="2200">
                <a:solidFill>
                  <a:srgbClr val="373A3C"/>
                </a:solidFill>
                <a:ea typeface="+mn-lt"/>
                <a:cs typeface="+mn-lt"/>
              </a:rPr>
              <a:t> </a:t>
            </a:r>
            <a:r>
              <a:rPr lang="en-US" sz="2200" err="1">
                <a:solidFill>
                  <a:srgbClr val="373A3C"/>
                </a:solidFill>
                <a:ea typeface="+mn-lt"/>
                <a:cs typeface="+mn-lt"/>
              </a:rPr>
              <a:t>hình</a:t>
            </a:r>
            <a:r>
              <a:rPr lang="en-US" sz="2200">
                <a:solidFill>
                  <a:srgbClr val="373A3C"/>
                </a:solidFill>
                <a:ea typeface="+mn-lt"/>
                <a:cs typeface="+mn-lt"/>
              </a:rPr>
              <a:t> </a:t>
            </a:r>
            <a:r>
              <a:rPr lang="en-US" sz="2200" err="1">
                <a:solidFill>
                  <a:srgbClr val="373A3C"/>
                </a:solidFill>
                <a:ea typeface="+mn-lt"/>
                <a:cs typeface="+mn-lt"/>
              </a:rPr>
              <a:t>học</a:t>
            </a:r>
            <a:r>
              <a:rPr lang="en-US" sz="2200">
                <a:solidFill>
                  <a:srgbClr val="373A3C"/>
                </a:solidFill>
                <a:ea typeface="+mn-lt"/>
                <a:cs typeface="+mn-lt"/>
              </a:rPr>
              <a:t> </a:t>
            </a:r>
            <a:r>
              <a:rPr lang="en-US" sz="2200" err="1">
                <a:solidFill>
                  <a:srgbClr val="373A3C"/>
                </a:solidFill>
                <a:ea typeface="+mn-lt"/>
                <a:cs typeface="+mn-lt"/>
              </a:rPr>
              <a:t>sinh</a:t>
            </a:r>
            <a:r>
              <a:rPr lang="en-US" sz="2200">
                <a:solidFill>
                  <a:srgbClr val="373A3C"/>
                </a:solidFill>
                <a:ea typeface="+mn-lt"/>
                <a:cs typeface="+mn-lt"/>
              </a:rPr>
              <a:t> </a:t>
            </a:r>
            <a:r>
              <a:rPr lang="en-US" sz="2200" err="1">
                <a:solidFill>
                  <a:srgbClr val="373A3C"/>
                </a:solidFill>
                <a:ea typeface="+mn-lt"/>
                <a:cs typeface="+mn-lt"/>
              </a:rPr>
              <a:t>kế</a:t>
            </a:r>
            <a:r>
              <a:rPr lang="en-US" sz="2200">
                <a:solidFill>
                  <a:srgbClr val="373A3C"/>
                </a:solidFill>
                <a:ea typeface="+mn-lt"/>
                <a:cs typeface="+mn-lt"/>
              </a:rPr>
              <a:t> </a:t>
            </a:r>
            <a:r>
              <a:rPr lang="en-US" sz="2200" err="1">
                <a:solidFill>
                  <a:srgbClr val="373A3C"/>
                </a:solidFill>
                <a:ea typeface="+mn-lt"/>
                <a:cs typeface="+mn-lt"/>
              </a:rPr>
              <a:t>tiếp</a:t>
            </a:r>
            <a:r>
              <a:rPr lang="en-US" sz="2200">
                <a:solidFill>
                  <a:srgbClr val="373A3C"/>
                </a:solidFill>
                <a:ea typeface="+mn-lt"/>
                <a:cs typeface="+mn-lt"/>
              </a:rPr>
              <a:t> (Causal LM).</a:t>
            </a:r>
            <a:endParaRPr lang="en-US" sz="2200">
              <a:ea typeface="Calibri"/>
              <a:cs typeface="Calibri"/>
            </a:endParaRPr>
          </a:p>
          <a:p>
            <a:pPr lvl="1">
              <a:buFont typeface="Arial"/>
              <a:buChar char="•"/>
            </a:pPr>
            <a:r>
              <a:rPr lang="en-US" sz="2200" err="1">
                <a:solidFill>
                  <a:srgbClr val="373A3C"/>
                </a:solidFill>
                <a:ea typeface="+mn-lt"/>
                <a:cs typeface="+mn-lt"/>
              </a:rPr>
              <a:t>Cấu</a:t>
            </a:r>
            <a:r>
              <a:rPr lang="en-US" sz="2200">
                <a:solidFill>
                  <a:srgbClr val="373A3C"/>
                </a:solidFill>
                <a:ea typeface="+mn-lt"/>
                <a:cs typeface="+mn-lt"/>
              </a:rPr>
              <a:t> </a:t>
            </a:r>
            <a:r>
              <a:rPr lang="en-US" sz="2200" err="1">
                <a:solidFill>
                  <a:srgbClr val="373A3C"/>
                </a:solidFill>
                <a:ea typeface="+mn-lt"/>
                <a:cs typeface="+mn-lt"/>
              </a:rPr>
              <a:t>trúc</a:t>
            </a:r>
            <a:r>
              <a:rPr lang="en-US" sz="2200">
                <a:solidFill>
                  <a:srgbClr val="373A3C"/>
                </a:solidFill>
                <a:ea typeface="+mn-lt"/>
                <a:cs typeface="+mn-lt"/>
              </a:rPr>
              <a:t> Prompt: Title: ... Context: &lt;</a:t>
            </a:r>
            <a:r>
              <a:rPr lang="en-US" sz="2200" err="1">
                <a:solidFill>
                  <a:srgbClr val="373A3C"/>
                </a:solidFill>
                <a:ea typeface="+mn-lt"/>
                <a:cs typeface="+mn-lt"/>
              </a:rPr>
              <a:t>Nội</a:t>
            </a:r>
            <a:r>
              <a:rPr lang="en-US" sz="2200">
                <a:solidFill>
                  <a:srgbClr val="373A3C"/>
                </a:solidFill>
                <a:ea typeface="+mn-lt"/>
                <a:cs typeface="+mn-lt"/>
              </a:rPr>
              <a:t> dung </a:t>
            </a:r>
            <a:r>
              <a:rPr lang="en-US" sz="2200" err="1">
                <a:solidFill>
                  <a:srgbClr val="373A3C"/>
                </a:solidFill>
                <a:ea typeface="+mn-lt"/>
                <a:cs typeface="+mn-lt"/>
              </a:rPr>
              <a:t>đoạn</a:t>
            </a:r>
            <a:r>
              <a:rPr lang="en-US" sz="2200">
                <a:solidFill>
                  <a:srgbClr val="373A3C"/>
                </a:solidFill>
                <a:ea typeface="+mn-lt"/>
                <a:cs typeface="+mn-lt"/>
              </a:rPr>
              <a:t> </a:t>
            </a:r>
            <a:r>
              <a:rPr lang="en-US" sz="2200" err="1">
                <a:solidFill>
                  <a:srgbClr val="373A3C"/>
                </a:solidFill>
                <a:ea typeface="+mn-lt"/>
                <a:cs typeface="+mn-lt"/>
              </a:rPr>
              <a:t>văn</a:t>
            </a:r>
            <a:r>
              <a:rPr lang="en-US" sz="2200">
                <a:solidFill>
                  <a:srgbClr val="373A3C"/>
                </a:solidFill>
                <a:ea typeface="+mn-lt"/>
                <a:cs typeface="+mn-lt"/>
              </a:rPr>
              <a:t>&gt; Question: &lt;</a:t>
            </a:r>
            <a:r>
              <a:rPr lang="en-US" sz="2200" err="1">
                <a:solidFill>
                  <a:srgbClr val="373A3C"/>
                </a:solidFill>
                <a:ea typeface="+mn-lt"/>
                <a:cs typeface="+mn-lt"/>
              </a:rPr>
              <a:t>Câu</a:t>
            </a:r>
            <a:r>
              <a:rPr lang="en-US" sz="2200">
                <a:solidFill>
                  <a:srgbClr val="373A3C"/>
                </a:solidFill>
                <a:ea typeface="+mn-lt"/>
                <a:cs typeface="+mn-lt"/>
              </a:rPr>
              <a:t> </a:t>
            </a:r>
            <a:r>
              <a:rPr lang="en-US" sz="2200" err="1">
                <a:solidFill>
                  <a:srgbClr val="373A3C"/>
                </a:solidFill>
                <a:ea typeface="+mn-lt"/>
                <a:cs typeface="+mn-lt"/>
              </a:rPr>
              <a:t>hỏi</a:t>
            </a:r>
            <a:r>
              <a:rPr lang="en-US" sz="2200">
                <a:solidFill>
                  <a:srgbClr val="373A3C"/>
                </a:solidFill>
                <a:ea typeface="+mn-lt"/>
                <a:cs typeface="+mn-lt"/>
              </a:rPr>
              <a:t>&gt; Answer: &lt;</a:t>
            </a:r>
            <a:r>
              <a:rPr lang="en-US" sz="2200" err="1">
                <a:solidFill>
                  <a:srgbClr val="373A3C"/>
                </a:solidFill>
                <a:ea typeface="+mn-lt"/>
                <a:cs typeface="+mn-lt"/>
              </a:rPr>
              <a:t>Câu</a:t>
            </a:r>
            <a:r>
              <a:rPr lang="en-US" sz="2200">
                <a:solidFill>
                  <a:srgbClr val="373A3C"/>
                </a:solidFill>
                <a:ea typeface="+mn-lt"/>
                <a:cs typeface="+mn-lt"/>
              </a:rPr>
              <a:t> </a:t>
            </a:r>
            <a:r>
              <a:rPr lang="en-US" sz="2200" err="1">
                <a:solidFill>
                  <a:srgbClr val="373A3C"/>
                </a:solidFill>
                <a:ea typeface="+mn-lt"/>
                <a:cs typeface="+mn-lt"/>
              </a:rPr>
              <a:t>trả</a:t>
            </a:r>
            <a:r>
              <a:rPr lang="en-US" sz="2200">
                <a:solidFill>
                  <a:srgbClr val="373A3C"/>
                </a:solidFill>
                <a:ea typeface="+mn-lt"/>
                <a:cs typeface="+mn-lt"/>
              </a:rPr>
              <a:t> </a:t>
            </a:r>
            <a:r>
              <a:rPr lang="en-US" sz="2200" err="1">
                <a:solidFill>
                  <a:srgbClr val="373A3C"/>
                </a:solidFill>
                <a:ea typeface="+mn-lt"/>
                <a:cs typeface="+mn-lt"/>
              </a:rPr>
              <a:t>lời</a:t>
            </a:r>
            <a:r>
              <a:rPr lang="en-US" sz="2200">
                <a:solidFill>
                  <a:srgbClr val="373A3C"/>
                </a:solidFill>
                <a:ea typeface="+mn-lt"/>
                <a:cs typeface="+mn-lt"/>
              </a:rPr>
              <a:t>&gt;</a:t>
            </a:r>
            <a:endParaRPr lang="en-US" sz="2200">
              <a:solidFill>
                <a:srgbClr val="373A3C"/>
              </a:solidFill>
              <a:latin typeface="Calibri"/>
              <a:ea typeface="Calibri"/>
              <a:cs typeface="Calibri"/>
            </a:endParaRPr>
          </a:p>
          <a:p>
            <a:pPr>
              <a:buFont typeface="Arial"/>
              <a:buChar char="•"/>
            </a:pPr>
            <a:endParaRPr lang="en-US">
              <a:solidFill>
                <a:srgbClr val="373A3C"/>
              </a:solidFill>
              <a:latin typeface="Times New Roman" panose="02020603050405020304" pitchFamily="18" charset="0"/>
              <a:ea typeface="Calibri"/>
              <a:cs typeface="Calibri"/>
            </a:endParaRPr>
          </a:p>
          <a:p>
            <a:pPr marL="0" indent="0">
              <a:buNone/>
            </a:pPr>
            <a:endParaRPr lang="en-US">
              <a:solidFill>
                <a:srgbClr val="373A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353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08D1-2BE2-8291-1E28-6ABF87EECB19}"/>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0B4CD45B-2DB4-B76A-BD92-52C5EC503159}"/>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182E49F3-FF1B-0C0B-1C17-EA7540A9CB54}"/>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9B0EAC40-37AE-BDF5-6509-7CC3A0E2C2B0}"/>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B6248D77-F5C4-94EA-6433-33E28C52B0D7}"/>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7989EB25-A66C-7796-41D7-37AE9BDFF638}"/>
              </a:ext>
            </a:extLst>
          </p:cNvPr>
          <p:cNvSpPr>
            <a:spLocks noGrp="1"/>
          </p:cNvSpPr>
          <p:nvPr>
            <p:ph type="title"/>
          </p:nvPr>
        </p:nvSpPr>
        <p:spPr>
          <a:xfrm>
            <a:off x="-2415" y="10956"/>
            <a:ext cx="7886700" cy="1325563"/>
          </a:xfrm>
        </p:spPr>
        <p:txBody>
          <a:bodyPr/>
          <a:lstStyle/>
          <a:p>
            <a:r>
              <a:rPr lang="vi-VN">
                <a:latin typeface="Times New Roman"/>
                <a:cs typeface="Times New Roman"/>
              </a:rPr>
              <a:t>Dữ liệu LLM</a:t>
            </a:r>
          </a:p>
        </p:txBody>
      </p:sp>
      <p:sp>
        <p:nvSpPr>
          <p:cNvPr id="9" name="Content Placeholder 2">
            <a:extLst>
              <a:ext uri="{FF2B5EF4-FFF2-40B4-BE49-F238E27FC236}">
                <a16:creationId xmlns:a16="http://schemas.microsoft.com/office/drawing/2014/main" id="{8E475420-A6B2-4DB4-21C5-FC4721453533}"/>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200" b="1" err="1">
                <a:solidFill>
                  <a:srgbClr val="373A3C"/>
                </a:solidFill>
                <a:ea typeface="+mn-lt"/>
                <a:cs typeface="+mn-lt"/>
              </a:rPr>
              <a:t>Dữ</a:t>
            </a:r>
            <a:r>
              <a:rPr lang="en-US" sz="2200" b="1">
                <a:solidFill>
                  <a:srgbClr val="373A3C"/>
                </a:solidFill>
                <a:ea typeface="+mn-lt"/>
                <a:cs typeface="+mn-lt"/>
              </a:rPr>
              <a:t> </a:t>
            </a:r>
            <a:r>
              <a:rPr lang="en-US" sz="2200" b="1" err="1">
                <a:solidFill>
                  <a:srgbClr val="373A3C"/>
                </a:solidFill>
                <a:ea typeface="+mn-lt"/>
                <a:cs typeface="+mn-lt"/>
              </a:rPr>
              <a:t>liệu</a:t>
            </a:r>
            <a:r>
              <a:rPr lang="en-US" sz="2200" b="1">
                <a:solidFill>
                  <a:srgbClr val="373A3C"/>
                </a:solidFill>
                <a:ea typeface="+mn-lt"/>
                <a:cs typeface="+mn-lt"/>
              </a:rPr>
              <a:t> </a:t>
            </a:r>
            <a:r>
              <a:rPr lang="en-US" sz="2200" b="1" err="1">
                <a:solidFill>
                  <a:srgbClr val="373A3C"/>
                </a:solidFill>
                <a:ea typeface="+mn-lt"/>
                <a:cs typeface="+mn-lt"/>
              </a:rPr>
              <a:t>giả</a:t>
            </a:r>
            <a:r>
              <a:rPr lang="en-US" sz="2200" b="1">
                <a:solidFill>
                  <a:srgbClr val="373A3C"/>
                </a:solidFill>
                <a:ea typeface="+mn-lt"/>
                <a:cs typeface="+mn-lt"/>
              </a:rPr>
              <a:t> </a:t>
            </a:r>
            <a:r>
              <a:rPr lang="en-US" sz="2200" b="1" err="1">
                <a:solidFill>
                  <a:srgbClr val="373A3C"/>
                </a:solidFill>
                <a:ea typeface="+mn-lt"/>
                <a:cs typeface="+mn-lt"/>
              </a:rPr>
              <a:t>lập</a:t>
            </a:r>
            <a:r>
              <a:rPr lang="en-US" sz="2200" b="1">
                <a:solidFill>
                  <a:srgbClr val="373A3C"/>
                </a:solidFill>
                <a:ea typeface="+mn-lt"/>
                <a:cs typeface="+mn-lt"/>
              </a:rPr>
              <a:t> (Synthetic Data):</a:t>
            </a:r>
            <a:endParaRPr lang="vi-VN" sz="2200">
              <a:solidFill>
                <a:srgbClr val="000000"/>
              </a:solidFill>
              <a:ea typeface="+mn-lt"/>
              <a:cs typeface="+mn-lt"/>
            </a:endParaRPr>
          </a:p>
          <a:p>
            <a:pPr>
              <a:buFont typeface="Arial"/>
              <a:buChar char="•"/>
            </a:pPr>
            <a:r>
              <a:rPr lang="en-US" sz="2200" b="1">
                <a:solidFill>
                  <a:srgbClr val="373A3C"/>
                </a:solidFill>
                <a:ea typeface="+mn-lt"/>
                <a:cs typeface="+mn-lt"/>
              </a:rPr>
              <a:t>Phương </a:t>
            </a:r>
            <a:r>
              <a:rPr lang="en-US" sz="2200" b="1" err="1">
                <a:solidFill>
                  <a:srgbClr val="373A3C"/>
                </a:solidFill>
                <a:ea typeface="+mn-lt"/>
                <a:cs typeface="+mn-lt"/>
              </a:rPr>
              <a:t>pháp</a:t>
            </a:r>
            <a:r>
              <a:rPr lang="en-US" sz="2200" b="1">
                <a:solidFill>
                  <a:srgbClr val="373A3C"/>
                </a:solidFill>
                <a:ea typeface="+mn-lt"/>
                <a:cs typeface="+mn-lt"/>
              </a:rPr>
              <a:t>:</a:t>
            </a:r>
            <a:r>
              <a:rPr lang="en-US" sz="2200">
                <a:solidFill>
                  <a:srgbClr val="373A3C"/>
                </a:solidFill>
                <a:ea typeface="+mn-lt"/>
                <a:cs typeface="+mn-lt"/>
              </a:rPr>
              <a:t> </a:t>
            </a:r>
            <a:r>
              <a:rPr lang="en-US" sz="2200" err="1">
                <a:solidFill>
                  <a:srgbClr val="373A3C"/>
                </a:solidFill>
                <a:ea typeface="+mn-lt"/>
                <a:cs typeface="+mn-lt"/>
              </a:rPr>
              <a:t>Sử</a:t>
            </a:r>
            <a:r>
              <a:rPr lang="en-US" sz="2200">
                <a:solidFill>
                  <a:srgbClr val="373A3C"/>
                </a:solidFill>
                <a:ea typeface="+mn-lt"/>
                <a:cs typeface="+mn-lt"/>
              </a:rPr>
              <a:t> </a:t>
            </a:r>
            <a:r>
              <a:rPr lang="en-US" sz="2200" err="1">
                <a:solidFill>
                  <a:srgbClr val="373A3C"/>
                </a:solidFill>
                <a:ea typeface="+mn-lt"/>
                <a:cs typeface="+mn-lt"/>
              </a:rPr>
              <a:t>dụng</a:t>
            </a:r>
            <a:r>
              <a:rPr lang="en-US" sz="2200">
                <a:solidFill>
                  <a:srgbClr val="373A3C"/>
                </a:solidFill>
                <a:ea typeface="+mn-lt"/>
                <a:cs typeface="+mn-lt"/>
              </a:rPr>
              <a:t> LLM (Gemini/Qwen) </a:t>
            </a:r>
            <a:r>
              <a:rPr lang="en-US" sz="2200" err="1">
                <a:solidFill>
                  <a:srgbClr val="373A3C"/>
                </a:solidFill>
                <a:ea typeface="+mn-lt"/>
                <a:cs typeface="+mn-lt"/>
              </a:rPr>
              <a:t>để</a:t>
            </a:r>
            <a:r>
              <a:rPr lang="en-US" sz="2200">
                <a:solidFill>
                  <a:srgbClr val="373A3C"/>
                </a:solidFill>
                <a:ea typeface="+mn-lt"/>
                <a:cs typeface="+mn-lt"/>
              </a:rPr>
              <a:t> </a:t>
            </a:r>
            <a:r>
              <a:rPr lang="en-US" sz="2200" err="1">
                <a:solidFill>
                  <a:srgbClr val="373A3C"/>
                </a:solidFill>
                <a:ea typeface="+mn-lt"/>
                <a:cs typeface="+mn-lt"/>
              </a:rPr>
              <a:t>sinh</a:t>
            </a:r>
            <a:r>
              <a:rPr lang="en-US" sz="2200">
                <a:solidFill>
                  <a:srgbClr val="373A3C"/>
                </a:solidFill>
                <a:ea typeface="+mn-lt"/>
                <a:cs typeface="+mn-lt"/>
              </a:rPr>
              <a:t> </a:t>
            </a:r>
            <a:r>
              <a:rPr lang="en-US" sz="2200" err="1">
                <a:solidFill>
                  <a:srgbClr val="373A3C"/>
                </a:solidFill>
                <a:ea typeface="+mn-lt"/>
                <a:cs typeface="+mn-lt"/>
              </a:rPr>
              <a:t>thêm</a:t>
            </a:r>
            <a:r>
              <a:rPr lang="en-US" sz="2200">
                <a:solidFill>
                  <a:srgbClr val="373A3C"/>
                </a:solidFill>
                <a:ea typeface="+mn-lt"/>
                <a:cs typeface="+mn-lt"/>
              </a:rPr>
              <a:t> </a:t>
            </a:r>
            <a:r>
              <a:rPr lang="en-US" sz="2200" err="1">
                <a:solidFill>
                  <a:srgbClr val="373A3C"/>
                </a:solidFill>
                <a:ea typeface="+mn-lt"/>
                <a:cs typeface="+mn-lt"/>
              </a:rPr>
              <a:t>các</a:t>
            </a:r>
            <a:r>
              <a:rPr lang="en-US" sz="2200">
                <a:solidFill>
                  <a:srgbClr val="373A3C"/>
                </a:solidFill>
                <a:ea typeface="+mn-lt"/>
                <a:cs typeface="+mn-lt"/>
              </a:rPr>
              <a:t> </a:t>
            </a:r>
            <a:r>
              <a:rPr lang="en-US" sz="2200" err="1">
                <a:solidFill>
                  <a:srgbClr val="373A3C"/>
                </a:solidFill>
                <a:ea typeface="+mn-lt"/>
                <a:cs typeface="+mn-lt"/>
              </a:rPr>
              <a:t>cặp</a:t>
            </a:r>
            <a:r>
              <a:rPr lang="en-US" sz="2200">
                <a:solidFill>
                  <a:srgbClr val="373A3C"/>
                </a:solidFill>
                <a:ea typeface="+mn-lt"/>
                <a:cs typeface="+mn-lt"/>
              </a:rPr>
              <a:t> </a:t>
            </a:r>
            <a:r>
              <a:rPr lang="en-US" sz="2200" err="1">
                <a:solidFill>
                  <a:srgbClr val="373A3C"/>
                </a:solidFill>
                <a:ea typeface="+mn-lt"/>
                <a:cs typeface="+mn-lt"/>
              </a:rPr>
              <a:t>câu</a:t>
            </a:r>
            <a:r>
              <a:rPr lang="en-US" sz="2200">
                <a:solidFill>
                  <a:srgbClr val="373A3C"/>
                </a:solidFill>
                <a:ea typeface="+mn-lt"/>
                <a:cs typeface="+mn-lt"/>
              </a:rPr>
              <a:t> </a:t>
            </a:r>
            <a:r>
              <a:rPr lang="en-US" sz="2200" err="1">
                <a:solidFill>
                  <a:srgbClr val="373A3C"/>
                </a:solidFill>
                <a:ea typeface="+mn-lt"/>
                <a:cs typeface="+mn-lt"/>
              </a:rPr>
              <a:t>hỏi</a:t>
            </a:r>
            <a:r>
              <a:rPr lang="en-US" sz="2200">
                <a:solidFill>
                  <a:srgbClr val="373A3C"/>
                </a:solidFill>
                <a:ea typeface="+mn-lt"/>
                <a:cs typeface="+mn-lt"/>
              </a:rPr>
              <a:t> - </a:t>
            </a:r>
            <a:r>
              <a:rPr lang="en-US" sz="2200" err="1">
                <a:solidFill>
                  <a:srgbClr val="373A3C"/>
                </a:solidFill>
                <a:ea typeface="+mn-lt"/>
                <a:cs typeface="+mn-lt"/>
              </a:rPr>
              <a:t>trả</a:t>
            </a:r>
            <a:r>
              <a:rPr lang="en-US" sz="2200">
                <a:solidFill>
                  <a:srgbClr val="373A3C"/>
                </a:solidFill>
                <a:ea typeface="+mn-lt"/>
                <a:cs typeface="+mn-lt"/>
              </a:rPr>
              <a:t> </a:t>
            </a:r>
            <a:r>
              <a:rPr lang="en-US" sz="2200" err="1">
                <a:solidFill>
                  <a:srgbClr val="373A3C"/>
                </a:solidFill>
                <a:ea typeface="+mn-lt"/>
                <a:cs typeface="+mn-lt"/>
              </a:rPr>
              <a:t>lời</a:t>
            </a:r>
            <a:r>
              <a:rPr lang="en-US" sz="2200">
                <a:solidFill>
                  <a:srgbClr val="373A3C"/>
                </a:solidFill>
                <a:ea typeface="+mn-lt"/>
                <a:cs typeface="+mn-lt"/>
              </a:rPr>
              <a:t>.</a:t>
            </a:r>
            <a:endParaRPr lang="en-US">
              <a:ea typeface="+mn-lt"/>
              <a:cs typeface="+mn-lt"/>
            </a:endParaRPr>
          </a:p>
          <a:p>
            <a:pPr>
              <a:buFont typeface="Arial"/>
              <a:buChar char="•"/>
            </a:pPr>
            <a:r>
              <a:rPr lang="en-US" sz="2200" b="1" err="1">
                <a:solidFill>
                  <a:srgbClr val="373A3C"/>
                </a:solidFill>
                <a:ea typeface="+mn-lt"/>
                <a:cs typeface="+mn-lt"/>
              </a:rPr>
              <a:t>Mục</a:t>
            </a:r>
            <a:r>
              <a:rPr lang="en-US" sz="2200" b="1">
                <a:solidFill>
                  <a:srgbClr val="373A3C"/>
                </a:solidFill>
                <a:ea typeface="+mn-lt"/>
                <a:cs typeface="+mn-lt"/>
              </a:rPr>
              <a:t> </a:t>
            </a:r>
            <a:r>
              <a:rPr lang="en-US" sz="2200" b="1" err="1">
                <a:solidFill>
                  <a:srgbClr val="373A3C"/>
                </a:solidFill>
                <a:ea typeface="+mn-lt"/>
                <a:cs typeface="+mn-lt"/>
              </a:rPr>
              <a:t>tiêu</a:t>
            </a:r>
            <a:r>
              <a:rPr lang="en-US" sz="2200" b="1">
                <a:solidFill>
                  <a:srgbClr val="373A3C"/>
                </a:solidFill>
                <a:ea typeface="+mn-lt"/>
                <a:cs typeface="+mn-lt"/>
              </a:rPr>
              <a:t>:</a:t>
            </a:r>
            <a:endParaRPr lang="en-US"/>
          </a:p>
          <a:p>
            <a:pPr lvl="1">
              <a:buFont typeface="Arial"/>
              <a:buChar char="•"/>
            </a:pPr>
            <a:r>
              <a:rPr lang="en-US" sz="2200" err="1">
                <a:solidFill>
                  <a:srgbClr val="373A3C"/>
                </a:solidFill>
                <a:ea typeface="+mn-lt"/>
                <a:cs typeface="+mn-lt"/>
              </a:rPr>
              <a:t>Mở</a:t>
            </a:r>
            <a:r>
              <a:rPr lang="en-US" sz="2200">
                <a:solidFill>
                  <a:srgbClr val="373A3C"/>
                </a:solidFill>
                <a:ea typeface="+mn-lt"/>
                <a:cs typeface="+mn-lt"/>
              </a:rPr>
              <a:t> </a:t>
            </a:r>
            <a:r>
              <a:rPr lang="en-US" sz="2200" err="1">
                <a:solidFill>
                  <a:srgbClr val="373A3C"/>
                </a:solidFill>
                <a:ea typeface="+mn-lt"/>
                <a:cs typeface="+mn-lt"/>
              </a:rPr>
              <a:t>rộng</a:t>
            </a:r>
            <a:r>
              <a:rPr lang="en-US" sz="2200">
                <a:solidFill>
                  <a:srgbClr val="373A3C"/>
                </a:solidFill>
                <a:ea typeface="+mn-lt"/>
                <a:cs typeface="+mn-lt"/>
              </a:rPr>
              <a:t> </a:t>
            </a:r>
            <a:r>
              <a:rPr lang="en-US" sz="2200" err="1">
                <a:solidFill>
                  <a:srgbClr val="373A3C"/>
                </a:solidFill>
                <a:ea typeface="+mn-lt"/>
                <a:cs typeface="+mn-lt"/>
              </a:rPr>
              <a:t>chủ</a:t>
            </a:r>
            <a:r>
              <a:rPr lang="en-US" sz="2200">
                <a:solidFill>
                  <a:srgbClr val="373A3C"/>
                </a:solidFill>
                <a:ea typeface="+mn-lt"/>
                <a:cs typeface="+mn-lt"/>
              </a:rPr>
              <a:t> </a:t>
            </a:r>
            <a:r>
              <a:rPr lang="en-US" sz="2200" err="1">
                <a:solidFill>
                  <a:srgbClr val="373A3C"/>
                </a:solidFill>
                <a:ea typeface="+mn-lt"/>
                <a:cs typeface="+mn-lt"/>
              </a:rPr>
              <a:t>đề</a:t>
            </a:r>
            <a:r>
              <a:rPr lang="en-US" sz="2200">
                <a:solidFill>
                  <a:srgbClr val="373A3C"/>
                </a:solidFill>
                <a:ea typeface="+mn-lt"/>
                <a:cs typeface="+mn-lt"/>
              </a:rPr>
              <a:t> sang </a:t>
            </a:r>
            <a:r>
              <a:rPr lang="en-US" sz="2200" err="1">
                <a:solidFill>
                  <a:srgbClr val="373A3C"/>
                </a:solidFill>
                <a:ea typeface="+mn-lt"/>
                <a:cs typeface="+mn-lt"/>
              </a:rPr>
              <a:t>các</a:t>
            </a:r>
            <a:r>
              <a:rPr lang="en-US" sz="2200">
                <a:solidFill>
                  <a:srgbClr val="373A3C"/>
                </a:solidFill>
                <a:ea typeface="+mn-lt"/>
                <a:cs typeface="+mn-lt"/>
              </a:rPr>
              <a:t> </a:t>
            </a:r>
            <a:r>
              <a:rPr lang="en-US" sz="2200" err="1">
                <a:solidFill>
                  <a:srgbClr val="373A3C"/>
                </a:solidFill>
                <a:ea typeface="+mn-lt"/>
                <a:cs typeface="+mn-lt"/>
              </a:rPr>
              <a:t>lĩnh</a:t>
            </a:r>
            <a:r>
              <a:rPr lang="en-US" sz="2200">
                <a:solidFill>
                  <a:srgbClr val="373A3C"/>
                </a:solidFill>
                <a:ea typeface="+mn-lt"/>
                <a:cs typeface="+mn-lt"/>
              </a:rPr>
              <a:t> </a:t>
            </a:r>
            <a:r>
              <a:rPr lang="en-US" sz="2200" err="1">
                <a:solidFill>
                  <a:srgbClr val="373A3C"/>
                </a:solidFill>
                <a:ea typeface="+mn-lt"/>
                <a:cs typeface="+mn-lt"/>
              </a:rPr>
              <a:t>vực</a:t>
            </a:r>
            <a:r>
              <a:rPr lang="en-US" sz="2200">
                <a:solidFill>
                  <a:srgbClr val="373A3C"/>
                </a:solidFill>
                <a:ea typeface="+mn-lt"/>
                <a:cs typeface="+mn-lt"/>
              </a:rPr>
              <a:t> </a:t>
            </a:r>
            <a:r>
              <a:rPr lang="en-US" sz="2200" err="1">
                <a:solidFill>
                  <a:srgbClr val="373A3C"/>
                </a:solidFill>
                <a:ea typeface="+mn-lt"/>
                <a:cs typeface="+mn-lt"/>
              </a:rPr>
              <a:t>đời</a:t>
            </a:r>
            <a:r>
              <a:rPr lang="en-US" sz="2200">
                <a:solidFill>
                  <a:srgbClr val="373A3C"/>
                </a:solidFill>
                <a:ea typeface="+mn-lt"/>
                <a:cs typeface="+mn-lt"/>
              </a:rPr>
              <a:t> </a:t>
            </a:r>
            <a:r>
              <a:rPr lang="en-US" sz="2200" err="1">
                <a:solidFill>
                  <a:srgbClr val="373A3C"/>
                </a:solidFill>
                <a:ea typeface="+mn-lt"/>
                <a:cs typeface="+mn-lt"/>
              </a:rPr>
              <a:t>sống</a:t>
            </a:r>
            <a:r>
              <a:rPr lang="en-US" sz="2200">
                <a:solidFill>
                  <a:srgbClr val="373A3C"/>
                </a:solidFill>
                <a:ea typeface="+mn-lt"/>
                <a:cs typeface="+mn-lt"/>
              </a:rPr>
              <a:t>, </a:t>
            </a:r>
            <a:r>
              <a:rPr lang="en-US" sz="2200" err="1">
                <a:solidFill>
                  <a:srgbClr val="373A3C"/>
                </a:solidFill>
                <a:ea typeface="+mn-lt"/>
                <a:cs typeface="+mn-lt"/>
              </a:rPr>
              <a:t>công</a:t>
            </a:r>
            <a:r>
              <a:rPr lang="en-US" sz="2200">
                <a:solidFill>
                  <a:srgbClr val="373A3C"/>
                </a:solidFill>
                <a:ea typeface="+mn-lt"/>
                <a:cs typeface="+mn-lt"/>
              </a:rPr>
              <a:t> </a:t>
            </a:r>
            <a:r>
              <a:rPr lang="en-US" sz="2200" err="1">
                <a:solidFill>
                  <a:srgbClr val="373A3C"/>
                </a:solidFill>
                <a:ea typeface="+mn-lt"/>
                <a:cs typeface="+mn-lt"/>
              </a:rPr>
              <a:t>nghệ</a:t>
            </a:r>
            <a:r>
              <a:rPr lang="en-US" sz="2200">
                <a:solidFill>
                  <a:srgbClr val="373A3C"/>
                </a:solidFill>
                <a:ea typeface="+mn-lt"/>
                <a:cs typeface="+mn-lt"/>
              </a:rPr>
              <a:t> (</a:t>
            </a:r>
            <a:r>
              <a:rPr lang="en-US" sz="2200" err="1">
                <a:solidFill>
                  <a:srgbClr val="373A3C"/>
                </a:solidFill>
                <a:ea typeface="+mn-lt"/>
                <a:cs typeface="+mn-lt"/>
              </a:rPr>
              <a:t>tránh</a:t>
            </a:r>
            <a:r>
              <a:rPr lang="en-US" sz="2200">
                <a:solidFill>
                  <a:srgbClr val="373A3C"/>
                </a:solidFill>
                <a:ea typeface="+mn-lt"/>
                <a:cs typeface="+mn-lt"/>
              </a:rPr>
              <a:t> </a:t>
            </a:r>
            <a:r>
              <a:rPr lang="en-US" sz="2200" err="1">
                <a:solidFill>
                  <a:srgbClr val="373A3C"/>
                </a:solidFill>
                <a:ea typeface="+mn-lt"/>
                <a:cs typeface="+mn-lt"/>
              </a:rPr>
              <a:t>văn</a:t>
            </a:r>
            <a:r>
              <a:rPr lang="en-US" sz="2200">
                <a:solidFill>
                  <a:srgbClr val="373A3C"/>
                </a:solidFill>
                <a:ea typeface="+mn-lt"/>
                <a:cs typeface="+mn-lt"/>
              </a:rPr>
              <a:t> </a:t>
            </a:r>
            <a:r>
              <a:rPr lang="en-US" sz="2200" err="1">
                <a:solidFill>
                  <a:srgbClr val="373A3C"/>
                </a:solidFill>
                <a:ea typeface="+mn-lt"/>
                <a:cs typeface="+mn-lt"/>
              </a:rPr>
              <a:t>phong</a:t>
            </a:r>
            <a:r>
              <a:rPr lang="en-US" sz="2200">
                <a:solidFill>
                  <a:srgbClr val="373A3C"/>
                </a:solidFill>
                <a:ea typeface="+mn-lt"/>
                <a:cs typeface="+mn-lt"/>
              </a:rPr>
              <a:t> </a:t>
            </a:r>
            <a:r>
              <a:rPr lang="en-US" sz="2200" err="1">
                <a:solidFill>
                  <a:srgbClr val="373A3C"/>
                </a:solidFill>
                <a:ea typeface="+mn-lt"/>
                <a:cs typeface="+mn-lt"/>
              </a:rPr>
              <a:t>hàn</a:t>
            </a:r>
            <a:r>
              <a:rPr lang="en-US" sz="2200">
                <a:solidFill>
                  <a:srgbClr val="373A3C"/>
                </a:solidFill>
                <a:ea typeface="+mn-lt"/>
                <a:cs typeface="+mn-lt"/>
              </a:rPr>
              <a:t> </a:t>
            </a:r>
            <a:r>
              <a:rPr lang="en-US" sz="2200" err="1">
                <a:solidFill>
                  <a:srgbClr val="373A3C"/>
                </a:solidFill>
                <a:ea typeface="+mn-lt"/>
                <a:cs typeface="+mn-lt"/>
              </a:rPr>
              <a:t>lâm</a:t>
            </a:r>
            <a:r>
              <a:rPr lang="en-US" sz="2200">
                <a:solidFill>
                  <a:srgbClr val="373A3C"/>
                </a:solidFill>
                <a:ea typeface="+mn-lt"/>
                <a:cs typeface="+mn-lt"/>
              </a:rPr>
              <a:t> </a:t>
            </a:r>
            <a:r>
              <a:rPr lang="en-US" sz="2200" err="1">
                <a:solidFill>
                  <a:srgbClr val="373A3C"/>
                </a:solidFill>
                <a:ea typeface="+mn-lt"/>
                <a:cs typeface="+mn-lt"/>
              </a:rPr>
              <a:t>của</a:t>
            </a:r>
            <a:r>
              <a:rPr lang="en-US" sz="2200">
                <a:solidFill>
                  <a:srgbClr val="373A3C"/>
                </a:solidFill>
                <a:ea typeface="+mn-lt"/>
                <a:cs typeface="+mn-lt"/>
              </a:rPr>
              <a:t> </a:t>
            </a:r>
            <a:r>
              <a:rPr lang="en-US" sz="2200" err="1">
                <a:solidFill>
                  <a:srgbClr val="373A3C"/>
                </a:solidFill>
                <a:ea typeface="+mn-lt"/>
                <a:cs typeface="+mn-lt"/>
              </a:rPr>
              <a:t>dữ</a:t>
            </a:r>
            <a:r>
              <a:rPr lang="en-US" sz="2200">
                <a:solidFill>
                  <a:srgbClr val="373A3C"/>
                </a:solidFill>
                <a:ea typeface="+mn-lt"/>
                <a:cs typeface="+mn-lt"/>
              </a:rPr>
              <a:t> </a:t>
            </a:r>
            <a:r>
              <a:rPr lang="en-US" sz="2200" err="1">
                <a:solidFill>
                  <a:srgbClr val="373A3C"/>
                </a:solidFill>
                <a:ea typeface="+mn-lt"/>
                <a:cs typeface="+mn-lt"/>
              </a:rPr>
              <a:t>liệu</a:t>
            </a:r>
            <a:r>
              <a:rPr lang="en-US" sz="2200">
                <a:solidFill>
                  <a:srgbClr val="373A3C"/>
                </a:solidFill>
                <a:ea typeface="+mn-lt"/>
                <a:cs typeface="+mn-lt"/>
              </a:rPr>
              <a:t> </a:t>
            </a:r>
            <a:r>
              <a:rPr lang="en-US" sz="2200" err="1">
                <a:solidFill>
                  <a:srgbClr val="373A3C"/>
                </a:solidFill>
                <a:ea typeface="+mn-lt"/>
                <a:cs typeface="+mn-lt"/>
              </a:rPr>
              <a:t>gốc</a:t>
            </a:r>
            <a:r>
              <a:rPr lang="en-US" sz="2200">
                <a:solidFill>
                  <a:srgbClr val="373A3C"/>
                </a:solidFill>
                <a:ea typeface="+mn-lt"/>
                <a:cs typeface="+mn-lt"/>
              </a:rPr>
              <a:t>).</a:t>
            </a:r>
            <a:endParaRPr lang="en-US">
              <a:ea typeface="+mn-lt"/>
              <a:cs typeface="+mn-lt"/>
            </a:endParaRPr>
          </a:p>
          <a:p>
            <a:pPr lvl="1">
              <a:buFont typeface="Arial"/>
              <a:buChar char="•"/>
            </a:pPr>
            <a:r>
              <a:rPr lang="en-US" sz="2200" err="1">
                <a:solidFill>
                  <a:srgbClr val="373A3C"/>
                </a:solidFill>
                <a:ea typeface="+mn-lt"/>
                <a:cs typeface="+mn-lt"/>
              </a:rPr>
              <a:t>Đa</a:t>
            </a:r>
            <a:r>
              <a:rPr lang="en-US" sz="2200">
                <a:solidFill>
                  <a:srgbClr val="373A3C"/>
                </a:solidFill>
                <a:ea typeface="+mn-lt"/>
                <a:cs typeface="+mn-lt"/>
              </a:rPr>
              <a:t> </a:t>
            </a:r>
            <a:r>
              <a:rPr lang="en-US" sz="2200" err="1">
                <a:solidFill>
                  <a:srgbClr val="373A3C"/>
                </a:solidFill>
                <a:ea typeface="+mn-lt"/>
                <a:cs typeface="+mn-lt"/>
              </a:rPr>
              <a:t>dạng</a:t>
            </a:r>
            <a:r>
              <a:rPr lang="en-US" sz="2200">
                <a:solidFill>
                  <a:srgbClr val="373A3C"/>
                </a:solidFill>
                <a:ea typeface="+mn-lt"/>
                <a:cs typeface="+mn-lt"/>
              </a:rPr>
              <a:t> </a:t>
            </a:r>
            <a:r>
              <a:rPr lang="en-US" sz="2200" err="1">
                <a:solidFill>
                  <a:srgbClr val="373A3C"/>
                </a:solidFill>
                <a:ea typeface="+mn-lt"/>
                <a:cs typeface="+mn-lt"/>
              </a:rPr>
              <a:t>hóa</a:t>
            </a:r>
            <a:r>
              <a:rPr lang="en-US" sz="2200">
                <a:solidFill>
                  <a:srgbClr val="373A3C"/>
                </a:solidFill>
                <a:ea typeface="+mn-lt"/>
                <a:cs typeface="+mn-lt"/>
              </a:rPr>
              <a:t> </a:t>
            </a:r>
            <a:r>
              <a:rPr lang="en-US" sz="2200" err="1">
                <a:solidFill>
                  <a:srgbClr val="373A3C"/>
                </a:solidFill>
                <a:ea typeface="+mn-lt"/>
                <a:cs typeface="+mn-lt"/>
              </a:rPr>
              <a:t>cấu</a:t>
            </a:r>
            <a:r>
              <a:rPr lang="en-US" sz="2200">
                <a:solidFill>
                  <a:srgbClr val="373A3C"/>
                </a:solidFill>
                <a:ea typeface="+mn-lt"/>
                <a:cs typeface="+mn-lt"/>
              </a:rPr>
              <a:t> </a:t>
            </a:r>
            <a:r>
              <a:rPr lang="en-US" sz="2200" err="1">
                <a:solidFill>
                  <a:srgbClr val="373A3C"/>
                </a:solidFill>
                <a:ea typeface="+mn-lt"/>
                <a:cs typeface="+mn-lt"/>
              </a:rPr>
              <a:t>trúc</a:t>
            </a:r>
            <a:r>
              <a:rPr lang="en-US" sz="2200">
                <a:solidFill>
                  <a:srgbClr val="373A3C"/>
                </a:solidFill>
                <a:ea typeface="+mn-lt"/>
                <a:cs typeface="+mn-lt"/>
              </a:rPr>
              <a:t> </a:t>
            </a:r>
            <a:r>
              <a:rPr lang="en-US" sz="2200" err="1">
                <a:solidFill>
                  <a:srgbClr val="373A3C"/>
                </a:solidFill>
                <a:ea typeface="+mn-lt"/>
                <a:cs typeface="+mn-lt"/>
              </a:rPr>
              <a:t>câu</a:t>
            </a:r>
            <a:r>
              <a:rPr lang="en-US" sz="2200">
                <a:solidFill>
                  <a:srgbClr val="373A3C"/>
                </a:solidFill>
                <a:ea typeface="+mn-lt"/>
                <a:cs typeface="+mn-lt"/>
              </a:rPr>
              <a:t> </a:t>
            </a:r>
            <a:r>
              <a:rPr lang="en-US" sz="2200" err="1">
                <a:solidFill>
                  <a:srgbClr val="373A3C"/>
                </a:solidFill>
                <a:ea typeface="+mn-lt"/>
                <a:cs typeface="+mn-lt"/>
              </a:rPr>
              <a:t>hỏi</a:t>
            </a:r>
            <a:r>
              <a:rPr lang="en-US" sz="2200">
                <a:solidFill>
                  <a:srgbClr val="373A3C"/>
                </a:solidFill>
                <a:ea typeface="+mn-lt"/>
                <a:cs typeface="+mn-lt"/>
              </a:rPr>
              <a:t> (</a:t>
            </a:r>
            <a:r>
              <a:rPr lang="en-US" sz="2200" err="1">
                <a:solidFill>
                  <a:srgbClr val="373A3C"/>
                </a:solidFill>
                <a:ea typeface="+mn-lt"/>
                <a:cs typeface="+mn-lt"/>
              </a:rPr>
              <a:t>nguyên</a:t>
            </a:r>
            <a:r>
              <a:rPr lang="en-US" sz="2200">
                <a:solidFill>
                  <a:srgbClr val="373A3C"/>
                </a:solidFill>
                <a:ea typeface="+mn-lt"/>
                <a:cs typeface="+mn-lt"/>
              </a:rPr>
              <a:t> </a:t>
            </a:r>
            <a:r>
              <a:rPr lang="en-US" sz="2200" err="1">
                <a:solidFill>
                  <a:srgbClr val="373A3C"/>
                </a:solidFill>
                <a:ea typeface="+mn-lt"/>
                <a:cs typeface="+mn-lt"/>
              </a:rPr>
              <a:t>nhân</a:t>
            </a:r>
            <a:r>
              <a:rPr lang="en-US" sz="2200">
                <a:solidFill>
                  <a:srgbClr val="373A3C"/>
                </a:solidFill>
                <a:ea typeface="+mn-lt"/>
                <a:cs typeface="+mn-lt"/>
              </a:rPr>
              <a:t> - </a:t>
            </a:r>
            <a:r>
              <a:rPr lang="en-US" sz="2200" err="1">
                <a:solidFill>
                  <a:srgbClr val="373A3C"/>
                </a:solidFill>
                <a:ea typeface="+mn-lt"/>
                <a:cs typeface="+mn-lt"/>
              </a:rPr>
              <a:t>kết</a:t>
            </a:r>
            <a:r>
              <a:rPr lang="en-US" sz="2200">
                <a:solidFill>
                  <a:srgbClr val="373A3C"/>
                </a:solidFill>
                <a:ea typeface="+mn-lt"/>
                <a:cs typeface="+mn-lt"/>
              </a:rPr>
              <a:t> </a:t>
            </a:r>
            <a:r>
              <a:rPr lang="en-US" sz="2200" err="1">
                <a:solidFill>
                  <a:srgbClr val="373A3C"/>
                </a:solidFill>
                <a:ea typeface="+mn-lt"/>
                <a:cs typeface="+mn-lt"/>
              </a:rPr>
              <a:t>quả</a:t>
            </a:r>
            <a:r>
              <a:rPr lang="en-US" sz="2200">
                <a:solidFill>
                  <a:srgbClr val="373A3C"/>
                </a:solidFill>
                <a:ea typeface="+mn-lt"/>
                <a:cs typeface="+mn-lt"/>
              </a:rPr>
              <a:t>, </a:t>
            </a:r>
            <a:r>
              <a:rPr lang="en-US" sz="2200" err="1">
                <a:solidFill>
                  <a:srgbClr val="373A3C"/>
                </a:solidFill>
                <a:ea typeface="+mn-lt"/>
                <a:cs typeface="+mn-lt"/>
              </a:rPr>
              <a:t>liệt</a:t>
            </a:r>
            <a:r>
              <a:rPr lang="en-US" sz="2200">
                <a:solidFill>
                  <a:srgbClr val="373A3C"/>
                </a:solidFill>
                <a:ea typeface="+mn-lt"/>
                <a:cs typeface="+mn-lt"/>
              </a:rPr>
              <a:t> </a:t>
            </a:r>
            <a:r>
              <a:rPr lang="en-US" sz="2200" err="1">
                <a:solidFill>
                  <a:srgbClr val="373A3C"/>
                </a:solidFill>
                <a:ea typeface="+mn-lt"/>
                <a:cs typeface="+mn-lt"/>
              </a:rPr>
              <a:t>kê</a:t>
            </a:r>
            <a:r>
              <a:rPr lang="en-US" sz="2200">
                <a:solidFill>
                  <a:srgbClr val="373A3C"/>
                </a:solidFill>
                <a:ea typeface="+mn-lt"/>
                <a:cs typeface="+mn-lt"/>
              </a:rPr>
              <a:t>...).</a:t>
            </a:r>
            <a:endParaRPr lang="en-US"/>
          </a:p>
          <a:p>
            <a:pPr>
              <a:buFont typeface="Arial"/>
              <a:buChar char="•"/>
            </a:pPr>
            <a:r>
              <a:rPr lang="en-US" sz="2200" b="1">
                <a:solidFill>
                  <a:srgbClr val="373A3C"/>
                </a:solidFill>
                <a:ea typeface="+mn-lt"/>
                <a:cs typeface="+mn-lt"/>
              </a:rPr>
              <a:t>Quy </a:t>
            </a:r>
            <a:r>
              <a:rPr lang="en-US" sz="2200" b="1" err="1">
                <a:solidFill>
                  <a:srgbClr val="373A3C"/>
                </a:solidFill>
                <a:ea typeface="+mn-lt"/>
                <a:cs typeface="+mn-lt"/>
              </a:rPr>
              <a:t>trình</a:t>
            </a:r>
            <a:r>
              <a:rPr lang="en-US" sz="2200" b="1">
                <a:solidFill>
                  <a:srgbClr val="373A3C"/>
                </a:solidFill>
                <a:ea typeface="+mn-lt"/>
                <a:cs typeface="+mn-lt"/>
              </a:rPr>
              <a:t>:</a:t>
            </a:r>
            <a:r>
              <a:rPr lang="en-US" sz="2200">
                <a:solidFill>
                  <a:srgbClr val="373A3C"/>
                </a:solidFill>
                <a:ea typeface="+mn-lt"/>
                <a:cs typeface="+mn-lt"/>
              </a:rPr>
              <a:t> Sinh </a:t>
            </a:r>
            <a:r>
              <a:rPr lang="en-US" sz="2200" err="1">
                <a:solidFill>
                  <a:srgbClr val="373A3C"/>
                </a:solidFill>
                <a:ea typeface="+mn-lt"/>
                <a:cs typeface="+mn-lt"/>
              </a:rPr>
              <a:t>dữ</a:t>
            </a:r>
            <a:r>
              <a:rPr lang="en-US" sz="2200">
                <a:solidFill>
                  <a:srgbClr val="373A3C"/>
                </a:solidFill>
                <a:ea typeface="+mn-lt"/>
                <a:cs typeface="+mn-lt"/>
              </a:rPr>
              <a:t> </a:t>
            </a:r>
            <a:r>
              <a:rPr lang="en-US" sz="2200" err="1">
                <a:solidFill>
                  <a:srgbClr val="373A3C"/>
                </a:solidFill>
                <a:ea typeface="+mn-lt"/>
                <a:cs typeface="+mn-lt"/>
              </a:rPr>
              <a:t>liệu</a:t>
            </a:r>
            <a:r>
              <a:rPr lang="en-US" sz="2200">
                <a:solidFill>
                  <a:srgbClr val="373A3C"/>
                </a:solidFill>
                <a:ea typeface="+mn-lt"/>
                <a:cs typeface="+mn-lt"/>
              </a:rPr>
              <a:t> </a:t>
            </a:r>
            <a:r>
              <a:rPr lang="en-US" sz="2200" err="1">
                <a:solidFill>
                  <a:srgbClr val="373A3C"/>
                </a:solidFill>
                <a:ea typeface="+mn-lt"/>
                <a:cs typeface="+mn-lt"/>
              </a:rPr>
              <a:t>dạng</a:t>
            </a:r>
            <a:r>
              <a:rPr lang="en-US" sz="2200">
                <a:solidFill>
                  <a:srgbClr val="373A3C"/>
                </a:solidFill>
                <a:ea typeface="+mn-lt"/>
                <a:cs typeface="+mn-lt"/>
              </a:rPr>
              <a:t> JSON -&gt; </a:t>
            </a:r>
            <a:r>
              <a:rPr lang="en-US" sz="2200" err="1">
                <a:solidFill>
                  <a:srgbClr val="373A3C"/>
                </a:solidFill>
                <a:ea typeface="+mn-lt"/>
                <a:cs typeface="+mn-lt"/>
              </a:rPr>
              <a:t>Chuyển</a:t>
            </a:r>
            <a:r>
              <a:rPr lang="en-US" sz="2200">
                <a:solidFill>
                  <a:srgbClr val="373A3C"/>
                </a:solidFill>
                <a:ea typeface="+mn-lt"/>
                <a:cs typeface="+mn-lt"/>
              </a:rPr>
              <a:t> </a:t>
            </a:r>
            <a:r>
              <a:rPr lang="en-US" sz="2200" err="1">
                <a:solidFill>
                  <a:srgbClr val="373A3C"/>
                </a:solidFill>
                <a:ea typeface="+mn-lt"/>
                <a:cs typeface="+mn-lt"/>
              </a:rPr>
              <a:t>đổi</a:t>
            </a:r>
            <a:r>
              <a:rPr lang="en-US" sz="2200">
                <a:solidFill>
                  <a:srgbClr val="373A3C"/>
                </a:solidFill>
                <a:ea typeface="+mn-lt"/>
                <a:cs typeface="+mn-lt"/>
              </a:rPr>
              <a:t> sang </a:t>
            </a:r>
            <a:r>
              <a:rPr lang="en-US" sz="2200" err="1">
                <a:solidFill>
                  <a:srgbClr val="373A3C"/>
                </a:solidFill>
                <a:ea typeface="+mn-lt"/>
                <a:cs typeface="+mn-lt"/>
              </a:rPr>
              <a:t>định</a:t>
            </a:r>
            <a:r>
              <a:rPr lang="en-US" sz="2200">
                <a:solidFill>
                  <a:srgbClr val="373A3C"/>
                </a:solidFill>
                <a:ea typeface="+mn-lt"/>
                <a:cs typeface="+mn-lt"/>
              </a:rPr>
              <a:t> </a:t>
            </a:r>
            <a:r>
              <a:rPr lang="en-US" sz="2200" err="1">
                <a:solidFill>
                  <a:srgbClr val="373A3C"/>
                </a:solidFill>
                <a:ea typeface="+mn-lt"/>
                <a:cs typeface="+mn-lt"/>
              </a:rPr>
              <a:t>dạng</a:t>
            </a:r>
            <a:r>
              <a:rPr lang="en-US" sz="2200">
                <a:solidFill>
                  <a:srgbClr val="373A3C"/>
                </a:solidFill>
                <a:ea typeface="+mn-lt"/>
                <a:cs typeface="+mn-lt"/>
              </a:rPr>
              <a:t> text SFT -&gt; </a:t>
            </a:r>
            <a:r>
              <a:rPr lang="en-US" sz="2200" err="1">
                <a:solidFill>
                  <a:srgbClr val="373A3C"/>
                </a:solidFill>
                <a:ea typeface="+mn-lt"/>
                <a:cs typeface="+mn-lt"/>
              </a:rPr>
              <a:t>Gộp</a:t>
            </a:r>
            <a:r>
              <a:rPr lang="en-US" sz="2200">
                <a:solidFill>
                  <a:srgbClr val="373A3C"/>
                </a:solidFill>
                <a:ea typeface="+mn-lt"/>
                <a:cs typeface="+mn-lt"/>
              </a:rPr>
              <a:t> </a:t>
            </a:r>
            <a:r>
              <a:rPr lang="en-US" sz="2200" err="1">
                <a:solidFill>
                  <a:srgbClr val="373A3C"/>
                </a:solidFill>
                <a:ea typeface="+mn-lt"/>
                <a:cs typeface="+mn-lt"/>
              </a:rPr>
              <a:t>vào</a:t>
            </a:r>
            <a:r>
              <a:rPr lang="en-US" sz="2200">
                <a:solidFill>
                  <a:srgbClr val="373A3C"/>
                </a:solidFill>
                <a:ea typeface="+mn-lt"/>
                <a:cs typeface="+mn-lt"/>
              </a:rPr>
              <a:t> </a:t>
            </a:r>
            <a:r>
              <a:rPr lang="en-US" sz="2200" err="1">
                <a:solidFill>
                  <a:srgbClr val="373A3C"/>
                </a:solidFill>
                <a:ea typeface="+mn-lt"/>
                <a:cs typeface="+mn-lt"/>
              </a:rPr>
              <a:t>tập</a:t>
            </a:r>
            <a:r>
              <a:rPr lang="en-US" sz="2200">
                <a:solidFill>
                  <a:srgbClr val="373A3C"/>
                </a:solidFill>
                <a:ea typeface="+mn-lt"/>
                <a:cs typeface="+mn-lt"/>
              </a:rPr>
              <a:t> Train.</a:t>
            </a:r>
            <a:endParaRPr lang="en-US"/>
          </a:p>
          <a:p>
            <a:pPr marL="0" indent="0">
              <a:buNone/>
            </a:pPr>
            <a:endParaRPr lang="en-US" sz="2200" b="1">
              <a:solidFill>
                <a:srgbClr val="373A3C"/>
              </a:solidFill>
              <a:latin typeface="Calibri"/>
              <a:ea typeface="Calibri"/>
              <a:cs typeface="Calibri"/>
            </a:endParaRPr>
          </a:p>
          <a:p>
            <a:pPr>
              <a:buFont typeface="Arial"/>
              <a:buChar char="•"/>
            </a:pPr>
            <a:endParaRPr lang="en-US">
              <a:solidFill>
                <a:srgbClr val="373A3C"/>
              </a:solidFill>
              <a:latin typeface="Times New Roman" panose="02020603050405020304" pitchFamily="18" charset="0"/>
              <a:ea typeface="Calibri"/>
              <a:cs typeface="Calibri"/>
            </a:endParaRPr>
          </a:p>
          <a:p>
            <a:pPr marL="0" indent="0">
              <a:buNone/>
            </a:pPr>
            <a:endParaRPr lang="en-US">
              <a:solidFill>
                <a:srgbClr val="373A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035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FA1D8-2CD0-E09E-E979-F006236BEE8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8A447C6D-98C5-5E43-B856-B2248B60A638}"/>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C350F247-414F-518A-3011-949948CA2451}"/>
              </a:ext>
            </a:extLst>
          </p:cNvPr>
          <p:cNvSpPr txBox="1"/>
          <p:nvPr/>
        </p:nvSpPr>
        <p:spPr>
          <a:xfrm>
            <a:off x="4621281" y="4986047"/>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ED934AE6-D6A4-F6DE-CB9E-805412511393}"/>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06ED65ED-8F53-26BE-9DD0-2A277F21EB4C}"/>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791E79A0-1B69-0AFB-C764-F20691A3AEDC}"/>
              </a:ext>
            </a:extLst>
          </p:cNvPr>
          <p:cNvSpPr>
            <a:spLocks noGrp="1"/>
          </p:cNvSpPr>
          <p:nvPr>
            <p:ph type="title"/>
          </p:nvPr>
        </p:nvSpPr>
        <p:spPr>
          <a:xfrm>
            <a:off x="-2415" y="10956"/>
            <a:ext cx="7886700" cy="1325563"/>
          </a:xfrm>
        </p:spPr>
        <p:txBody>
          <a:bodyPr/>
          <a:lstStyle/>
          <a:p>
            <a:r>
              <a:rPr lang="vi-VN">
                <a:latin typeface="Times New Roman"/>
                <a:cs typeface="Times New Roman"/>
              </a:rPr>
              <a:t>Dữ liệu</a:t>
            </a:r>
          </a:p>
        </p:txBody>
      </p:sp>
      <p:sp>
        <p:nvSpPr>
          <p:cNvPr id="9" name="Content Placeholder 2">
            <a:extLst>
              <a:ext uri="{FF2B5EF4-FFF2-40B4-BE49-F238E27FC236}">
                <a16:creationId xmlns:a16="http://schemas.microsoft.com/office/drawing/2014/main" id="{92126916-90F7-86F1-D760-4D450B533E9E}"/>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endParaRPr lang="en-US" dirty="0">
              <a:solidFill>
                <a:srgbClr val="373A3C"/>
              </a:solidFill>
              <a:latin typeface="Times New Roman" panose="02020603050405020304" pitchFamily="18" charset="0"/>
              <a:ea typeface="Calibri"/>
              <a:cs typeface="Calibri"/>
            </a:endParaRPr>
          </a:p>
          <a:p>
            <a:pPr marL="0" indent="0">
              <a:buNone/>
            </a:pPr>
            <a:endParaRPr lang="en-US" dirty="0">
              <a:solidFill>
                <a:srgbClr val="373A3C"/>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22D2375-B4AD-464A-B91B-F4B8CB907F96}"/>
              </a:ext>
            </a:extLst>
          </p:cNvPr>
          <p:cNvPicPr>
            <a:picLocks noChangeAspect="1"/>
          </p:cNvPicPr>
          <p:nvPr/>
        </p:nvPicPr>
        <p:blipFill>
          <a:blip r:embed="rId3"/>
          <a:stretch>
            <a:fillRect/>
          </a:stretch>
        </p:blipFill>
        <p:spPr>
          <a:xfrm>
            <a:off x="72325" y="1516232"/>
            <a:ext cx="4380497" cy="2592305"/>
          </a:xfrm>
          <a:prstGeom prst="rect">
            <a:avLst/>
          </a:prstGeom>
        </p:spPr>
      </p:pic>
      <p:pic>
        <p:nvPicPr>
          <p:cNvPr id="11" name="Picture 10">
            <a:extLst>
              <a:ext uri="{FF2B5EF4-FFF2-40B4-BE49-F238E27FC236}">
                <a16:creationId xmlns:a16="http://schemas.microsoft.com/office/drawing/2014/main" id="{3937179D-F70C-481E-A632-EDEE7E0AEE97}"/>
              </a:ext>
            </a:extLst>
          </p:cNvPr>
          <p:cNvPicPr>
            <a:picLocks noChangeAspect="1"/>
          </p:cNvPicPr>
          <p:nvPr/>
        </p:nvPicPr>
        <p:blipFill>
          <a:blip r:embed="rId4"/>
          <a:stretch>
            <a:fillRect/>
          </a:stretch>
        </p:blipFill>
        <p:spPr>
          <a:xfrm>
            <a:off x="4525148" y="1500958"/>
            <a:ext cx="4360192" cy="2607580"/>
          </a:xfrm>
          <a:prstGeom prst="rect">
            <a:avLst/>
          </a:prstGeom>
        </p:spPr>
      </p:pic>
      <p:pic>
        <p:nvPicPr>
          <p:cNvPr id="12" name="Picture 11">
            <a:extLst>
              <a:ext uri="{FF2B5EF4-FFF2-40B4-BE49-F238E27FC236}">
                <a16:creationId xmlns:a16="http://schemas.microsoft.com/office/drawing/2014/main" id="{B7950E85-19E1-4C05-BB3D-2E0B9CE71C12}"/>
              </a:ext>
            </a:extLst>
          </p:cNvPr>
          <p:cNvPicPr>
            <a:picLocks noChangeAspect="1"/>
          </p:cNvPicPr>
          <p:nvPr/>
        </p:nvPicPr>
        <p:blipFill>
          <a:blip r:embed="rId5"/>
          <a:stretch>
            <a:fillRect/>
          </a:stretch>
        </p:blipFill>
        <p:spPr>
          <a:xfrm>
            <a:off x="2313066" y="4056366"/>
            <a:ext cx="4517868" cy="2595962"/>
          </a:xfrm>
          <a:prstGeom prst="rect">
            <a:avLst/>
          </a:prstGeom>
        </p:spPr>
      </p:pic>
    </p:spTree>
    <p:extLst>
      <p:ext uri="{BB962C8B-B14F-4D97-AF65-F5344CB8AC3E}">
        <p14:creationId xmlns:p14="http://schemas.microsoft.com/office/powerpoint/2010/main" val="3318224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7457F-4A21-D88C-4593-452A40E21FF7}"/>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936561B2-ED08-6A67-671A-2FE066B80B2C}"/>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8746CE55-8E7A-33D2-0DD2-2F2936E7C98F}"/>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B1EBF436-5AC2-988C-A480-111F055F5DF6}"/>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1C37DB64-CC23-ACCF-7884-862DA855E57B}"/>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146E139A-A947-DF16-3E44-B7144DF45C58}"/>
              </a:ext>
            </a:extLst>
          </p:cNvPr>
          <p:cNvSpPr>
            <a:spLocks noGrp="1"/>
          </p:cNvSpPr>
          <p:nvPr>
            <p:ph type="title"/>
          </p:nvPr>
        </p:nvSpPr>
        <p:spPr>
          <a:xfrm>
            <a:off x="-2415" y="10956"/>
            <a:ext cx="7886700" cy="1325563"/>
          </a:xfrm>
        </p:spPr>
        <p:txBody>
          <a:bodyPr/>
          <a:lstStyle/>
          <a:p>
            <a:r>
              <a:rPr lang="vi-VN">
                <a:latin typeface="Times New Roman"/>
                <a:cs typeface="Times New Roman"/>
              </a:rPr>
              <a:t>Thiết lập huấn luyện</a:t>
            </a:r>
          </a:p>
        </p:txBody>
      </p:sp>
      <p:sp>
        <p:nvSpPr>
          <p:cNvPr id="9" name="Content Placeholder 2">
            <a:extLst>
              <a:ext uri="{FF2B5EF4-FFF2-40B4-BE49-F238E27FC236}">
                <a16:creationId xmlns:a16="http://schemas.microsoft.com/office/drawing/2014/main" id="{F7D4C123-F0D8-C36E-F45F-F1B5F1B1B843}"/>
              </a:ext>
            </a:extLst>
          </p:cNvPr>
          <p:cNvSpPr>
            <a:spLocks noGrp="1"/>
          </p:cNvSpPr>
          <p:nvPr>
            <p:ph idx="1"/>
          </p:nvPr>
        </p:nvSpPr>
        <p:spPr>
          <a:xfrm>
            <a:off x="-2415" y="1503653"/>
            <a:ext cx="9148829" cy="5188464"/>
          </a:xfrm>
        </p:spPr>
        <p:txBody>
          <a:bodyPr vert="horz" lIns="91440" tIns="45720" rIns="91440" bIns="45720" rtlCol="0" anchor="t">
            <a:normAutofit fontScale="92500" lnSpcReduction="10000"/>
          </a:bodyPr>
          <a:lstStyle/>
          <a:p>
            <a:pPr>
              <a:buFont typeface="Arial"/>
              <a:buChar char="•"/>
            </a:pPr>
            <a:r>
              <a:rPr lang="en-US" sz="2600" b="1">
                <a:solidFill>
                  <a:srgbClr val="373A3C"/>
                </a:solidFill>
                <a:ea typeface="+mn-lt"/>
                <a:cs typeface="+mn-lt"/>
              </a:rPr>
              <a:t>Công </a:t>
            </a:r>
            <a:r>
              <a:rPr lang="en-US" sz="2600" b="1" err="1">
                <a:solidFill>
                  <a:srgbClr val="373A3C"/>
                </a:solidFill>
                <a:ea typeface="+mn-lt"/>
                <a:cs typeface="+mn-lt"/>
              </a:rPr>
              <a:t>cụ</a:t>
            </a:r>
            <a:r>
              <a:rPr lang="en-US" sz="2600" b="1">
                <a:solidFill>
                  <a:srgbClr val="373A3C"/>
                </a:solidFill>
                <a:ea typeface="+mn-lt"/>
                <a:cs typeface="+mn-lt"/>
              </a:rPr>
              <a:t> </a:t>
            </a:r>
            <a:r>
              <a:rPr lang="en-US" sz="2600" b="1" err="1">
                <a:solidFill>
                  <a:srgbClr val="373A3C"/>
                </a:solidFill>
                <a:ea typeface="+mn-lt"/>
                <a:cs typeface="+mn-lt"/>
              </a:rPr>
              <a:t>quản</a:t>
            </a:r>
            <a:r>
              <a:rPr lang="en-US" sz="2600" b="1">
                <a:solidFill>
                  <a:srgbClr val="373A3C"/>
                </a:solidFill>
                <a:ea typeface="+mn-lt"/>
                <a:cs typeface="+mn-lt"/>
              </a:rPr>
              <a:t> lý huấn luyện:</a:t>
            </a:r>
            <a:endParaRPr lang="vi-VN" sz="2600">
              <a:solidFill>
                <a:srgbClr val="000000"/>
              </a:solidFill>
              <a:latin typeface="Arial"/>
              <a:ea typeface="+mn-lt"/>
              <a:cs typeface="Arial"/>
            </a:endParaRPr>
          </a:p>
          <a:p>
            <a:pPr lvl="1">
              <a:buFont typeface="Arial"/>
              <a:buChar char="•"/>
            </a:pPr>
            <a:r>
              <a:rPr lang="en-US" sz="2600" err="1">
                <a:solidFill>
                  <a:srgbClr val="373A3C"/>
                </a:solidFill>
                <a:ea typeface="+mn-lt"/>
                <a:cs typeface="+mn-lt"/>
              </a:rPr>
              <a:t>Sử</a:t>
            </a:r>
            <a:r>
              <a:rPr lang="en-US" sz="2600">
                <a:solidFill>
                  <a:srgbClr val="373A3C"/>
                </a:solidFill>
                <a:ea typeface="+mn-lt"/>
                <a:cs typeface="+mn-lt"/>
              </a:rPr>
              <a:t> </a:t>
            </a:r>
            <a:r>
              <a:rPr lang="en-US" sz="2600" err="1">
                <a:solidFill>
                  <a:srgbClr val="373A3C"/>
                </a:solidFill>
                <a:ea typeface="+mn-lt"/>
                <a:cs typeface="+mn-lt"/>
              </a:rPr>
              <a:t>dụng</a:t>
            </a:r>
            <a:r>
              <a:rPr lang="en-US" sz="2600">
                <a:solidFill>
                  <a:srgbClr val="373A3C"/>
                </a:solidFill>
                <a:ea typeface="+mn-lt"/>
                <a:cs typeface="+mn-lt"/>
              </a:rPr>
              <a:t> </a:t>
            </a:r>
            <a:r>
              <a:rPr lang="en-US" sz="2600" err="1">
                <a:solidFill>
                  <a:srgbClr val="373A3C"/>
                </a:solidFill>
                <a:ea typeface="+mn-lt"/>
                <a:cs typeface="+mn-lt"/>
              </a:rPr>
              <a:t>lớp</a:t>
            </a:r>
            <a:r>
              <a:rPr lang="en-US" sz="2600">
                <a:solidFill>
                  <a:srgbClr val="373A3C"/>
                </a:solidFill>
                <a:ea typeface="+mn-lt"/>
                <a:cs typeface="+mn-lt"/>
              </a:rPr>
              <a:t> </a:t>
            </a:r>
            <a:r>
              <a:rPr lang="en-US" sz="2600" b="1" err="1">
                <a:solidFill>
                  <a:srgbClr val="373A3C"/>
                </a:solidFill>
                <a:latin typeface="Consolas"/>
                <a:ea typeface="+mn-lt"/>
                <a:cs typeface="+mn-lt"/>
              </a:rPr>
              <a:t>SFTTrainer</a:t>
            </a:r>
            <a:r>
              <a:rPr lang="en-US" sz="2600">
                <a:solidFill>
                  <a:srgbClr val="373A3C"/>
                </a:solidFill>
                <a:ea typeface="+mn-lt"/>
                <a:cs typeface="+mn-lt"/>
              </a:rPr>
              <a:t> (</a:t>
            </a:r>
            <a:r>
              <a:rPr lang="en-US" sz="2600" err="1">
                <a:solidFill>
                  <a:srgbClr val="373A3C"/>
                </a:solidFill>
                <a:ea typeface="+mn-lt"/>
                <a:cs typeface="+mn-lt"/>
              </a:rPr>
              <a:t>từ</a:t>
            </a:r>
            <a:r>
              <a:rPr lang="en-US" sz="2600">
                <a:solidFill>
                  <a:srgbClr val="373A3C"/>
                </a:solidFill>
                <a:ea typeface="+mn-lt"/>
                <a:cs typeface="+mn-lt"/>
              </a:rPr>
              <a:t> </a:t>
            </a:r>
            <a:r>
              <a:rPr lang="en-US" sz="2600" err="1">
                <a:solidFill>
                  <a:srgbClr val="373A3C"/>
                </a:solidFill>
                <a:ea typeface="+mn-lt"/>
                <a:cs typeface="+mn-lt"/>
              </a:rPr>
              <a:t>thư</a:t>
            </a:r>
            <a:r>
              <a:rPr lang="en-US" sz="2600">
                <a:solidFill>
                  <a:srgbClr val="373A3C"/>
                </a:solidFill>
                <a:ea typeface="+mn-lt"/>
                <a:cs typeface="+mn-lt"/>
              </a:rPr>
              <a:t> </a:t>
            </a:r>
            <a:r>
              <a:rPr lang="en-US" sz="2600" err="1">
                <a:solidFill>
                  <a:srgbClr val="373A3C"/>
                </a:solidFill>
                <a:ea typeface="+mn-lt"/>
                <a:cs typeface="+mn-lt"/>
              </a:rPr>
              <a:t>viện</a:t>
            </a:r>
            <a:r>
              <a:rPr lang="en-US" sz="2600">
                <a:solidFill>
                  <a:srgbClr val="373A3C"/>
                </a:solidFill>
                <a:ea typeface="+mn-lt"/>
                <a:cs typeface="+mn-lt"/>
              </a:rPr>
              <a:t> TRL) </a:t>
            </a:r>
            <a:r>
              <a:rPr lang="en-US" sz="2600" err="1">
                <a:solidFill>
                  <a:srgbClr val="373A3C"/>
                </a:solidFill>
                <a:ea typeface="+mn-lt"/>
                <a:cs typeface="+mn-lt"/>
              </a:rPr>
              <a:t>thay</a:t>
            </a:r>
            <a:r>
              <a:rPr lang="en-US" sz="2600">
                <a:solidFill>
                  <a:srgbClr val="373A3C"/>
                </a:solidFill>
                <a:ea typeface="+mn-lt"/>
                <a:cs typeface="+mn-lt"/>
              </a:rPr>
              <a:t> </a:t>
            </a:r>
            <a:r>
              <a:rPr lang="en-US" sz="2600" err="1">
                <a:solidFill>
                  <a:srgbClr val="373A3C"/>
                </a:solidFill>
                <a:ea typeface="+mn-lt"/>
                <a:cs typeface="+mn-lt"/>
              </a:rPr>
              <a:t>vì</a:t>
            </a:r>
            <a:r>
              <a:rPr lang="en-US" sz="2600">
                <a:solidFill>
                  <a:srgbClr val="373A3C"/>
                </a:solidFill>
                <a:ea typeface="+mn-lt"/>
                <a:cs typeface="+mn-lt"/>
              </a:rPr>
              <a:t> </a:t>
            </a:r>
            <a:r>
              <a:rPr lang="en-US" sz="2600" err="1">
                <a:solidFill>
                  <a:srgbClr val="373A3C"/>
                </a:solidFill>
                <a:ea typeface="+mn-lt"/>
                <a:cs typeface="+mn-lt"/>
              </a:rPr>
              <a:t>viết</a:t>
            </a:r>
            <a:r>
              <a:rPr lang="en-US" sz="2600">
                <a:solidFill>
                  <a:srgbClr val="373A3C"/>
                </a:solidFill>
                <a:ea typeface="+mn-lt"/>
                <a:cs typeface="+mn-lt"/>
              </a:rPr>
              <a:t> </a:t>
            </a:r>
            <a:r>
              <a:rPr lang="en-US" sz="2600" err="1">
                <a:solidFill>
                  <a:srgbClr val="373A3C"/>
                </a:solidFill>
                <a:ea typeface="+mn-lt"/>
                <a:cs typeface="+mn-lt"/>
              </a:rPr>
              <a:t>vòng</a:t>
            </a:r>
            <a:r>
              <a:rPr lang="en-US" sz="2600">
                <a:solidFill>
                  <a:srgbClr val="373A3C"/>
                </a:solidFill>
                <a:ea typeface="+mn-lt"/>
                <a:cs typeface="+mn-lt"/>
              </a:rPr>
              <a:t> </a:t>
            </a:r>
            <a:r>
              <a:rPr lang="en-US" sz="2600" err="1">
                <a:solidFill>
                  <a:srgbClr val="373A3C"/>
                </a:solidFill>
                <a:ea typeface="+mn-lt"/>
                <a:cs typeface="+mn-lt"/>
              </a:rPr>
              <a:t>lặp</a:t>
            </a:r>
            <a:r>
              <a:rPr lang="en-US" sz="2600">
                <a:solidFill>
                  <a:srgbClr val="373A3C"/>
                </a:solidFill>
                <a:ea typeface="+mn-lt"/>
                <a:cs typeface="+mn-lt"/>
              </a:rPr>
              <a:t> </a:t>
            </a:r>
            <a:r>
              <a:rPr lang="en-US" sz="2600" err="1">
                <a:solidFill>
                  <a:srgbClr val="373A3C"/>
                </a:solidFill>
                <a:ea typeface="+mn-lt"/>
                <a:cs typeface="+mn-lt"/>
              </a:rPr>
              <a:t>thủ</a:t>
            </a:r>
            <a:r>
              <a:rPr lang="en-US" sz="2600">
                <a:solidFill>
                  <a:srgbClr val="373A3C"/>
                </a:solidFill>
                <a:ea typeface="+mn-lt"/>
                <a:cs typeface="+mn-lt"/>
              </a:rPr>
              <a:t> công</a:t>
            </a:r>
            <a:r>
              <a:rPr lang="en-US" sz="2600" baseline="30000">
                <a:solidFill>
                  <a:srgbClr val="373A3C"/>
                </a:solidFill>
                <a:ea typeface="+mn-lt"/>
                <a:cs typeface="+mn-lt"/>
              </a:rPr>
              <a:t>2</a:t>
            </a:r>
            <a:r>
              <a:rPr lang="en-US" sz="2600">
                <a:solidFill>
                  <a:srgbClr val="373A3C"/>
                </a:solidFill>
                <a:ea typeface="+mn-lt"/>
                <a:cs typeface="+mn-lt"/>
              </a:rPr>
              <a:t>.</a:t>
            </a:r>
            <a:endParaRPr lang="en-US" sz="2600">
              <a:ea typeface="+mn-lt"/>
              <a:cs typeface="+mn-lt"/>
            </a:endParaRPr>
          </a:p>
          <a:p>
            <a:pPr>
              <a:buFont typeface="Arial"/>
              <a:buChar char="•"/>
            </a:pPr>
            <a:r>
              <a:rPr lang="en-US" sz="2600" b="1">
                <a:solidFill>
                  <a:srgbClr val="373A3C"/>
                </a:solidFill>
                <a:ea typeface="+mn-lt"/>
                <a:cs typeface="+mn-lt"/>
              </a:rPr>
              <a:t>Lợi </a:t>
            </a:r>
            <a:r>
              <a:rPr lang="en-US" sz="2600" b="1" err="1">
                <a:solidFill>
                  <a:srgbClr val="373A3C"/>
                </a:solidFill>
                <a:ea typeface="+mn-lt"/>
                <a:cs typeface="+mn-lt"/>
              </a:rPr>
              <a:t>ích</a:t>
            </a:r>
            <a:r>
              <a:rPr lang="en-US" sz="2600" b="1">
                <a:solidFill>
                  <a:srgbClr val="373A3C"/>
                </a:solidFill>
                <a:ea typeface="+mn-lt"/>
                <a:cs typeface="+mn-lt"/>
              </a:rPr>
              <a:t>:</a:t>
            </a:r>
            <a:endParaRPr lang="en-US" sz="2600">
              <a:ea typeface="+mn-lt"/>
              <a:cs typeface="+mn-lt"/>
            </a:endParaRPr>
          </a:p>
          <a:p>
            <a:pPr lvl="1">
              <a:buFont typeface="Arial"/>
              <a:buChar char="•"/>
            </a:pPr>
            <a:r>
              <a:rPr lang="en-US" sz="2600" err="1">
                <a:solidFill>
                  <a:srgbClr val="373A3C"/>
                </a:solidFill>
                <a:ea typeface="+mn-lt"/>
                <a:cs typeface="+mn-lt"/>
              </a:rPr>
              <a:t>Chuẩn</a:t>
            </a:r>
            <a:r>
              <a:rPr lang="en-US" sz="2600">
                <a:solidFill>
                  <a:srgbClr val="373A3C"/>
                </a:solidFill>
                <a:ea typeface="+mn-lt"/>
                <a:cs typeface="+mn-lt"/>
              </a:rPr>
              <a:t> </a:t>
            </a:r>
            <a:r>
              <a:rPr lang="en-US" sz="2600" err="1">
                <a:solidFill>
                  <a:srgbClr val="373A3C"/>
                </a:solidFill>
                <a:ea typeface="+mn-lt"/>
                <a:cs typeface="+mn-lt"/>
              </a:rPr>
              <a:t>hóa</a:t>
            </a:r>
            <a:r>
              <a:rPr lang="en-US" sz="2600">
                <a:solidFill>
                  <a:srgbClr val="373A3C"/>
                </a:solidFill>
                <a:ea typeface="+mn-lt"/>
                <a:cs typeface="+mn-lt"/>
              </a:rPr>
              <a:t> </a:t>
            </a:r>
            <a:r>
              <a:rPr lang="en-US" sz="2600" err="1">
                <a:solidFill>
                  <a:srgbClr val="373A3C"/>
                </a:solidFill>
                <a:ea typeface="+mn-lt"/>
                <a:cs typeface="+mn-lt"/>
              </a:rPr>
              <a:t>quy</a:t>
            </a:r>
            <a:r>
              <a:rPr lang="en-US" sz="2600">
                <a:solidFill>
                  <a:srgbClr val="373A3C"/>
                </a:solidFill>
                <a:ea typeface="+mn-lt"/>
                <a:cs typeface="+mn-lt"/>
              </a:rPr>
              <a:t> </a:t>
            </a:r>
            <a:r>
              <a:rPr lang="en-US" sz="2600" err="1">
                <a:solidFill>
                  <a:srgbClr val="373A3C"/>
                </a:solidFill>
                <a:ea typeface="+mn-lt"/>
                <a:cs typeface="+mn-lt"/>
              </a:rPr>
              <a:t>trình</a:t>
            </a:r>
            <a:r>
              <a:rPr lang="en-US" sz="2600">
                <a:solidFill>
                  <a:srgbClr val="373A3C"/>
                </a:solidFill>
                <a:ea typeface="+mn-lt"/>
                <a:cs typeface="+mn-lt"/>
              </a:rPr>
              <a:t> (Forward -&gt; Backward -&gt; Optimize).</a:t>
            </a:r>
            <a:endParaRPr lang="en-US" sz="2600">
              <a:ea typeface="Calibri"/>
              <a:cs typeface="Calibri"/>
            </a:endParaRPr>
          </a:p>
          <a:p>
            <a:pPr lvl="1">
              <a:buFont typeface="Arial"/>
              <a:buChar char="•"/>
            </a:pPr>
            <a:r>
              <a:rPr lang="en-US" sz="2600" err="1">
                <a:solidFill>
                  <a:srgbClr val="373A3C"/>
                </a:solidFill>
                <a:ea typeface="+mn-lt"/>
                <a:cs typeface="+mn-lt"/>
              </a:rPr>
              <a:t>Giảm</a:t>
            </a:r>
            <a:r>
              <a:rPr lang="en-US" sz="2600">
                <a:solidFill>
                  <a:srgbClr val="373A3C"/>
                </a:solidFill>
                <a:ea typeface="+mn-lt"/>
                <a:cs typeface="+mn-lt"/>
              </a:rPr>
              <a:t> </a:t>
            </a:r>
            <a:r>
              <a:rPr lang="en-US" sz="2600" err="1">
                <a:solidFill>
                  <a:srgbClr val="373A3C"/>
                </a:solidFill>
                <a:ea typeface="+mn-lt"/>
                <a:cs typeface="+mn-lt"/>
              </a:rPr>
              <a:t>thiểu</a:t>
            </a:r>
            <a:r>
              <a:rPr lang="en-US" sz="2600">
                <a:solidFill>
                  <a:srgbClr val="373A3C"/>
                </a:solidFill>
                <a:ea typeface="+mn-lt"/>
                <a:cs typeface="+mn-lt"/>
              </a:rPr>
              <a:t> </a:t>
            </a:r>
            <a:r>
              <a:rPr lang="en-US" sz="2600" err="1">
                <a:solidFill>
                  <a:srgbClr val="373A3C"/>
                </a:solidFill>
                <a:ea typeface="+mn-lt"/>
                <a:cs typeface="+mn-lt"/>
              </a:rPr>
              <a:t>lỗi</a:t>
            </a:r>
            <a:r>
              <a:rPr lang="en-US" sz="2600">
                <a:solidFill>
                  <a:srgbClr val="373A3C"/>
                </a:solidFill>
                <a:ea typeface="+mn-lt"/>
                <a:cs typeface="+mn-lt"/>
              </a:rPr>
              <a:t> </a:t>
            </a:r>
            <a:r>
              <a:rPr lang="en-US" sz="2600" err="1">
                <a:solidFill>
                  <a:srgbClr val="373A3C"/>
                </a:solidFill>
                <a:ea typeface="+mn-lt"/>
                <a:cs typeface="+mn-lt"/>
              </a:rPr>
              <a:t>kỹ</a:t>
            </a:r>
            <a:r>
              <a:rPr lang="en-US" sz="2600">
                <a:solidFill>
                  <a:srgbClr val="373A3C"/>
                </a:solidFill>
                <a:ea typeface="+mn-lt"/>
                <a:cs typeface="+mn-lt"/>
              </a:rPr>
              <a:t> </a:t>
            </a:r>
            <a:r>
              <a:rPr lang="en-US" sz="2600" err="1">
                <a:solidFill>
                  <a:srgbClr val="373A3C"/>
                </a:solidFill>
                <a:ea typeface="+mn-lt"/>
                <a:cs typeface="+mn-lt"/>
              </a:rPr>
              <a:t>thuật</a:t>
            </a:r>
            <a:r>
              <a:rPr lang="en-US" sz="2600">
                <a:solidFill>
                  <a:srgbClr val="373A3C"/>
                </a:solidFill>
                <a:ea typeface="+mn-lt"/>
                <a:cs typeface="+mn-lt"/>
              </a:rPr>
              <a:t> </a:t>
            </a:r>
            <a:r>
              <a:rPr lang="en-US" sz="2600" err="1">
                <a:solidFill>
                  <a:srgbClr val="373A3C"/>
                </a:solidFill>
                <a:ea typeface="+mn-lt"/>
                <a:cs typeface="+mn-lt"/>
              </a:rPr>
              <a:t>trong</a:t>
            </a:r>
            <a:r>
              <a:rPr lang="en-US" sz="2600">
                <a:solidFill>
                  <a:srgbClr val="373A3C"/>
                </a:solidFill>
                <a:ea typeface="+mn-lt"/>
                <a:cs typeface="+mn-lt"/>
              </a:rPr>
              <a:t> </a:t>
            </a:r>
            <a:r>
              <a:rPr lang="en-US" sz="2600" err="1">
                <a:solidFill>
                  <a:srgbClr val="373A3C"/>
                </a:solidFill>
                <a:ea typeface="+mn-lt"/>
                <a:cs typeface="+mn-lt"/>
              </a:rPr>
              <a:t>tính</a:t>
            </a:r>
            <a:r>
              <a:rPr lang="en-US" sz="2600">
                <a:solidFill>
                  <a:srgbClr val="373A3C"/>
                </a:solidFill>
                <a:ea typeface="+mn-lt"/>
                <a:cs typeface="+mn-lt"/>
              </a:rPr>
              <a:t> </a:t>
            </a:r>
            <a:r>
              <a:rPr lang="en-US" sz="2600" err="1">
                <a:solidFill>
                  <a:srgbClr val="373A3C"/>
                </a:solidFill>
                <a:ea typeface="+mn-lt"/>
                <a:cs typeface="+mn-lt"/>
              </a:rPr>
              <a:t>toán</a:t>
            </a:r>
            <a:r>
              <a:rPr lang="en-US" sz="2600">
                <a:solidFill>
                  <a:srgbClr val="373A3C"/>
                </a:solidFill>
                <a:ea typeface="+mn-lt"/>
                <a:cs typeface="+mn-lt"/>
              </a:rPr>
              <a:t> gradient.</a:t>
            </a:r>
            <a:endParaRPr lang="en-US" sz="2600">
              <a:ea typeface="Calibri"/>
              <a:cs typeface="Calibri"/>
            </a:endParaRPr>
          </a:p>
          <a:p>
            <a:pPr lvl="1">
              <a:buFont typeface="Arial"/>
              <a:buChar char="•"/>
            </a:pPr>
            <a:r>
              <a:rPr lang="en-US" sz="2600" err="1">
                <a:solidFill>
                  <a:srgbClr val="373A3C"/>
                </a:solidFill>
                <a:ea typeface="+mn-lt"/>
                <a:cs typeface="+mn-lt"/>
              </a:rPr>
              <a:t>Đảm</a:t>
            </a:r>
            <a:r>
              <a:rPr lang="en-US" sz="2600">
                <a:solidFill>
                  <a:srgbClr val="373A3C"/>
                </a:solidFill>
                <a:ea typeface="+mn-lt"/>
                <a:cs typeface="+mn-lt"/>
              </a:rPr>
              <a:t> </a:t>
            </a:r>
            <a:r>
              <a:rPr lang="en-US" sz="2600" err="1">
                <a:solidFill>
                  <a:srgbClr val="373A3C"/>
                </a:solidFill>
                <a:ea typeface="+mn-lt"/>
                <a:cs typeface="+mn-lt"/>
              </a:rPr>
              <a:t>bảo</a:t>
            </a:r>
            <a:r>
              <a:rPr lang="en-US" sz="2600">
                <a:solidFill>
                  <a:srgbClr val="373A3C"/>
                </a:solidFill>
                <a:ea typeface="+mn-lt"/>
                <a:cs typeface="+mn-lt"/>
              </a:rPr>
              <a:t> </a:t>
            </a:r>
            <a:r>
              <a:rPr lang="en-US" sz="2600" err="1">
                <a:solidFill>
                  <a:srgbClr val="373A3C"/>
                </a:solidFill>
                <a:ea typeface="+mn-lt"/>
                <a:cs typeface="+mn-lt"/>
              </a:rPr>
              <a:t>tính</a:t>
            </a:r>
            <a:r>
              <a:rPr lang="en-US" sz="2600">
                <a:solidFill>
                  <a:srgbClr val="373A3C"/>
                </a:solidFill>
                <a:ea typeface="+mn-lt"/>
                <a:cs typeface="+mn-lt"/>
              </a:rPr>
              <a:t> </a:t>
            </a:r>
            <a:r>
              <a:rPr lang="en-US" sz="2600" err="1">
                <a:solidFill>
                  <a:srgbClr val="373A3C"/>
                </a:solidFill>
                <a:ea typeface="+mn-lt"/>
                <a:cs typeface="+mn-lt"/>
              </a:rPr>
              <a:t>nhất</a:t>
            </a:r>
            <a:r>
              <a:rPr lang="en-US" sz="2600">
                <a:solidFill>
                  <a:srgbClr val="373A3C"/>
                </a:solidFill>
                <a:ea typeface="+mn-lt"/>
                <a:cs typeface="+mn-lt"/>
              </a:rPr>
              <a:t> </a:t>
            </a:r>
            <a:r>
              <a:rPr lang="en-US" sz="2600" err="1">
                <a:solidFill>
                  <a:srgbClr val="373A3C"/>
                </a:solidFill>
                <a:ea typeface="+mn-lt"/>
                <a:cs typeface="+mn-lt"/>
              </a:rPr>
              <a:t>quán</a:t>
            </a:r>
            <a:r>
              <a:rPr lang="en-US" sz="2600">
                <a:solidFill>
                  <a:srgbClr val="373A3C"/>
                </a:solidFill>
                <a:ea typeface="+mn-lt"/>
                <a:cs typeface="+mn-lt"/>
              </a:rPr>
              <a:t> </a:t>
            </a:r>
            <a:r>
              <a:rPr lang="en-US" sz="2600" err="1">
                <a:solidFill>
                  <a:srgbClr val="373A3C"/>
                </a:solidFill>
                <a:ea typeface="+mn-lt"/>
                <a:cs typeface="+mn-lt"/>
              </a:rPr>
              <a:t>tuyệt</a:t>
            </a:r>
            <a:r>
              <a:rPr lang="en-US" sz="2600">
                <a:solidFill>
                  <a:srgbClr val="373A3C"/>
                </a:solidFill>
                <a:ea typeface="+mn-lt"/>
                <a:cs typeface="+mn-lt"/>
              </a:rPr>
              <a:t> </a:t>
            </a:r>
            <a:r>
              <a:rPr lang="en-US" sz="2600" err="1">
                <a:solidFill>
                  <a:srgbClr val="373A3C"/>
                </a:solidFill>
                <a:ea typeface="+mn-lt"/>
                <a:cs typeface="+mn-lt"/>
              </a:rPr>
              <a:t>đối</a:t>
            </a:r>
            <a:r>
              <a:rPr lang="en-US" sz="2600">
                <a:solidFill>
                  <a:srgbClr val="373A3C"/>
                </a:solidFill>
                <a:ea typeface="+mn-lt"/>
                <a:cs typeface="+mn-lt"/>
              </a:rPr>
              <a:t> </a:t>
            </a:r>
            <a:r>
              <a:rPr lang="en-US" sz="2600" err="1">
                <a:solidFill>
                  <a:srgbClr val="373A3C"/>
                </a:solidFill>
                <a:ea typeface="+mn-lt"/>
                <a:cs typeface="+mn-lt"/>
              </a:rPr>
              <a:t>giữa</a:t>
            </a:r>
            <a:r>
              <a:rPr lang="en-US" sz="2600">
                <a:solidFill>
                  <a:srgbClr val="373A3C"/>
                </a:solidFill>
                <a:ea typeface="+mn-lt"/>
                <a:cs typeface="+mn-lt"/>
              </a:rPr>
              <a:t> </a:t>
            </a:r>
            <a:r>
              <a:rPr lang="en-US" sz="2600" err="1">
                <a:solidFill>
                  <a:srgbClr val="373A3C"/>
                </a:solidFill>
                <a:ea typeface="+mn-lt"/>
                <a:cs typeface="+mn-lt"/>
              </a:rPr>
              <a:t>các</a:t>
            </a:r>
            <a:r>
              <a:rPr lang="en-US" sz="2600">
                <a:solidFill>
                  <a:srgbClr val="373A3C"/>
                </a:solidFill>
                <a:ea typeface="+mn-lt"/>
                <a:cs typeface="+mn-lt"/>
              </a:rPr>
              <a:t> </a:t>
            </a:r>
            <a:r>
              <a:rPr lang="en-US" sz="2600" err="1">
                <a:solidFill>
                  <a:srgbClr val="373A3C"/>
                </a:solidFill>
                <a:ea typeface="+mn-lt"/>
                <a:cs typeface="+mn-lt"/>
              </a:rPr>
              <a:t>lần</a:t>
            </a:r>
            <a:r>
              <a:rPr lang="en-US" sz="2600">
                <a:solidFill>
                  <a:srgbClr val="373A3C"/>
                </a:solidFill>
                <a:ea typeface="+mn-lt"/>
                <a:cs typeface="+mn-lt"/>
              </a:rPr>
              <a:t> </a:t>
            </a:r>
            <a:r>
              <a:rPr lang="en-US" sz="2600" err="1">
                <a:solidFill>
                  <a:srgbClr val="373A3C"/>
                </a:solidFill>
                <a:ea typeface="+mn-lt"/>
                <a:cs typeface="+mn-lt"/>
              </a:rPr>
              <a:t>chạy</a:t>
            </a:r>
            <a:r>
              <a:rPr lang="en-US" sz="2600">
                <a:solidFill>
                  <a:srgbClr val="373A3C"/>
                </a:solidFill>
                <a:ea typeface="+mn-lt"/>
                <a:cs typeface="+mn-lt"/>
              </a:rPr>
              <a:t> </a:t>
            </a:r>
            <a:r>
              <a:rPr lang="en-US" sz="2600" err="1">
                <a:solidFill>
                  <a:srgbClr val="373A3C"/>
                </a:solidFill>
                <a:ea typeface="+mn-lt"/>
                <a:cs typeface="+mn-lt"/>
              </a:rPr>
              <a:t>thử</a:t>
            </a:r>
            <a:r>
              <a:rPr lang="en-US" sz="2600">
                <a:solidFill>
                  <a:srgbClr val="373A3C"/>
                </a:solidFill>
                <a:ea typeface="+mn-lt"/>
                <a:cs typeface="+mn-lt"/>
              </a:rPr>
              <a:t> nghiệm.</a:t>
            </a:r>
            <a:endParaRPr lang="en-US" sz="2600">
              <a:ea typeface="Calibri"/>
              <a:cs typeface="Calibri"/>
            </a:endParaRPr>
          </a:p>
          <a:p>
            <a:pPr>
              <a:buFont typeface="Arial"/>
              <a:buChar char="•"/>
            </a:pPr>
            <a:r>
              <a:rPr lang="en-US" sz="2600">
                <a:solidFill>
                  <a:srgbClr val="373A3C"/>
                </a:solidFill>
                <a:ea typeface="+mn-lt"/>
                <a:cs typeface="+mn-lt"/>
              </a:rPr>
              <a:t>Thiết </a:t>
            </a:r>
            <a:r>
              <a:rPr lang="en-US" sz="2600" err="1">
                <a:solidFill>
                  <a:srgbClr val="373A3C"/>
                </a:solidFill>
                <a:ea typeface="+mn-lt"/>
                <a:cs typeface="+mn-lt"/>
              </a:rPr>
              <a:t>kế</a:t>
            </a:r>
            <a:r>
              <a:rPr lang="en-US" sz="2600">
                <a:solidFill>
                  <a:srgbClr val="373A3C"/>
                </a:solidFill>
                <a:ea typeface="+mn-lt"/>
                <a:cs typeface="+mn-lt"/>
              </a:rPr>
              <a:t> </a:t>
            </a:r>
            <a:r>
              <a:rPr lang="en-US" sz="2600" err="1">
                <a:solidFill>
                  <a:srgbClr val="373A3C"/>
                </a:solidFill>
                <a:ea typeface="+mn-lt"/>
                <a:cs typeface="+mn-lt"/>
              </a:rPr>
              <a:t>thực</a:t>
            </a:r>
            <a:r>
              <a:rPr lang="en-US" sz="2600">
                <a:solidFill>
                  <a:srgbClr val="373A3C"/>
                </a:solidFill>
                <a:ea typeface="+mn-lt"/>
                <a:cs typeface="+mn-lt"/>
              </a:rPr>
              <a:t> </a:t>
            </a:r>
            <a:r>
              <a:rPr lang="en-US" sz="2600" err="1">
                <a:solidFill>
                  <a:srgbClr val="373A3C"/>
                </a:solidFill>
                <a:ea typeface="+mn-lt"/>
                <a:cs typeface="+mn-lt"/>
              </a:rPr>
              <a:t>nghiệm</a:t>
            </a:r>
            <a:r>
              <a:rPr lang="en-US" sz="2600">
                <a:solidFill>
                  <a:srgbClr val="373A3C"/>
                </a:solidFill>
                <a:ea typeface="+mn-lt"/>
                <a:cs typeface="+mn-lt"/>
              </a:rPr>
              <a:t> (2 </a:t>
            </a:r>
            <a:r>
              <a:rPr lang="en-US" sz="2600" err="1">
                <a:solidFill>
                  <a:srgbClr val="373A3C"/>
                </a:solidFill>
                <a:ea typeface="+mn-lt"/>
                <a:cs typeface="+mn-lt"/>
              </a:rPr>
              <a:t>giai</a:t>
            </a:r>
            <a:r>
              <a:rPr lang="en-US" sz="2600">
                <a:solidFill>
                  <a:srgbClr val="373A3C"/>
                </a:solidFill>
                <a:ea typeface="+mn-lt"/>
                <a:cs typeface="+mn-lt"/>
              </a:rPr>
              <a:t> </a:t>
            </a:r>
            <a:r>
              <a:rPr lang="en-US" sz="2600" err="1">
                <a:solidFill>
                  <a:srgbClr val="373A3C"/>
                </a:solidFill>
                <a:ea typeface="+mn-lt"/>
                <a:cs typeface="+mn-lt"/>
              </a:rPr>
              <a:t>đoạn</a:t>
            </a:r>
            <a:r>
              <a:rPr lang="en-US" sz="2600">
                <a:solidFill>
                  <a:srgbClr val="373A3C"/>
                </a:solidFill>
                <a:ea typeface="+mn-lt"/>
                <a:cs typeface="+mn-lt"/>
              </a:rPr>
              <a:t>):</a:t>
            </a:r>
            <a:endParaRPr lang="en-US" sz="2600">
              <a:ea typeface="Calibri"/>
              <a:cs typeface="Calibri"/>
            </a:endParaRPr>
          </a:p>
          <a:p>
            <a:pPr lvl="1">
              <a:buFont typeface="Arial"/>
              <a:buChar char="•"/>
            </a:pPr>
            <a:r>
              <a:rPr lang="en-US" sz="2600" err="1">
                <a:solidFill>
                  <a:srgbClr val="373A3C"/>
                </a:solidFill>
                <a:ea typeface="+mn-lt"/>
                <a:cs typeface="+mn-lt"/>
              </a:rPr>
              <a:t>Để</a:t>
            </a:r>
            <a:r>
              <a:rPr lang="en-US" sz="2600">
                <a:solidFill>
                  <a:srgbClr val="373A3C"/>
                </a:solidFill>
                <a:ea typeface="+mn-lt"/>
                <a:cs typeface="+mn-lt"/>
              </a:rPr>
              <a:t> </a:t>
            </a:r>
            <a:r>
              <a:rPr lang="en-US" sz="2600" err="1">
                <a:solidFill>
                  <a:srgbClr val="373A3C"/>
                </a:solidFill>
                <a:ea typeface="+mn-lt"/>
                <a:cs typeface="+mn-lt"/>
              </a:rPr>
              <a:t>đánh</a:t>
            </a:r>
            <a:r>
              <a:rPr lang="en-US" sz="2600">
                <a:solidFill>
                  <a:srgbClr val="373A3C"/>
                </a:solidFill>
                <a:ea typeface="+mn-lt"/>
                <a:cs typeface="+mn-lt"/>
              </a:rPr>
              <a:t> </a:t>
            </a:r>
            <a:r>
              <a:rPr lang="en-US" sz="2600" err="1">
                <a:solidFill>
                  <a:srgbClr val="373A3C"/>
                </a:solidFill>
                <a:ea typeface="+mn-lt"/>
                <a:cs typeface="+mn-lt"/>
              </a:rPr>
              <a:t>giá</a:t>
            </a:r>
            <a:r>
              <a:rPr lang="en-US" sz="2600">
                <a:solidFill>
                  <a:srgbClr val="373A3C"/>
                </a:solidFill>
                <a:ea typeface="+mn-lt"/>
                <a:cs typeface="+mn-lt"/>
              </a:rPr>
              <a:t> </a:t>
            </a:r>
            <a:r>
              <a:rPr lang="en-US" sz="2600" err="1">
                <a:solidFill>
                  <a:srgbClr val="373A3C"/>
                </a:solidFill>
                <a:ea typeface="+mn-lt"/>
                <a:cs typeface="+mn-lt"/>
              </a:rPr>
              <a:t>công</a:t>
            </a:r>
            <a:r>
              <a:rPr lang="en-US" sz="2600">
                <a:solidFill>
                  <a:srgbClr val="373A3C"/>
                </a:solidFill>
                <a:ea typeface="+mn-lt"/>
                <a:cs typeface="+mn-lt"/>
              </a:rPr>
              <a:t> </a:t>
            </a:r>
            <a:r>
              <a:rPr lang="en-US" sz="2600" err="1">
                <a:solidFill>
                  <a:srgbClr val="373A3C"/>
                </a:solidFill>
                <a:ea typeface="+mn-lt"/>
                <a:cs typeface="+mn-lt"/>
              </a:rPr>
              <a:t>bằng</a:t>
            </a:r>
            <a:r>
              <a:rPr lang="en-US" sz="2600">
                <a:solidFill>
                  <a:srgbClr val="373A3C"/>
                </a:solidFill>
                <a:ea typeface="+mn-lt"/>
                <a:cs typeface="+mn-lt"/>
              </a:rPr>
              <a:t> </a:t>
            </a:r>
            <a:r>
              <a:rPr lang="en-US" sz="2600" err="1">
                <a:solidFill>
                  <a:srgbClr val="373A3C"/>
                </a:solidFill>
                <a:ea typeface="+mn-lt"/>
                <a:cs typeface="+mn-lt"/>
              </a:rPr>
              <a:t>tác</a:t>
            </a:r>
            <a:r>
              <a:rPr lang="en-US" sz="2600">
                <a:solidFill>
                  <a:srgbClr val="373A3C"/>
                </a:solidFill>
                <a:ea typeface="+mn-lt"/>
                <a:cs typeface="+mn-lt"/>
              </a:rPr>
              <a:t> </a:t>
            </a:r>
            <a:r>
              <a:rPr lang="en-US" sz="2600" err="1">
                <a:solidFill>
                  <a:srgbClr val="373A3C"/>
                </a:solidFill>
                <a:ea typeface="+mn-lt"/>
                <a:cs typeface="+mn-lt"/>
              </a:rPr>
              <a:t>động</a:t>
            </a:r>
            <a:r>
              <a:rPr lang="en-US" sz="2600">
                <a:solidFill>
                  <a:srgbClr val="373A3C"/>
                </a:solidFill>
                <a:ea typeface="+mn-lt"/>
                <a:cs typeface="+mn-lt"/>
              </a:rPr>
              <a:t> </a:t>
            </a:r>
            <a:r>
              <a:rPr lang="en-US" sz="2600" err="1">
                <a:solidFill>
                  <a:srgbClr val="373A3C"/>
                </a:solidFill>
                <a:ea typeface="+mn-lt"/>
                <a:cs typeface="+mn-lt"/>
              </a:rPr>
              <a:t>của</a:t>
            </a:r>
            <a:r>
              <a:rPr lang="en-US" sz="2600">
                <a:solidFill>
                  <a:srgbClr val="373A3C"/>
                </a:solidFill>
                <a:ea typeface="+mn-lt"/>
                <a:cs typeface="+mn-lt"/>
              </a:rPr>
              <a:t> </a:t>
            </a:r>
            <a:r>
              <a:rPr lang="en-US" sz="2600" err="1">
                <a:solidFill>
                  <a:srgbClr val="373A3C"/>
                </a:solidFill>
                <a:ea typeface="+mn-lt"/>
                <a:cs typeface="+mn-lt"/>
              </a:rPr>
              <a:t>dữ</a:t>
            </a:r>
            <a:r>
              <a:rPr lang="en-US" sz="2600">
                <a:solidFill>
                  <a:srgbClr val="373A3C"/>
                </a:solidFill>
                <a:ea typeface="+mn-lt"/>
                <a:cs typeface="+mn-lt"/>
              </a:rPr>
              <a:t> </a:t>
            </a:r>
            <a:r>
              <a:rPr lang="en-US" sz="2600" err="1">
                <a:solidFill>
                  <a:srgbClr val="373A3C"/>
                </a:solidFill>
                <a:ea typeface="+mn-lt"/>
                <a:cs typeface="+mn-lt"/>
              </a:rPr>
              <a:t>liệu</a:t>
            </a:r>
            <a:r>
              <a:rPr lang="en-US" sz="2600">
                <a:solidFill>
                  <a:srgbClr val="373A3C"/>
                </a:solidFill>
                <a:ea typeface="+mn-lt"/>
                <a:cs typeface="+mn-lt"/>
              </a:rPr>
              <a:t>, </a:t>
            </a:r>
            <a:r>
              <a:rPr lang="en-US" sz="2600" err="1">
                <a:solidFill>
                  <a:srgbClr val="373A3C"/>
                </a:solidFill>
                <a:ea typeface="+mn-lt"/>
                <a:cs typeface="+mn-lt"/>
              </a:rPr>
              <a:t>nhóm</a:t>
            </a:r>
            <a:r>
              <a:rPr lang="en-US" sz="2600">
                <a:solidFill>
                  <a:srgbClr val="373A3C"/>
                </a:solidFill>
                <a:ea typeface="+mn-lt"/>
                <a:cs typeface="+mn-lt"/>
              </a:rPr>
              <a:t> </a:t>
            </a:r>
            <a:r>
              <a:rPr lang="en-US" sz="2600" err="1">
                <a:solidFill>
                  <a:srgbClr val="373A3C"/>
                </a:solidFill>
                <a:ea typeface="+mn-lt"/>
                <a:cs typeface="+mn-lt"/>
              </a:rPr>
              <a:t>thực</a:t>
            </a:r>
            <a:r>
              <a:rPr lang="en-US" sz="2600">
                <a:solidFill>
                  <a:srgbClr val="373A3C"/>
                </a:solidFill>
                <a:ea typeface="+mn-lt"/>
                <a:cs typeface="+mn-lt"/>
              </a:rPr>
              <a:t> </a:t>
            </a:r>
            <a:r>
              <a:rPr lang="en-US" sz="2600" err="1">
                <a:solidFill>
                  <a:srgbClr val="373A3C"/>
                </a:solidFill>
                <a:ea typeface="+mn-lt"/>
                <a:cs typeface="+mn-lt"/>
              </a:rPr>
              <a:t>hiện</a:t>
            </a:r>
            <a:r>
              <a:rPr lang="en-US" sz="2600">
                <a:solidFill>
                  <a:srgbClr val="373A3C"/>
                </a:solidFill>
                <a:ea typeface="+mn-lt"/>
                <a:cs typeface="+mn-lt"/>
              </a:rPr>
              <a:t> 2 </a:t>
            </a:r>
            <a:r>
              <a:rPr lang="en-US" sz="2600" err="1">
                <a:solidFill>
                  <a:srgbClr val="373A3C"/>
                </a:solidFill>
                <a:ea typeface="+mn-lt"/>
                <a:cs typeface="+mn-lt"/>
              </a:rPr>
              <a:t>quy</a:t>
            </a:r>
            <a:r>
              <a:rPr lang="en-US" sz="2600">
                <a:solidFill>
                  <a:srgbClr val="373A3C"/>
                </a:solidFill>
                <a:ea typeface="+mn-lt"/>
                <a:cs typeface="+mn-lt"/>
              </a:rPr>
              <a:t> </a:t>
            </a:r>
            <a:r>
              <a:rPr lang="en-US" sz="2600" err="1">
                <a:solidFill>
                  <a:srgbClr val="373A3C"/>
                </a:solidFill>
                <a:ea typeface="+mn-lt"/>
                <a:cs typeface="+mn-lt"/>
              </a:rPr>
              <a:t>trình</a:t>
            </a:r>
            <a:r>
              <a:rPr lang="en-US" sz="2600">
                <a:solidFill>
                  <a:srgbClr val="373A3C"/>
                </a:solidFill>
                <a:ea typeface="+mn-lt"/>
                <a:cs typeface="+mn-lt"/>
              </a:rPr>
              <a:t> </a:t>
            </a:r>
            <a:r>
              <a:rPr lang="en-US" sz="2600" err="1">
                <a:solidFill>
                  <a:srgbClr val="373A3C"/>
                </a:solidFill>
                <a:ea typeface="+mn-lt"/>
                <a:cs typeface="+mn-lt"/>
              </a:rPr>
              <a:t>huấn</a:t>
            </a:r>
            <a:r>
              <a:rPr lang="en-US" sz="2600">
                <a:solidFill>
                  <a:srgbClr val="373A3C"/>
                </a:solidFill>
                <a:ea typeface="+mn-lt"/>
                <a:cs typeface="+mn-lt"/>
              </a:rPr>
              <a:t> </a:t>
            </a:r>
            <a:r>
              <a:rPr lang="en-US" sz="2600" err="1">
                <a:solidFill>
                  <a:srgbClr val="373A3C"/>
                </a:solidFill>
                <a:ea typeface="+mn-lt"/>
                <a:cs typeface="+mn-lt"/>
              </a:rPr>
              <a:t>luyện</a:t>
            </a:r>
            <a:r>
              <a:rPr lang="en-US" sz="2600">
                <a:solidFill>
                  <a:srgbClr val="373A3C"/>
                </a:solidFill>
                <a:ea typeface="+mn-lt"/>
                <a:cs typeface="+mn-lt"/>
              </a:rPr>
              <a:t> </a:t>
            </a:r>
            <a:r>
              <a:rPr lang="en-US" sz="2600" err="1">
                <a:solidFill>
                  <a:srgbClr val="373A3C"/>
                </a:solidFill>
                <a:ea typeface="+mn-lt"/>
                <a:cs typeface="+mn-lt"/>
              </a:rPr>
              <a:t>độc</a:t>
            </a:r>
            <a:r>
              <a:rPr lang="en-US" sz="2600">
                <a:solidFill>
                  <a:srgbClr val="373A3C"/>
                </a:solidFill>
                <a:ea typeface="+mn-lt"/>
                <a:cs typeface="+mn-lt"/>
              </a:rPr>
              <a:t> </a:t>
            </a:r>
            <a:r>
              <a:rPr lang="en-US" sz="2600" err="1">
                <a:solidFill>
                  <a:srgbClr val="373A3C"/>
                </a:solidFill>
                <a:ea typeface="+mn-lt"/>
                <a:cs typeface="+mn-lt"/>
              </a:rPr>
              <a:t>lập</a:t>
            </a:r>
            <a:r>
              <a:rPr lang="en-US" sz="2600">
                <a:solidFill>
                  <a:srgbClr val="373A3C"/>
                </a:solidFill>
                <a:ea typeface="+mn-lt"/>
                <a:cs typeface="+mn-lt"/>
              </a:rPr>
              <a:t> </a:t>
            </a:r>
            <a:r>
              <a:rPr lang="en-US" sz="2600" err="1">
                <a:solidFill>
                  <a:srgbClr val="373A3C"/>
                </a:solidFill>
                <a:ea typeface="+mn-lt"/>
                <a:cs typeface="+mn-lt"/>
              </a:rPr>
              <a:t>với</a:t>
            </a:r>
            <a:r>
              <a:rPr lang="en-US" sz="2600">
                <a:solidFill>
                  <a:srgbClr val="373A3C"/>
                </a:solidFill>
                <a:ea typeface="+mn-lt"/>
                <a:cs typeface="+mn-lt"/>
              </a:rPr>
              <a:t> </a:t>
            </a:r>
            <a:r>
              <a:rPr lang="en-US" sz="2600" err="1">
                <a:solidFill>
                  <a:srgbClr val="373A3C"/>
                </a:solidFill>
                <a:ea typeface="+mn-lt"/>
                <a:cs typeface="+mn-lt"/>
              </a:rPr>
              <a:t>cùng</a:t>
            </a:r>
            <a:r>
              <a:rPr lang="en-US" sz="2600">
                <a:solidFill>
                  <a:srgbClr val="373A3C"/>
                </a:solidFill>
                <a:ea typeface="+mn-lt"/>
                <a:cs typeface="+mn-lt"/>
              </a:rPr>
              <a:t> </a:t>
            </a:r>
            <a:r>
              <a:rPr lang="en-US" sz="2600" err="1">
                <a:solidFill>
                  <a:srgbClr val="373A3C"/>
                </a:solidFill>
                <a:ea typeface="+mn-lt"/>
                <a:cs typeface="+mn-lt"/>
              </a:rPr>
              <a:t>bộ</a:t>
            </a:r>
            <a:r>
              <a:rPr lang="en-US" sz="2600">
                <a:solidFill>
                  <a:srgbClr val="373A3C"/>
                </a:solidFill>
                <a:ea typeface="+mn-lt"/>
                <a:cs typeface="+mn-lt"/>
              </a:rPr>
              <a:t> </a:t>
            </a:r>
            <a:r>
              <a:rPr lang="en-US" sz="2600" err="1">
                <a:solidFill>
                  <a:srgbClr val="373A3C"/>
                </a:solidFill>
                <a:ea typeface="+mn-lt"/>
                <a:cs typeface="+mn-lt"/>
              </a:rPr>
              <a:t>tham</a:t>
            </a:r>
            <a:r>
              <a:rPr lang="en-US" sz="2600">
                <a:solidFill>
                  <a:srgbClr val="373A3C"/>
                </a:solidFill>
                <a:ea typeface="+mn-lt"/>
                <a:cs typeface="+mn-lt"/>
              </a:rPr>
              <a:t> </a:t>
            </a:r>
            <a:r>
              <a:rPr lang="en-US" sz="2600" err="1">
                <a:solidFill>
                  <a:srgbClr val="373A3C"/>
                </a:solidFill>
                <a:ea typeface="+mn-lt"/>
                <a:cs typeface="+mn-lt"/>
              </a:rPr>
              <a:t>số</a:t>
            </a:r>
            <a:r>
              <a:rPr lang="en-US" sz="2600">
                <a:solidFill>
                  <a:srgbClr val="373A3C"/>
                </a:solidFill>
                <a:ea typeface="+mn-lt"/>
                <a:cs typeface="+mn-lt"/>
              </a:rPr>
              <a:t>:</a:t>
            </a:r>
            <a:endParaRPr lang="en-US" sz="2600">
              <a:ea typeface="+mn-lt"/>
              <a:cs typeface="+mn-lt"/>
            </a:endParaRPr>
          </a:p>
          <a:p>
            <a:pPr lvl="1">
              <a:buFont typeface="Arial"/>
              <a:buChar char="•"/>
            </a:pPr>
            <a:r>
              <a:rPr lang="en-US" sz="2600" b="1">
                <a:solidFill>
                  <a:srgbClr val="373A3C"/>
                </a:solidFill>
                <a:ea typeface="+mn-lt"/>
                <a:cs typeface="+mn-lt"/>
              </a:rPr>
              <a:t>Run 1 (Baseline):</a:t>
            </a:r>
            <a:r>
              <a:rPr lang="en-US" sz="2600">
                <a:solidFill>
                  <a:srgbClr val="373A3C"/>
                </a:solidFill>
                <a:ea typeface="+mn-lt"/>
                <a:cs typeface="+mn-lt"/>
              </a:rPr>
              <a:t> </a:t>
            </a:r>
            <a:r>
              <a:rPr lang="en-US" sz="2600" err="1">
                <a:solidFill>
                  <a:srgbClr val="373A3C"/>
                </a:solidFill>
                <a:ea typeface="+mn-lt"/>
                <a:cs typeface="+mn-lt"/>
              </a:rPr>
              <a:t>Huấn</a:t>
            </a:r>
            <a:r>
              <a:rPr lang="en-US" sz="2600">
                <a:solidFill>
                  <a:srgbClr val="373A3C"/>
                </a:solidFill>
                <a:ea typeface="+mn-lt"/>
                <a:cs typeface="+mn-lt"/>
              </a:rPr>
              <a:t> </a:t>
            </a:r>
            <a:r>
              <a:rPr lang="en-US" sz="2600" err="1">
                <a:solidFill>
                  <a:srgbClr val="373A3C"/>
                </a:solidFill>
                <a:ea typeface="+mn-lt"/>
                <a:cs typeface="+mn-lt"/>
              </a:rPr>
              <a:t>luyện</a:t>
            </a:r>
            <a:r>
              <a:rPr lang="en-US" sz="2600">
                <a:solidFill>
                  <a:srgbClr val="373A3C"/>
                </a:solidFill>
                <a:ea typeface="+mn-lt"/>
                <a:cs typeface="+mn-lt"/>
              </a:rPr>
              <a:t> </a:t>
            </a:r>
            <a:r>
              <a:rPr lang="en-US" sz="2600" err="1">
                <a:solidFill>
                  <a:srgbClr val="373A3C"/>
                </a:solidFill>
                <a:ea typeface="+mn-lt"/>
                <a:cs typeface="+mn-lt"/>
              </a:rPr>
              <a:t>chỉ</a:t>
            </a:r>
            <a:r>
              <a:rPr lang="en-US" sz="2600">
                <a:solidFill>
                  <a:srgbClr val="373A3C"/>
                </a:solidFill>
                <a:ea typeface="+mn-lt"/>
                <a:cs typeface="+mn-lt"/>
              </a:rPr>
              <a:t> </a:t>
            </a:r>
            <a:r>
              <a:rPr lang="en-US" sz="2600" err="1">
                <a:solidFill>
                  <a:srgbClr val="373A3C"/>
                </a:solidFill>
                <a:ea typeface="+mn-lt"/>
                <a:cs typeface="+mn-lt"/>
              </a:rPr>
              <a:t>trên</a:t>
            </a:r>
            <a:r>
              <a:rPr lang="en-US" sz="2600">
                <a:solidFill>
                  <a:srgbClr val="373A3C"/>
                </a:solidFill>
                <a:ea typeface="+mn-lt"/>
                <a:cs typeface="+mn-lt"/>
              </a:rPr>
              <a:t> </a:t>
            </a:r>
            <a:r>
              <a:rPr lang="en-US" sz="2600" err="1">
                <a:solidFill>
                  <a:srgbClr val="373A3C"/>
                </a:solidFill>
                <a:ea typeface="+mn-lt"/>
                <a:cs typeface="+mn-lt"/>
              </a:rPr>
              <a:t>dữ</a:t>
            </a:r>
            <a:r>
              <a:rPr lang="en-US" sz="2600">
                <a:solidFill>
                  <a:srgbClr val="373A3C"/>
                </a:solidFill>
                <a:ea typeface="+mn-lt"/>
                <a:cs typeface="+mn-lt"/>
              </a:rPr>
              <a:t> </a:t>
            </a:r>
            <a:r>
              <a:rPr lang="en-US" sz="2600" err="1">
                <a:solidFill>
                  <a:srgbClr val="373A3C"/>
                </a:solidFill>
                <a:ea typeface="+mn-lt"/>
                <a:cs typeface="+mn-lt"/>
              </a:rPr>
              <a:t>liệu</a:t>
            </a:r>
            <a:r>
              <a:rPr lang="en-US" sz="2600">
                <a:solidFill>
                  <a:srgbClr val="373A3C"/>
                </a:solidFill>
                <a:ea typeface="+mn-lt"/>
                <a:cs typeface="+mn-lt"/>
              </a:rPr>
              <a:t> </a:t>
            </a:r>
            <a:r>
              <a:rPr lang="en-US" sz="2600" err="1">
                <a:solidFill>
                  <a:srgbClr val="373A3C"/>
                </a:solidFill>
                <a:ea typeface="+mn-lt"/>
                <a:cs typeface="+mn-lt"/>
              </a:rPr>
              <a:t>gốc</a:t>
            </a:r>
            <a:r>
              <a:rPr lang="en-US" sz="2600">
                <a:solidFill>
                  <a:srgbClr val="373A3C"/>
                </a:solidFill>
                <a:ea typeface="+mn-lt"/>
                <a:cs typeface="+mn-lt"/>
              </a:rPr>
              <a:t> UIT-ViQuAD2.0 (6.000 </a:t>
            </a:r>
            <a:r>
              <a:rPr lang="en-US" sz="2600" err="1">
                <a:solidFill>
                  <a:srgbClr val="373A3C"/>
                </a:solidFill>
                <a:ea typeface="+mn-lt"/>
                <a:cs typeface="+mn-lt"/>
              </a:rPr>
              <a:t>mẫu</a:t>
            </a:r>
            <a:r>
              <a:rPr lang="en-US" sz="2600">
                <a:solidFill>
                  <a:srgbClr val="373A3C"/>
                </a:solidFill>
                <a:ea typeface="+mn-lt"/>
                <a:cs typeface="+mn-lt"/>
              </a:rPr>
              <a:t>).</a:t>
            </a:r>
            <a:endParaRPr lang="en-US" sz="2600">
              <a:ea typeface="Calibri"/>
              <a:cs typeface="Calibri"/>
            </a:endParaRPr>
          </a:p>
          <a:p>
            <a:pPr lvl="1">
              <a:buFont typeface="Arial"/>
              <a:buChar char="•"/>
            </a:pPr>
            <a:r>
              <a:rPr lang="en-US" sz="2600" b="1">
                <a:solidFill>
                  <a:srgbClr val="373A3C"/>
                </a:solidFill>
                <a:ea typeface="+mn-lt"/>
                <a:cs typeface="+mn-lt"/>
              </a:rPr>
              <a:t>Run 2 (Augmented):</a:t>
            </a:r>
            <a:r>
              <a:rPr lang="en-US" sz="2600">
                <a:solidFill>
                  <a:srgbClr val="373A3C"/>
                </a:solidFill>
                <a:ea typeface="+mn-lt"/>
                <a:cs typeface="+mn-lt"/>
              </a:rPr>
              <a:t> </a:t>
            </a:r>
            <a:r>
              <a:rPr lang="en-US" sz="2600" err="1">
                <a:solidFill>
                  <a:srgbClr val="373A3C"/>
                </a:solidFill>
                <a:ea typeface="+mn-lt"/>
                <a:cs typeface="+mn-lt"/>
              </a:rPr>
              <a:t>Huấn</a:t>
            </a:r>
            <a:r>
              <a:rPr lang="en-US" sz="2600">
                <a:solidFill>
                  <a:srgbClr val="373A3C"/>
                </a:solidFill>
                <a:ea typeface="+mn-lt"/>
                <a:cs typeface="+mn-lt"/>
              </a:rPr>
              <a:t> </a:t>
            </a:r>
            <a:r>
              <a:rPr lang="en-US" sz="2600" err="1">
                <a:solidFill>
                  <a:srgbClr val="373A3C"/>
                </a:solidFill>
                <a:ea typeface="+mn-lt"/>
                <a:cs typeface="+mn-lt"/>
              </a:rPr>
              <a:t>luyện</a:t>
            </a:r>
            <a:r>
              <a:rPr lang="en-US" sz="2600">
                <a:solidFill>
                  <a:srgbClr val="373A3C"/>
                </a:solidFill>
                <a:ea typeface="+mn-lt"/>
                <a:cs typeface="+mn-lt"/>
              </a:rPr>
              <a:t> </a:t>
            </a:r>
            <a:r>
              <a:rPr lang="en-US" sz="2600" err="1">
                <a:solidFill>
                  <a:srgbClr val="373A3C"/>
                </a:solidFill>
                <a:ea typeface="+mn-lt"/>
                <a:cs typeface="+mn-lt"/>
              </a:rPr>
              <a:t>trên</a:t>
            </a:r>
            <a:r>
              <a:rPr lang="en-US" sz="2600">
                <a:solidFill>
                  <a:srgbClr val="373A3C"/>
                </a:solidFill>
                <a:ea typeface="+mn-lt"/>
                <a:cs typeface="+mn-lt"/>
              </a:rPr>
              <a:t> </a:t>
            </a:r>
            <a:r>
              <a:rPr lang="en-US" sz="2600" err="1">
                <a:solidFill>
                  <a:srgbClr val="373A3C"/>
                </a:solidFill>
                <a:ea typeface="+mn-lt"/>
                <a:cs typeface="+mn-lt"/>
              </a:rPr>
              <a:t>tập</a:t>
            </a:r>
            <a:r>
              <a:rPr lang="en-US" sz="2600">
                <a:solidFill>
                  <a:srgbClr val="373A3C"/>
                </a:solidFill>
                <a:ea typeface="+mn-lt"/>
                <a:cs typeface="+mn-lt"/>
              </a:rPr>
              <a:t> </a:t>
            </a:r>
            <a:r>
              <a:rPr lang="en-US" sz="2600" err="1">
                <a:solidFill>
                  <a:srgbClr val="373A3C"/>
                </a:solidFill>
                <a:ea typeface="+mn-lt"/>
                <a:cs typeface="+mn-lt"/>
              </a:rPr>
              <a:t>dữ</a:t>
            </a:r>
            <a:r>
              <a:rPr lang="en-US" sz="2600">
                <a:solidFill>
                  <a:srgbClr val="373A3C"/>
                </a:solidFill>
                <a:ea typeface="+mn-lt"/>
                <a:cs typeface="+mn-lt"/>
              </a:rPr>
              <a:t> </a:t>
            </a:r>
            <a:r>
              <a:rPr lang="en-US" sz="2600" err="1">
                <a:solidFill>
                  <a:srgbClr val="373A3C"/>
                </a:solidFill>
                <a:ea typeface="+mn-lt"/>
                <a:cs typeface="+mn-lt"/>
              </a:rPr>
              <a:t>liệu</a:t>
            </a:r>
            <a:r>
              <a:rPr lang="en-US" sz="2600">
                <a:solidFill>
                  <a:srgbClr val="373A3C"/>
                </a:solidFill>
                <a:ea typeface="+mn-lt"/>
                <a:cs typeface="+mn-lt"/>
              </a:rPr>
              <a:t> </a:t>
            </a:r>
            <a:r>
              <a:rPr lang="en-US" sz="2600" err="1">
                <a:solidFill>
                  <a:srgbClr val="373A3C"/>
                </a:solidFill>
                <a:ea typeface="+mn-lt"/>
                <a:cs typeface="+mn-lt"/>
              </a:rPr>
              <a:t>kết</a:t>
            </a:r>
            <a:r>
              <a:rPr lang="en-US" sz="2600">
                <a:solidFill>
                  <a:srgbClr val="373A3C"/>
                </a:solidFill>
                <a:ea typeface="+mn-lt"/>
                <a:cs typeface="+mn-lt"/>
              </a:rPr>
              <a:t> </a:t>
            </a:r>
            <a:r>
              <a:rPr lang="en-US" sz="2600" err="1">
                <a:solidFill>
                  <a:srgbClr val="373A3C"/>
                </a:solidFill>
                <a:ea typeface="+mn-lt"/>
                <a:cs typeface="+mn-lt"/>
              </a:rPr>
              <a:t>hợp</a:t>
            </a:r>
            <a:r>
              <a:rPr lang="en-US" sz="2600">
                <a:solidFill>
                  <a:srgbClr val="373A3C"/>
                </a:solidFill>
                <a:ea typeface="+mn-lt"/>
                <a:cs typeface="+mn-lt"/>
              </a:rPr>
              <a:t> (</a:t>
            </a:r>
            <a:r>
              <a:rPr lang="en-US" sz="2600" err="1">
                <a:solidFill>
                  <a:srgbClr val="373A3C"/>
                </a:solidFill>
                <a:ea typeface="+mn-lt"/>
                <a:cs typeface="+mn-lt"/>
              </a:rPr>
              <a:t>Gốc</a:t>
            </a:r>
            <a:r>
              <a:rPr lang="en-US" sz="2600">
                <a:solidFill>
                  <a:srgbClr val="373A3C"/>
                </a:solidFill>
                <a:ea typeface="+mn-lt"/>
                <a:cs typeface="+mn-lt"/>
              </a:rPr>
              <a:t> + Synthetic).</a:t>
            </a:r>
            <a:endParaRPr lang="en-US" sz="2600">
              <a:ea typeface="+mn-lt"/>
              <a:cs typeface="+mn-lt"/>
            </a:endParaRPr>
          </a:p>
          <a:p>
            <a:pPr marL="0" indent="0">
              <a:buNone/>
            </a:pPr>
            <a:endParaRPr lang="en-US" sz="2200" b="1">
              <a:solidFill>
                <a:srgbClr val="373A3C"/>
              </a:solidFill>
              <a:ea typeface="Calibri"/>
              <a:cs typeface="Calibri"/>
            </a:endParaRPr>
          </a:p>
          <a:p>
            <a:pPr marL="0" indent="0">
              <a:buNone/>
            </a:pPr>
            <a:endParaRPr lang="en-US" sz="2200" b="1">
              <a:solidFill>
                <a:srgbClr val="373A3C"/>
              </a:solidFill>
              <a:latin typeface="Calibri"/>
              <a:ea typeface="Calibri"/>
              <a:cs typeface="Calibri"/>
            </a:endParaRPr>
          </a:p>
          <a:p>
            <a:pPr>
              <a:buFont typeface="Arial"/>
              <a:buChar char="•"/>
            </a:pPr>
            <a:endParaRPr lang="en-US">
              <a:solidFill>
                <a:srgbClr val="373A3C"/>
              </a:solidFill>
              <a:latin typeface="Times New Roman" panose="02020603050405020304" pitchFamily="18" charset="0"/>
              <a:ea typeface="Calibri"/>
              <a:cs typeface="Calibri"/>
            </a:endParaRPr>
          </a:p>
          <a:p>
            <a:pPr marL="0" indent="0">
              <a:buNone/>
            </a:pPr>
            <a:endParaRPr lang="en-US">
              <a:solidFill>
                <a:srgbClr val="373A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1406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205F5-9116-AB8E-F305-A2817F37F2D7}"/>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E61F24EB-5536-8863-B5E9-AFA5DBEF834B}"/>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1C343EEB-C397-27FC-EF01-BEC00BBAFD5E}"/>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1031F3D3-A144-E229-D7E4-5CF2FC6130CE}"/>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6B25F2CC-01C9-B1FE-2D70-4AC506DB4A6C}"/>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B07A4D0F-AB5C-FB12-4F43-373B42FA682C}"/>
              </a:ext>
            </a:extLst>
          </p:cNvPr>
          <p:cNvSpPr>
            <a:spLocks noGrp="1"/>
          </p:cNvSpPr>
          <p:nvPr>
            <p:ph type="title"/>
          </p:nvPr>
        </p:nvSpPr>
        <p:spPr>
          <a:xfrm>
            <a:off x="-2415" y="10956"/>
            <a:ext cx="7886700" cy="1325563"/>
          </a:xfrm>
        </p:spPr>
        <p:txBody>
          <a:bodyPr/>
          <a:lstStyle/>
          <a:p>
            <a:r>
              <a:rPr lang="vi-VN">
                <a:latin typeface="Times New Roman"/>
                <a:cs typeface="Times New Roman"/>
              </a:rPr>
              <a:t>Cấu hình tham số huấn luyện</a:t>
            </a:r>
          </a:p>
        </p:txBody>
      </p:sp>
      <p:sp>
        <p:nvSpPr>
          <p:cNvPr id="9" name="Content Placeholder 2">
            <a:extLst>
              <a:ext uri="{FF2B5EF4-FFF2-40B4-BE49-F238E27FC236}">
                <a16:creationId xmlns:a16="http://schemas.microsoft.com/office/drawing/2014/main" id="{1AC681AD-A6EE-9024-CBE5-86827CD7DA30}"/>
              </a:ext>
            </a:extLst>
          </p:cNvPr>
          <p:cNvSpPr>
            <a:spLocks noGrp="1"/>
          </p:cNvSpPr>
          <p:nvPr>
            <p:ph idx="1"/>
          </p:nvPr>
        </p:nvSpPr>
        <p:spPr>
          <a:xfrm>
            <a:off x="-2415" y="1503653"/>
            <a:ext cx="9148829" cy="5188464"/>
          </a:xfrm>
        </p:spPr>
        <p:txBody>
          <a:bodyPr vert="horz" lIns="91440" tIns="45720" rIns="91440" bIns="45720" rtlCol="0" anchor="t">
            <a:normAutofit fontScale="85000" lnSpcReduction="20000"/>
          </a:bodyPr>
          <a:lstStyle/>
          <a:p>
            <a:pPr>
              <a:buNone/>
            </a:pPr>
            <a:r>
              <a:rPr lang="en-US"/>
              <a:t>Cấu hình Tham số Huấn luyện (Hyperparameters)</a:t>
            </a:r>
            <a:endParaRPr lang="vi-VN"/>
          </a:p>
          <a:p>
            <a:pPr>
              <a:buFont typeface="Arial"/>
              <a:buChar char="•"/>
            </a:pPr>
            <a:r>
              <a:rPr lang="en-US" sz="2600" b="1">
                <a:solidFill>
                  <a:srgbClr val="373A3C"/>
                </a:solidFill>
                <a:ea typeface="+mn-lt"/>
                <a:cs typeface="+mn-lt"/>
              </a:rPr>
              <a:t>Epoch: 1</a:t>
            </a:r>
            <a:endParaRPr lang="en-US">
              <a:ea typeface="+mn-lt"/>
              <a:cs typeface="+mn-lt"/>
            </a:endParaRPr>
          </a:p>
          <a:p>
            <a:pPr marL="971550" lvl="1" indent="-285750">
              <a:buFont typeface="Arial"/>
              <a:buChar char="•"/>
            </a:pPr>
            <a:r>
              <a:rPr lang="en-US" sz="2600">
                <a:solidFill>
                  <a:srgbClr val="373A3C"/>
                </a:solidFill>
                <a:ea typeface="+mn-lt"/>
                <a:cs typeface="+mn-lt"/>
              </a:rPr>
              <a:t>Giới hạn huấn luyện trong 1 vòng để tránh học vẹt (overfitting) do tập dữ liệu khá nhỏ (~6.000 mẫu) và tận dụng kiến thức pre-train sẵn có.</a:t>
            </a:r>
            <a:endParaRPr lang="en-US">
              <a:ea typeface="+mn-lt"/>
              <a:cs typeface="+mn-lt"/>
            </a:endParaRPr>
          </a:p>
          <a:p>
            <a:pPr>
              <a:buFont typeface="Arial"/>
              <a:buChar char="•"/>
            </a:pPr>
            <a:r>
              <a:rPr lang="en-US" sz="2600" b="1">
                <a:solidFill>
                  <a:srgbClr val="373A3C"/>
                </a:solidFill>
                <a:ea typeface="+mn-lt"/>
                <a:cs typeface="+mn-lt"/>
              </a:rPr>
              <a:t>Learning Rate: 2e-4</a:t>
            </a:r>
            <a:endParaRPr lang="en-US">
              <a:ea typeface="+mn-lt"/>
              <a:cs typeface="+mn-lt"/>
            </a:endParaRPr>
          </a:p>
          <a:p>
            <a:pPr marL="971550" lvl="1" indent="-285750">
              <a:buFont typeface="Arial"/>
              <a:buChar char="•"/>
            </a:pPr>
            <a:r>
              <a:rPr lang="en-US" sz="2600">
                <a:solidFill>
                  <a:srgbClr val="373A3C"/>
                </a:solidFill>
                <a:ea typeface="+mn-lt"/>
                <a:cs typeface="+mn-lt"/>
              </a:rPr>
              <a:t>Mức tốc độ học trung bình, tối ưu cho việc tinh chỉnh (SFT) các mô hình nhỏ (&lt;1B tham số), giúp quá trình hội tụ ổn định.</a:t>
            </a:r>
            <a:endParaRPr lang="en-US">
              <a:ea typeface="+mn-lt"/>
              <a:cs typeface="+mn-lt"/>
            </a:endParaRPr>
          </a:p>
          <a:p>
            <a:pPr>
              <a:buFont typeface="Arial"/>
              <a:buChar char="•"/>
            </a:pPr>
            <a:r>
              <a:rPr lang="en-US" sz="2600" b="1">
                <a:solidFill>
                  <a:srgbClr val="373A3C"/>
                </a:solidFill>
                <a:ea typeface="+mn-lt"/>
                <a:cs typeface="+mn-lt"/>
              </a:rPr>
              <a:t>Batch Size: 2 &amp; Gradient Accumulation: 2</a:t>
            </a:r>
            <a:endParaRPr lang="en-US">
              <a:ea typeface="+mn-lt"/>
              <a:cs typeface="+mn-lt"/>
            </a:endParaRPr>
          </a:p>
          <a:p>
            <a:pPr marL="971550" lvl="1" indent="-285750">
              <a:buFont typeface="Arial"/>
              <a:buChar char="•"/>
            </a:pPr>
            <a:r>
              <a:rPr lang="en-US" sz="2600">
                <a:solidFill>
                  <a:srgbClr val="373A3C"/>
                </a:solidFill>
                <a:ea typeface="+mn-lt"/>
                <a:cs typeface="+mn-lt"/>
              </a:rPr>
              <a:t>Do giới hạn bộ nhớ của GPU Tesla T4, nhóm thiết lập batch size nhỏ kết hợp tích lũy gradient để đạt hiệu quả tương đương batch size 4.</a:t>
            </a:r>
            <a:endParaRPr lang="en-US">
              <a:ea typeface="+mn-lt"/>
              <a:cs typeface="+mn-lt"/>
            </a:endParaRPr>
          </a:p>
          <a:p>
            <a:pPr>
              <a:buFont typeface="Arial"/>
              <a:buChar char="•"/>
            </a:pPr>
            <a:r>
              <a:rPr lang="en-US" sz="2600" b="1">
                <a:solidFill>
                  <a:srgbClr val="373A3C"/>
                </a:solidFill>
                <a:ea typeface="+mn-lt"/>
                <a:cs typeface="+mn-lt"/>
              </a:rPr>
              <a:t>Max Sequence Length: 1024</a:t>
            </a:r>
            <a:endParaRPr lang="en-US">
              <a:ea typeface="+mn-lt"/>
              <a:cs typeface="+mn-lt"/>
            </a:endParaRPr>
          </a:p>
          <a:p>
            <a:pPr marL="971550" lvl="1" indent="-285750">
              <a:buFont typeface="Arial"/>
              <a:buChar char="•"/>
            </a:pPr>
            <a:r>
              <a:rPr lang="en-US" sz="2600">
                <a:solidFill>
                  <a:srgbClr val="373A3C"/>
                </a:solidFill>
                <a:ea typeface="+mn-lt"/>
                <a:cs typeface="+mn-lt"/>
              </a:rPr>
              <a:t>Độ dài chuỗi đảm bảo mô hình bao phủ trọn vẹn thông tin từ Context, Câu hỏi đến Câu trả lời mà không bị cắt mất dữ liệu quan trọng.</a:t>
            </a:r>
            <a:endParaRPr lang="en-US">
              <a:ea typeface="+mn-lt"/>
              <a:cs typeface="+mn-lt"/>
            </a:endParaRPr>
          </a:p>
          <a:p>
            <a:pPr>
              <a:buFont typeface="Arial"/>
              <a:buChar char="•"/>
            </a:pPr>
            <a:r>
              <a:rPr lang="en-US" sz="2600" b="1">
                <a:solidFill>
                  <a:srgbClr val="373A3C"/>
                </a:solidFill>
                <a:ea typeface="+mn-lt"/>
                <a:cs typeface="+mn-lt"/>
              </a:rPr>
              <a:t>Optimizer: AdamW</a:t>
            </a:r>
            <a:endParaRPr lang="en-US">
              <a:ea typeface="+mn-lt"/>
              <a:cs typeface="+mn-lt"/>
            </a:endParaRPr>
          </a:p>
          <a:p>
            <a:pPr marL="971550" lvl="1" indent="-285750">
              <a:buFont typeface="Arial"/>
              <a:buChar char="•"/>
            </a:pPr>
            <a:r>
              <a:rPr lang="en-US" sz="2600">
                <a:solidFill>
                  <a:srgbClr val="373A3C"/>
                </a:solidFill>
                <a:ea typeface="+mn-lt"/>
                <a:cs typeface="+mn-lt"/>
              </a:rPr>
              <a:t>Sử dụng phiên bản </a:t>
            </a:r>
            <a:r>
              <a:rPr lang="en-US" sz="2600">
                <a:solidFill>
                  <a:srgbClr val="373A3C"/>
                </a:solidFill>
                <a:latin typeface="Consolas"/>
                <a:ea typeface="+mn-lt"/>
                <a:cs typeface="+mn-lt"/>
              </a:rPr>
              <a:t>torch fused</a:t>
            </a:r>
            <a:r>
              <a:rPr lang="en-US" sz="2600">
                <a:solidFill>
                  <a:srgbClr val="373A3C"/>
                </a:solidFill>
                <a:ea typeface="+mn-lt"/>
                <a:cs typeface="+mn-lt"/>
              </a:rPr>
              <a:t> giúp tối ưu hóa tính toán và tăng tốc độ huấn luyện trên phần cứng GPU.</a:t>
            </a:r>
            <a:endParaRPr lang="en-US">
              <a:ea typeface="+mn-lt"/>
              <a:cs typeface="+mn-lt"/>
            </a:endParaRPr>
          </a:p>
          <a:p>
            <a:pPr marL="0" indent="0">
              <a:buNone/>
            </a:pPr>
            <a:endParaRPr lang="en-US" sz="2600" b="1">
              <a:solidFill>
                <a:srgbClr val="373A3C"/>
              </a:solidFill>
              <a:latin typeface="Calibri"/>
              <a:ea typeface="Calibri"/>
              <a:cs typeface="Calibri"/>
            </a:endParaRPr>
          </a:p>
        </p:txBody>
      </p:sp>
    </p:spTree>
    <p:extLst>
      <p:ext uri="{BB962C8B-B14F-4D97-AF65-F5344CB8AC3E}">
        <p14:creationId xmlns:p14="http://schemas.microsoft.com/office/powerpoint/2010/main" val="2202957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F462-353A-B5E2-F2A1-3A55D22D5AE3}"/>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7D6F637D-FF82-C54F-2E85-52378245FEC6}"/>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6CBEE8C7-4446-5FC1-E662-5B46866552E8}"/>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4B53587B-6A3F-4AC2-4F03-4C0BB0C455EA}"/>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C6337EF7-4671-ECF8-3C6D-3463B73E4267}"/>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DDECBAE5-92AD-BE0C-4B2A-6CF120B8A94B}"/>
              </a:ext>
            </a:extLst>
          </p:cNvPr>
          <p:cNvSpPr>
            <a:spLocks noGrp="1"/>
          </p:cNvSpPr>
          <p:nvPr>
            <p:ph type="title"/>
          </p:nvPr>
        </p:nvSpPr>
        <p:spPr>
          <a:xfrm>
            <a:off x="-2415" y="10956"/>
            <a:ext cx="7886700" cy="1325563"/>
          </a:xfrm>
        </p:spPr>
        <p:txBody>
          <a:bodyPr/>
          <a:lstStyle/>
          <a:p>
            <a:r>
              <a:rPr lang="vi-VN">
                <a:latin typeface="Times New Roman"/>
                <a:cs typeface="Times New Roman"/>
              </a:rPr>
              <a:t>Kết quả và đánh giá</a:t>
            </a:r>
          </a:p>
        </p:txBody>
      </p:sp>
      <p:sp>
        <p:nvSpPr>
          <p:cNvPr id="9" name="Content Placeholder 2">
            <a:extLst>
              <a:ext uri="{FF2B5EF4-FFF2-40B4-BE49-F238E27FC236}">
                <a16:creationId xmlns:a16="http://schemas.microsoft.com/office/drawing/2014/main" id="{15FE60C9-3B9D-5078-5D03-76FB317C4AED}"/>
              </a:ext>
            </a:extLst>
          </p:cNvPr>
          <p:cNvSpPr>
            <a:spLocks noGrp="1"/>
          </p:cNvSpPr>
          <p:nvPr>
            <p:ph idx="1"/>
          </p:nvPr>
        </p:nvSpPr>
        <p:spPr>
          <a:xfrm>
            <a:off x="-2415" y="1503653"/>
            <a:ext cx="9148829" cy="5188464"/>
          </a:xfrm>
        </p:spPr>
        <p:txBody>
          <a:bodyPr vert="horz" lIns="91440" tIns="45720" rIns="91440" bIns="45720" rtlCol="0" anchor="t">
            <a:noAutofit/>
          </a:bodyPr>
          <a:lstStyle/>
          <a:p>
            <a:pPr>
              <a:buNone/>
            </a:pPr>
            <a:r>
              <a:rPr lang="en-US" sz="1800" b="1">
                <a:ea typeface="+mn-lt"/>
                <a:cs typeface="+mn-lt"/>
              </a:rPr>
              <a:t>So sánh Hiệu suất (Baseline vs. Augmented):</a:t>
            </a:r>
            <a:endParaRPr lang="vi-VN" sz="1800">
              <a:latin typeface="Arial"/>
              <a:cs typeface="Arial"/>
            </a:endParaRPr>
          </a:p>
          <a:p>
            <a:pPr>
              <a:buFont typeface="Arial"/>
              <a:buChar char="•"/>
            </a:pPr>
            <a:r>
              <a:rPr lang="en-US" sz="1800" b="1">
                <a:ea typeface="+mn-lt"/>
                <a:cs typeface="+mn-lt"/>
              </a:rPr>
              <a:t>Baseline (Chỉ dùng dữ liệu gốc):</a:t>
            </a:r>
            <a:r>
              <a:rPr lang="en-US" sz="1800">
                <a:ea typeface="+mn-lt"/>
                <a:cs typeface="+mn-lt"/>
              </a:rPr>
              <a:t> Đạt kết quả tốt nhất.</a:t>
            </a:r>
          </a:p>
          <a:p>
            <a:pPr marL="971550" lvl="1" indent="-285750">
              <a:buFont typeface="Arial"/>
              <a:buChar char="•"/>
            </a:pPr>
            <a:r>
              <a:rPr lang="en-US" sz="1800">
                <a:ea typeface="+mn-lt"/>
                <a:cs typeface="+mn-lt"/>
              </a:rPr>
              <a:t>ROUGE-1: </a:t>
            </a:r>
            <a:r>
              <a:rPr lang="en-US" sz="1800" b="1">
                <a:ea typeface="+mn-lt"/>
                <a:cs typeface="+mn-lt"/>
              </a:rPr>
              <a:t>38.39%</a:t>
            </a:r>
            <a:endParaRPr lang="en-US" sz="1800">
              <a:ea typeface="Calibri"/>
              <a:cs typeface="Calibri"/>
            </a:endParaRPr>
          </a:p>
          <a:p>
            <a:pPr marL="971550" lvl="1" indent="-285750">
              <a:buFont typeface="Arial"/>
              <a:buChar char="•"/>
            </a:pPr>
            <a:r>
              <a:rPr lang="en-US" sz="1800">
                <a:ea typeface="+mn-lt"/>
                <a:cs typeface="+mn-lt"/>
              </a:rPr>
              <a:t>Char_F1: </a:t>
            </a:r>
            <a:r>
              <a:rPr lang="en-US" sz="1800" b="1">
                <a:ea typeface="+mn-lt"/>
                <a:cs typeface="+mn-lt"/>
              </a:rPr>
              <a:t>62.67%</a:t>
            </a:r>
            <a:endParaRPr lang="en-US" sz="1800">
              <a:ea typeface="Calibri"/>
              <a:cs typeface="Calibri"/>
            </a:endParaRPr>
          </a:p>
          <a:p>
            <a:pPr marL="971550" lvl="1" indent="-285750">
              <a:buFont typeface="Arial"/>
              <a:buChar char="•"/>
            </a:pPr>
            <a:r>
              <a:rPr lang="en-US" sz="1800">
                <a:ea typeface="+mn-lt"/>
                <a:cs typeface="+mn-lt"/>
              </a:rPr>
              <a:t>METEOR: </a:t>
            </a:r>
            <a:r>
              <a:rPr lang="en-US" sz="1800" b="1">
                <a:ea typeface="+mn-lt"/>
                <a:cs typeface="+mn-lt"/>
              </a:rPr>
              <a:t>53.11%</a:t>
            </a:r>
            <a:endParaRPr lang="en-US" sz="1800">
              <a:ea typeface="Calibri"/>
              <a:cs typeface="Calibri"/>
            </a:endParaRPr>
          </a:p>
          <a:p>
            <a:pPr>
              <a:buFont typeface="Arial"/>
              <a:buChar char="•"/>
            </a:pPr>
            <a:r>
              <a:rPr lang="en-US" sz="1800" b="1">
                <a:ea typeface="+mn-lt"/>
                <a:cs typeface="+mn-lt"/>
              </a:rPr>
              <a:t>Augmented (Thêm dữ liệu Synthetic):</a:t>
            </a:r>
            <a:r>
              <a:rPr lang="en-US" sz="1800">
                <a:ea typeface="+mn-lt"/>
                <a:cs typeface="+mn-lt"/>
              </a:rPr>
              <a:t> Hiệu suất </a:t>
            </a:r>
            <a:r>
              <a:rPr lang="en-US" sz="1800" b="1">
                <a:ea typeface="+mn-lt"/>
                <a:cs typeface="+mn-lt"/>
              </a:rPr>
              <a:t>suy giảm đồng bộ</a:t>
            </a:r>
            <a:r>
              <a:rPr lang="en-US" sz="1800">
                <a:ea typeface="+mn-lt"/>
                <a:cs typeface="+mn-lt"/>
              </a:rPr>
              <a:t> trên mọi chỉ số.</a:t>
            </a:r>
          </a:p>
          <a:p>
            <a:pPr marL="971550" lvl="1" indent="-285750">
              <a:buFont typeface="Arial"/>
              <a:buChar char="•"/>
            </a:pPr>
            <a:r>
              <a:rPr lang="en-US" sz="1800">
                <a:ea typeface="+mn-lt"/>
                <a:cs typeface="+mn-lt"/>
              </a:rPr>
              <a:t>ROUGE-1: Giảm mạnh xuống </a:t>
            </a:r>
            <a:r>
              <a:rPr lang="en-US" sz="1800" b="1">
                <a:ea typeface="+mn-lt"/>
                <a:cs typeface="+mn-lt"/>
              </a:rPr>
              <a:t>30.38%</a:t>
            </a:r>
            <a:r>
              <a:rPr lang="en-US" sz="1800">
                <a:ea typeface="+mn-lt"/>
                <a:cs typeface="+mn-lt"/>
              </a:rPr>
              <a:t>. </a:t>
            </a:r>
            <a:endParaRPr lang="en-US" sz="1800" baseline="30000">
              <a:ea typeface="+mn-lt"/>
              <a:cs typeface="+mn-lt"/>
            </a:endParaRPr>
          </a:p>
          <a:p>
            <a:pPr marL="971550" lvl="1" indent="-285750">
              <a:buFont typeface="Arial"/>
              <a:buChar char="•"/>
            </a:pPr>
            <a:r>
              <a:rPr lang="en-US" sz="1800">
                <a:ea typeface="+mn-lt"/>
                <a:cs typeface="+mn-lt"/>
              </a:rPr>
              <a:t>Char_F1: Giảm còn </a:t>
            </a:r>
            <a:r>
              <a:rPr lang="en-US" sz="1800" b="1">
                <a:ea typeface="+mn-lt"/>
                <a:cs typeface="+mn-lt"/>
              </a:rPr>
              <a:t>55.89%</a:t>
            </a:r>
            <a:r>
              <a:rPr lang="en-US" sz="1800">
                <a:ea typeface="+mn-lt"/>
                <a:cs typeface="+mn-lt"/>
              </a:rPr>
              <a:t> . </a:t>
            </a:r>
          </a:p>
          <a:p>
            <a:pPr>
              <a:buFont typeface="Arial"/>
              <a:buChar char="•"/>
            </a:pPr>
            <a:r>
              <a:rPr lang="en-US" sz="1800" b="1">
                <a:ea typeface="+mn-lt"/>
                <a:cs typeface="+mn-lt"/>
              </a:rPr>
              <a:t>Phân tích nguyên nhân suy giảm</a:t>
            </a:r>
          </a:p>
          <a:p>
            <a:pPr lvl="1" indent="-285750">
              <a:buFont typeface="Arial"/>
              <a:buChar char="•"/>
            </a:pPr>
            <a:r>
              <a:rPr lang="en-US" sz="1800" b="1">
                <a:ea typeface="+mn-lt"/>
                <a:cs typeface="+mn-lt"/>
              </a:rPr>
              <a:t>Lệch phân phối (Distribution Shift):</a:t>
            </a:r>
            <a:r>
              <a:rPr lang="en-US" sz="1800">
                <a:ea typeface="+mn-lt"/>
                <a:cs typeface="+mn-lt"/>
              </a:rPr>
              <a:t> Dữ liệu sinh bởi LLM có văn phong và độ dài khác biệt so với dữ liệu gốc, khiến mô hình bị "lạc hướng" khỏi phong cách trả lời ngắn gọn của bộ dữ liệu chuẩn. </a:t>
            </a:r>
            <a:endParaRPr lang="en-US" sz="1800" baseline="30000">
              <a:ea typeface="Calibri"/>
              <a:cs typeface="Calibri"/>
            </a:endParaRPr>
          </a:p>
          <a:p>
            <a:pPr lvl="1" indent="-285750">
              <a:buFont typeface="Arial"/>
              <a:buChar char="•"/>
            </a:pPr>
            <a:r>
              <a:rPr lang="en-US" sz="1800" b="1">
                <a:ea typeface="+mn-lt"/>
                <a:cs typeface="+mn-lt"/>
              </a:rPr>
              <a:t>Mất từ khóa quan trọng:</a:t>
            </a:r>
            <a:r>
              <a:rPr lang="en-US" sz="1800">
                <a:ea typeface="+mn-lt"/>
                <a:cs typeface="+mn-lt"/>
              </a:rPr>
              <a:t> Chỉ số ROUGE-1 giảm sâu cho thấy mô hình mất khả năng sinh đúng các từ khóa chính xác (unigram) khớp với đáp án chuẩn. </a:t>
            </a:r>
            <a:endParaRPr lang="en-US" sz="1800" baseline="30000">
              <a:ea typeface="Calibri"/>
              <a:cs typeface="Calibri"/>
            </a:endParaRPr>
          </a:p>
          <a:p>
            <a:pPr lvl="1" indent="-285750">
              <a:buFont typeface="Arial"/>
              <a:buChar char="•"/>
            </a:pPr>
            <a:r>
              <a:rPr lang="en-US" sz="1800" b="1">
                <a:ea typeface="+mn-lt"/>
                <a:cs typeface="+mn-lt"/>
              </a:rPr>
              <a:t>Kết luận:</a:t>
            </a:r>
            <a:r>
              <a:rPr lang="en-US" sz="1800">
                <a:ea typeface="+mn-lt"/>
                <a:cs typeface="+mn-lt"/>
              </a:rPr>
              <a:t> Với kiến trúc Decoder-only trong bài toán này, việc tăng cường dữ liệu (Data Augmentation) gây nhiễu nhiều hơn là giúp ích. </a:t>
            </a:r>
            <a:endParaRPr lang="en-US" sz="1800" baseline="30000">
              <a:ea typeface="Calibri"/>
              <a:cs typeface="Calibri"/>
            </a:endParaRPr>
          </a:p>
          <a:p>
            <a:pPr>
              <a:buNone/>
            </a:pPr>
            <a:endParaRPr lang="en-US">
              <a:ea typeface="+mn-lt"/>
              <a:cs typeface="+mn-lt"/>
            </a:endParaRPr>
          </a:p>
          <a:p>
            <a:pPr marL="0" indent="0">
              <a:buNone/>
            </a:pPr>
            <a:endParaRPr lang="en-US" sz="2600" b="1">
              <a:solidFill>
                <a:srgbClr val="373A3C"/>
              </a:solidFill>
              <a:latin typeface="Calibri"/>
              <a:ea typeface="Calibri"/>
              <a:cs typeface="Calibri"/>
            </a:endParaRPr>
          </a:p>
        </p:txBody>
      </p:sp>
    </p:spTree>
    <p:extLst>
      <p:ext uri="{BB962C8B-B14F-4D97-AF65-F5344CB8AC3E}">
        <p14:creationId xmlns:p14="http://schemas.microsoft.com/office/powerpoint/2010/main" val="1259431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80002-3D7E-23AC-C260-7C735FCD4A0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3384DF2B-93C0-DE9E-A2CE-FE5C8A9AAC44}"/>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21E9A277-AB1C-B4C1-575B-CEEB1E5103B6}"/>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688B5EE0-2D25-F03C-CE69-E0DBCDB593E2}"/>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D2D5615B-340D-95B3-2AE5-F5C7E4F2AC84}"/>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2D2F29AC-ED92-9227-1629-BDCF37E3044A}"/>
              </a:ext>
            </a:extLst>
          </p:cNvPr>
          <p:cNvSpPr>
            <a:spLocks noGrp="1"/>
          </p:cNvSpPr>
          <p:nvPr>
            <p:ph type="title"/>
          </p:nvPr>
        </p:nvSpPr>
        <p:spPr>
          <a:xfrm>
            <a:off x="-2415" y="10956"/>
            <a:ext cx="7886700" cy="1325563"/>
          </a:xfrm>
        </p:spPr>
        <p:txBody>
          <a:bodyPr/>
          <a:lstStyle/>
          <a:p>
            <a:r>
              <a:rPr lang="en-US" dirty="0" err="1">
                <a:latin typeface="Times New Roman"/>
                <a:cs typeface="Times New Roman"/>
              </a:rPr>
              <a:t>Kết</a:t>
            </a:r>
            <a:r>
              <a:rPr lang="en-US" dirty="0">
                <a:latin typeface="Times New Roman"/>
                <a:cs typeface="Times New Roman"/>
              </a:rPr>
              <a:t> </a:t>
            </a:r>
            <a:r>
              <a:rPr lang="en-US" dirty="0" err="1">
                <a:latin typeface="Times New Roman"/>
                <a:cs typeface="Times New Roman"/>
              </a:rPr>
              <a:t>quả</a:t>
            </a:r>
            <a:endParaRPr lang="vi-VN" dirty="0">
              <a:latin typeface="Times New Roman"/>
              <a:cs typeface="Times New Roman"/>
            </a:endParaRPr>
          </a:p>
        </p:txBody>
      </p:sp>
      <p:sp>
        <p:nvSpPr>
          <p:cNvPr id="9" name="Content Placeholder 2">
            <a:extLst>
              <a:ext uri="{FF2B5EF4-FFF2-40B4-BE49-F238E27FC236}">
                <a16:creationId xmlns:a16="http://schemas.microsoft.com/office/drawing/2014/main" id="{1D822366-D531-9967-750E-F2AAA1963E90}"/>
              </a:ext>
            </a:extLst>
          </p:cNvPr>
          <p:cNvSpPr>
            <a:spLocks noGrp="1"/>
          </p:cNvSpPr>
          <p:nvPr>
            <p:ph idx="1"/>
          </p:nvPr>
        </p:nvSpPr>
        <p:spPr>
          <a:xfrm>
            <a:off x="-2415" y="1503653"/>
            <a:ext cx="9148829" cy="5188464"/>
          </a:xfrm>
        </p:spPr>
        <p:txBody>
          <a:bodyPr vert="horz" lIns="91440" tIns="45720" rIns="91440" bIns="45720" rtlCol="0" anchor="t">
            <a:normAutofit/>
          </a:bodyPr>
          <a:lstStyle/>
          <a:p>
            <a:pPr>
              <a:buNone/>
            </a:pPr>
            <a:endParaRPr lang="en-US">
              <a:ea typeface="+mn-lt"/>
              <a:cs typeface="+mn-lt"/>
            </a:endParaRPr>
          </a:p>
          <a:p>
            <a:pPr marL="0" indent="0">
              <a:buNone/>
            </a:pPr>
            <a:endParaRPr lang="en-US" sz="2600" b="1">
              <a:solidFill>
                <a:srgbClr val="373A3C"/>
              </a:solidFill>
              <a:latin typeface="Calibri"/>
              <a:ea typeface="Calibri"/>
              <a:cs typeface="Calibri"/>
            </a:endParaRPr>
          </a:p>
        </p:txBody>
      </p:sp>
      <p:graphicFrame>
        <p:nvGraphicFramePr>
          <p:cNvPr id="3" name="Bảng 2">
            <a:extLst>
              <a:ext uri="{FF2B5EF4-FFF2-40B4-BE49-F238E27FC236}">
                <a16:creationId xmlns:a16="http://schemas.microsoft.com/office/drawing/2014/main" id="{59B4925A-DE2F-C980-83BB-01FB55448723}"/>
              </a:ext>
            </a:extLst>
          </p:cNvPr>
          <p:cNvGraphicFramePr>
            <a:graphicFrameLocks noGrp="1"/>
          </p:cNvGraphicFramePr>
          <p:nvPr>
            <p:extLst>
              <p:ext uri="{D42A27DB-BD31-4B8C-83A1-F6EECF244321}">
                <p14:modId xmlns:p14="http://schemas.microsoft.com/office/powerpoint/2010/main" val="3550243681"/>
              </p:ext>
            </p:extLst>
          </p:nvPr>
        </p:nvGraphicFramePr>
        <p:xfrm>
          <a:off x="-14198" y="1512167"/>
          <a:ext cx="9149100" cy="5170568"/>
        </p:xfrm>
        <a:graphic>
          <a:graphicData uri="http://schemas.openxmlformats.org/drawingml/2006/table">
            <a:tbl>
              <a:tblPr bandRow="1">
                <a:tableStyleId>{5C22544A-7EE6-4342-B048-85BDC9FD1C3A}</a:tableStyleId>
              </a:tblPr>
              <a:tblGrid>
                <a:gridCol w="3017257">
                  <a:extLst>
                    <a:ext uri="{9D8B030D-6E8A-4147-A177-3AD203B41FA5}">
                      <a16:colId xmlns:a16="http://schemas.microsoft.com/office/drawing/2014/main" val="1800276315"/>
                    </a:ext>
                  </a:extLst>
                </a:gridCol>
                <a:gridCol w="1824540">
                  <a:extLst>
                    <a:ext uri="{9D8B030D-6E8A-4147-A177-3AD203B41FA5}">
                      <a16:colId xmlns:a16="http://schemas.microsoft.com/office/drawing/2014/main" val="3729637367"/>
                    </a:ext>
                  </a:extLst>
                </a:gridCol>
                <a:gridCol w="1792923">
                  <a:extLst>
                    <a:ext uri="{9D8B030D-6E8A-4147-A177-3AD203B41FA5}">
                      <a16:colId xmlns:a16="http://schemas.microsoft.com/office/drawing/2014/main" val="3077415562"/>
                    </a:ext>
                  </a:extLst>
                </a:gridCol>
                <a:gridCol w="2514380">
                  <a:extLst>
                    <a:ext uri="{9D8B030D-6E8A-4147-A177-3AD203B41FA5}">
                      <a16:colId xmlns:a16="http://schemas.microsoft.com/office/drawing/2014/main" val="1722021078"/>
                    </a:ext>
                  </a:extLst>
                </a:gridCol>
              </a:tblGrid>
              <a:tr h="1623194">
                <a:tc>
                  <a:txBody>
                    <a:bodyPr/>
                    <a:lstStyle/>
                    <a:p>
                      <a:pPr marL="0" marR="0" indent="457200" algn="l">
                        <a:lnSpc>
                          <a:spcPct val="150000"/>
                        </a:lnSpc>
                        <a:spcBef>
                          <a:spcPts val="0"/>
                        </a:spcBef>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metric</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Baseline (Original)</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Augmented (Synthetic)</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Δ Cải thiện (Aug. - Base)</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06712211"/>
                  </a:ext>
                </a:extLst>
              </a:tr>
              <a:tr h="591229">
                <a:tc>
                  <a:txBody>
                    <a:bodyPr/>
                    <a:lstStyle/>
                    <a:p>
                      <a:pPr marL="0" marR="0" indent="457200" algn="l">
                        <a:lnSpc>
                          <a:spcPct val="150000"/>
                        </a:lnSpc>
                        <a:spcBef>
                          <a:spcPts val="0"/>
                        </a:spcBef>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EM</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38.20%</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29.20%</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 9.0%</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785552585"/>
                  </a:ext>
                </a:extLst>
              </a:tr>
              <a:tr h="591229">
                <a:tc>
                  <a:txBody>
                    <a:bodyPr/>
                    <a:lstStyle/>
                    <a:p>
                      <a:pPr marL="0" marR="0" indent="45720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F1_score</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0" algn="ctr">
                        <a:lnSpc>
                          <a:spcPct val="150000"/>
                        </a:lnSpc>
                        <a:spcBef>
                          <a:spcPts val="0"/>
                        </a:spcBef>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60.60%</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50.00%</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 10.6%</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163733260"/>
                  </a:ext>
                </a:extLst>
              </a:tr>
              <a:tr h="591229">
                <a:tc>
                  <a:txBody>
                    <a:bodyPr/>
                    <a:lstStyle/>
                    <a:p>
                      <a:pPr marL="0" marR="0" indent="0" algn="just">
                        <a:lnSpc>
                          <a:spcPct val="150000"/>
                        </a:lnSpc>
                        <a:spcBef>
                          <a:spcPts val="0"/>
                        </a:spcBef>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BLEU-4</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57.17%</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l">
                        <a:lnSpc>
                          <a:spcPct val="150000"/>
                        </a:lnSpc>
                        <a:spcBef>
                          <a:spcPts val="0"/>
                        </a:spcBef>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41.83%</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 15.34%</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11902562"/>
                  </a:ext>
                </a:extLst>
              </a:tr>
              <a:tr h="591229">
                <a:tc>
                  <a:txBody>
                    <a:bodyPr/>
                    <a:lstStyle/>
                    <a:p>
                      <a:pPr marL="0" marR="0" indent="45720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ROUGE-1</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68.03%</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l">
                        <a:lnSpc>
                          <a:spcPct val="150000"/>
                        </a:lnSpc>
                        <a:spcBef>
                          <a:spcPts val="0"/>
                        </a:spcBef>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58.06%</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 9.97%</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83246256"/>
                  </a:ext>
                </a:extLst>
              </a:tr>
              <a:tr h="591229">
                <a:tc>
                  <a:txBody>
                    <a:bodyPr/>
                    <a:lstStyle/>
                    <a:p>
                      <a:pPr marL="0" marR="0" indent="45720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ROUGE-2</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57.51%</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46.43%</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marL="0" marR="0" indent="457200" algn="ctr">
                        <a:lnSpc>
                          <a:spcPct val="150000"/>
                        </a:lnSpc>
                        <a:spcBef>
                          <a:spcPts val="0"/>
                        </a:spcBef>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11.08%</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35280352"/>
                  </a:ext>
                </a:extLst>
              </a:tr>
              <a:tr h="591229">
                <a:tc>
                  <a:txBody>
                    <a:bodyPr/>
                    <a:lstStyle/>
                    <a:p>
                      <a:pPr marL="0" marR="0" indent="45720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ROUGE-L</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0" algn="ctr">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66.38%</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457200" algn="l">
                        <a:lnSpc>
                          <a:spcPct val="150000"/>
                        </a:lnSpc>
                        <a:spcBef>
                          <a:spcPts val="0"/>
                        </a:spcBef>
                        <a:spcAft>
                          <a:spcPts val="0"/>
                        </a:spcAft>
                      </a:pPr>
                      <a:r>
                        <a:rPr lang="en-US" sz="2300">
                          <a:effectLst/>
                          <a:latin typeface="Times New Roman" panose="02020603050405020304" pitchFamily="18" charset="0"/>
                          <a:ea typeface="Calibri" panose="020F0502020204030204" pitchFamily="34" charset="0"/>
                          <a:cs typeface="Times New Roman" panose="02020603050405020304" pitchFamily="18" charset="0"/>
                        </a:rPr>
                        <a:t>55.71%</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indent="457200" algn="ctr">
                        <a:lnSpc>
                          <a:spcPct val="150000"/>
                        </a:lnSpc>
                        <a:spcBef>
                          <a:spcPts val="0"/>
                        </a:spcBef>
                        <a:spcAft>
                          <a:spcPts val="0"/>
                        </a:spcAft>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10.67%</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7558587"/>
                  </a:ext>
                </a:extLst>
              </a:tr>
            </a:tbl>
          </a:graphicData>
        </a:graphic>
      </p:graphicFrame>
    </p:spTree>
    <p:extLst>
      <p:ext uri="{BB962C8B-B14F-4D97-AF65-F5344CB8AC3E}">
        <p14:creationId xmlns:p14="http://schemas.microsoft.com/office/powerpoint/2010/main" val="821721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80002-3D7E-23AC-C260-7C735FCD4A0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3384DF2B-93C0-DE9E-A2CE-FE5C8A9AAC44}"/>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21E9A277-AB1C-B4C1-575B-CEEB1E5103B6}"/>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688B5EE0-2D25-F03C-CE69-E0DBCDB593E2}"/>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D2D5615B-340D-95B3-2AE5-F5C7E4F2AC84}"/>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2D2F29AC-ED92-9227-1629-BDCF37E3044A}"/>
              </a:ext>
            </a:extLst>
          </p:cNvPr>
          <p:cNvSpPr>
            <a:spLocks noGrp="1"/>
          </p:cNvSpPr>
          <p:nvPr>
            <p:ph type="title"/>
          </p:nvPr>
        </p:nvSpPr>
        <p:spPr>
          <a:xfrm>
            <a:off x="-2415" y="10956"/>
            <a:ext cx="7886700" cy="1325563"/>
          </a:xfrm>
        </p:spPr>
        <p:txBody>
          <a:bodyPr/>
          <a:lstStyle/>
          <a:p>
            <a:r>
              <a:rPr lang="en-US" dirty="0" err="1">
                <a:latin typeface="Times New Roman"/>
                <a:cs typeface="Times New Roman"/>
              </a:rPr>
              <a:t>Kết</a:t>
            </a:r>
            <a:r>
              <a:rPr lang="en-US" dirty="0">
                <a:latin typeface="Times New Roman"/>
                <a:cs typeface="Times New Roman"/>
              </a:rPr>
              <a:t> </a:t>
            </a:r>
            <a:r>
              <a:rPr lang="en-US" dirty="0" err="1">
                <a:latin typeface="Times New Roman"/>
                <a:cs typeface="Times New Roman"/>
              </a:rPr>
              <a:t>quả</a:t>
            </a:r>
            <a:endParaRPr lang="vi-VN" dirty="0">
              <a:latin typeface="Times New Roman"/>
              <a:cs typeface="Times New Roman"/>
            </a:endParaRPr>
          </a:p>
        </p:txBody>
      </p:sp>
      <p:sp>
        <p:nvSpPr>
          <p:cNvPr id="9" name="Content Placeholder 2">
            <a:extLst>
              <a:ext uri="{FF2B5EF4-FFF2-40B4-BE49-F238E27FC236}">
                <a16:creationId xmlns:a16="http://schemas.microsoft.com/office/drawing/2014/main" id="{1D822366-D531-9967-750E-F2AAA1963E90}"/>
              </a:ext>
            </a:extLst>
          </p:cNvPr>
          <p:cNvSpPr>
            <a:spLocks noGrp="1"/>
          </p:cNvSpPr>
          <p:nvPr>
            <p:ph idx="1"/>
          </p:nvPr>
        </p:nvSpPr>
        <p:spPr>
          <a:xfrm>
            <a:off x="-2415" y="1503653"/>
            <a:ext cx="9148829" cy="5188464"/>
          </a:xfrm>
        </p:spPr>
        <p:txBody>
          <a:bodyPr vert="horz" lIns="91440" tIns="45720" rIns="91440" bIns="45720" rtlCol="0" anchor="t">
            <a:normAutofit/>
          </a:bodyPr>
          <a:lstStyle/>
          <a:p>
            <a:pPr>
              <a:buNone/>
            </a:pPr>
            <a:endParaRPr lang="en-US">
              <a:ea typeface="+mn-lt"/>
              <a:cs typeface="+mn-lt"/>
            </a:endParaRPr>
          </a:p>
          <a:p>
            <a:pPr marL="0" indent="0">
              <a:buNone/>
            </a:pPr>
            <a:endParaRPr lang="en-US" sz="2600" b="1">
              <a:solidFill>
                <a:srgbClr val="373A3C"/>
              </a:solidFill>
              <a:latin typeface="Calibri"/>
              <a:ea typeface="Calibri"/>
              <a:cs typeface="Calibri"/>
            </a:endParaRPr>
          </a:p>
        </p:txBody>
      </p:sp>
      <p:pic>
        <p:nvPicPr>
          <p:cNvPr id="10" name="Picture 9">
            <a:extLst>
              <a:ext uri="{FF2B5EF4-FFF2-40B4-BE49-F238E27FC236}">
                <a16:creationId xmlns:a16="http://schemas.microsoft.com/office/drawing/2014/main" id="{BFD20283-0FF5-4442-BD48-D0F6348655A8}"/>
              </a:ext>
            </a:extLst>
          </p:cNvPr>
          <p:cNvPicPr>
            <a:picLocks noChangeAspect="1"/>
          </p:cNvPicPr>
          <p:nvPr/>
        </p:nvPicPr>
        <p:blipFill>
          <a:blip r:embed="rId3"/>
          <a:stretch>
            <a:fillRect/>
          </a:stretch>
        </p:blipFill>
        <p:spPr>
          <a:xfrm>
            <a:off x="81368" y="1917756"/>
            <a:ext cx="9062632" cy="4322464"/>
          </a:xfrm>
          <a:prstGeom prst="rect">
            <a:avLst/>
          </a:prstGeom>
        </p:spPr>
      </p:pic>
    </p:spTree>
    <p:extLst>
      <p:ext uri="{BB962C8B-B14F-4D97-AF65-F5344CB8AC3E}">
        <p14:creationId xmlns:p14="http://schemas.microsoft.com/office/powerpoint/2010/main" val="2797055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A8E97-6A94-9C80-127D-BF5DEC3A450C}"/>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B1A2E2C3-ED28-C91B-C9E1-78264603F265}"/>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3BDDDEC7-85AB-CDFC-A678-48ABE91BE83E}"/>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A58E8A5A-679E-1999-70F7-F6F3061F1A4A}"/>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878B7D05-AEFC-BEE1-5B46-CB6AF9E7D51A}"/>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EFBEBB80-A91E-02A8-BC5D-43F686FB5CCD}"/>
              </a:ext>
            </a:extLst>
          </p:cNvPr>
          <p:cNvSpPr>
            <a:spLocks noGrp="1"/>
          </p:cNvSpPr>
          <p:nvPr>
            <p:ph type="title"/>
          </p:nvPr>
        </p:nvSpPr>
        <p:spPr>
          <a:xfrm>
            <a:off x="-2415" y="10956"/>
            <a:ext cx="7886700" cy="1325563"/>
          </a:xfrm>
        </p:spPr>
        <p:txBody>
          <a:bodyPr/>
          <a:lstStyle/>
          <a:p>
            <a:r>
              <a:rPr lang="vi-VN">
                <a:latin typeface="Times New Roman"/>
                <a:cs typeface="Times New Roman"/>
              </a:rPr>
              <a:t>Đánh giá bằng LLM</a:t>
            </a:r>
          </a:p>
        </p:txBody>
      </p:sp>
      <p:sp>
        <p:nvSpPr>
          <p:cNvPr id="9" name="Content Placeholder 2">
            <a:extLst>
              <a:ext uri="{FF2B5EF4-FFF2-40B4-BE49-F238E27FC236}">
                <a16:creationId xmlns:a16="http://schemas.microsoft.com/office/drawing/2014/main" id="{D30CC5D0-637A-BECD-524F-1A9EAE732F6C}"/>
              </a:ext>
            </a:extLst>
          </p:cNvPr>
          <p:cNvSpPr>
            <a:spLocks noGrp="1"/>
          </p:cNvSpPr>
          <p:nvPr>
            <p:ph idx="1"/>
          </p:nvPr>
        </p:nvSpPr>
        <p:spPr>
          <a:xfrm>
            <a:off x="-2415" y="1503653"/>
            <a:ext cx="9148829" cy="5188464"/>
          </a:xfrm>
        </p:spPr>
        <p:txBody>
          <a:bodyPr vert="horz" lIns="91440" tIns="45720" rIns="91440" bIns="45720" rtlCol="0" anchor="t">
            <a:noAutofit/>
          </a:bodyPr>
          <a:lstStyle/>
          <a:p>
            <a:pPr>
              <a:buFont typeface="Arial"/>
              <a:buChar char="•"/>
            </a:pPr>
            <a:r>
              <a:rPr lang="en-US" sz="2000" b="1" dirty="0" err="1">
                <a:ea typeface="+mn-lt"/>
                <a:cs typeface="+mn-lt"/>
              </a:rPr>
              <a:t>Mục</a:t>
            </a:r>
            <a:r>
              <a:rPr lang="en-US" sz="2000" b="1" dirty="0">
                <a:ea typeface="+mn-lt"/>
                <a:cs typeface="+mn-lt"/>
              </a:rPr>
              <a:t> </a:t>
            </a:r>
            <a:r>
              <a:rPr lang="en-US" sz="2000" b="1" dirty="0" err="1">
                <a:ea typeface="+mn-lt"/>
                <a:cs typeface="+mn-lt"/>
              </a:rPr>
              <a:t>tiêu</a:t>
            </a:r>
            <a:r>
              <a:rPr lang="en-US" sz="2000" b="1" dirty="0">
                <a:ea typeface="+mn-lt"/>
                <a:cs typeface="+mn-lt"/>
              </a:rPr>
              <a:t>:</a:t>
            </a:r>
            <a:endParaRPr lang="vi-VN" sz="2000" dirty="0">
              <a:latin typeface="Arial"/>
              <a:cs typeface="Arial"/>
            </a:endParaRPr>
          </a:p>
          <a:p>
            <a:pPr lvl="1" indent="-285750">
              <a:buFont typeface="Arial"/>
              <a:buChar char="•"/>
            </a:pPr>
            <a:r>
              <a:rPr lang="en-US" sz="2000" dirty="0" err="1">
                <a:ea typeface="+mn-lt"/>
                <a:cs typeface="+mn-lt"/>
              </a:rPr>
              <a:t>Bổ</a:t>
            </a:r>
            <a:r>
              <a:rPr lang="en-US" sz="2000" dirty="0">
                <a:ea typeface="+mn-lt"/>
                <a:cs typeface="+mn-lt"/>
              </a:rPr>
              <a:t> sung </a:t>
            </a:r>
            <a:r>
              <a:rPr lang="en-US" sz="2000" dirty="0" err="1">
                <a:ea typeface="+mn-lt"/>
                <a:cs typeface="+mn-lt"/>
              </a:rPr>
              <a:t>góc</a:t>
            </a:r>
            <a:r>
              <a:rPr lang="en-US" sz="2000" dirty="0">
                <a:ea typeface="+mn-lt"/>
                <a:cs typeface="+mn-lt"/>
              </a:rPr>
              <a:t> </a:t>
            </a:r>
            <a:r>
              <a:rPr lang="en-US" sz="2000" dirty="0" err="1">
                <a:ea typeface="+mn-lt"/>
                <a:cs typeface="+mn-lt"/>
              </a:rPr>
              <a:t>nhìn</a:t>
            </a:r>
            <a:r>
              <a:rPr lang="en-US" sz="2000" dirty="0">
                <a:ea typeface="+mn-lt"/>
                <a:cs typeface="+mn-lt"/>
              </a:rPr>
              <a:t> </a:t>
            </a:r>
            <a:r>
              <a:rPr lang="en-US" sz="2000" dirty="0" err="1">
                <a:ea typeface="+mn-lt"/>
                <a:cs typeface="+mn-lt"/>
              </a:rPr>
              <a:t>về</a:t>
            </a:r>
            <a:r>
              <a:rPr lang="en-US" sz="2000" dirty="0">
                <a:ea typeface="+mn-lt"/>
                <a:cs typeface="+mn-lt"/>
              </a:rPr>
              <a:t> </a:t>
            </a:r>
            <a:r>
              <a:rPr lang="en-US" sz="2000" dirty="0" err="1">
                <a:ea typeface="+mn-lt"/>
                <a:cs typeface="+mn-lt"/>
              </a:rPr>
              <a:t>ngữ</a:t>
            </a:r>
            <a:r>
              <a:rPr lang="en-US" sz="2000" dirty="0">
                <a:ea typeface="+mn-lt"/>
                <a:cs typeface="+mn-lt"/>
              </a:rPr>
              <a:t> </a:t>
            </a:r>
            <a:r>
              <a:rPr lang="en-US" sz="2000" dirty="0" err="1">
                <a:ea typeface="+mn-lt"/>
                <a:cs typeface="+mn-lt"/>
              </a:rPr>
              <a:t>nghĩa</a:t>
            </a:r>
            <a:r>
              <a:rPr lang="en-US" sz="2000" dirty="0">
                <a:ea typeface="+mn-lt"/>
                <a:cs typeface="+mn-lt"/>
              </a:rPr>
              <a:t> </a:t>
            </a:r>
            <a:r>
              <a:rPr lang="en-US" sz="2000" dirty="0" err="1">
                <a:ea typeface="+mn-lt"/>
                <a:cs typeface="+mn-lt"/>
              </a:rPr>
              <a:t>và</a:t>
            </a:r>
            <a:r>
              <a:rPr lang="en-US" sz="2000" dirty="0">
                <a:ea typeface="+mn-lt"/>
                <a:cs typeface="+mn-lt"/>
              </a:rPr>
              <a:t> </a:t>
            </a:r>
            <a:r>
              <a:rPr lang="en-US" sz="2000" dirty="0" err="1">
                <a:ea typeface="+mn-lt"/>
                <a:cs typeface="+mn-lt"/>
              </a:rPr>
              <a:t>khả</a:t>
            </a:r>
            <a:r>
              <a:rPr lang="en-US" sz="2000" dirty="0">
                <a:ea typeface="+mn-lt"/>
                <a:cs typeface="+mn-lt"/>
              </a:rPr>
              <a:t> </a:t>
            </a:r>
            <a:r>
              <a:rPr lang="en-US" sz="2000" dirty="0" err="1">
                <a:ea typeface="+mn-lt"/>
                <a:cs typeface="+mn-lt"/>
              </a:rPr>
              <a:t>năng</a:t>
            </a:r>
            <a:r>
              <a:rPr lang="en-US" sz="2000" dirty="0">
                <a:ea typeface="+mn-lt"/>
                <a:cs typeface="+mn-lt"/>
              </a:rPr>
              <a:t> </a:t>
            </a:r>
            <a:r>
              <a:rPr lang="en-US" sz="2000" dirty="0" err="1">
                <a:ea typeface="+mn-lt"/>
                <a:cs typeface="+mn-lt"/>
              </a:rPr>
              <a:t>lập</a:t>
            </a:r>
            <a:r>
              <a:rPr lang="en-US" sz="2000" dirty="0">
                <a:ea typeface="+mn-lt"/>
                <a:cs typeface="+mn-lt"/>
              </a:rPr>
              <a:t> </a:t>
            </a:r>
            <a:r>
              <a:rPr lang="en-US" sz="2000" dirty="0" err="1">
                <a:ea typeface="+mn-lt"/>
                <a:cs typeface="+mn-lt"/>
              </a:rPr>
              <a:t>luận</a:t>
            </a:r>
            <a:r>
              <a:rPr lang="en-US" sz="2000" dirty="0">
                <a:ea typeface="+mn-lt"/>
                <a:cs typeface="+mn-lt"/>
              </a:rPr>
              <a:t> </a:t>
            </a:r>
            <a:r>
              <a:rPr lang="en-US" sz="2000" dirty="0" err="1">
                <a:ea typeface="+mn-lt"/>
                <a:cs typeface="+mn-lt"/>
              </a:rPr>
              <a:t>mà</a:t>
            </a:r>
            <a:r>
              <a:rPr lang="en-US" sz="2000" dirty="0">
                <a:ea typeface="+mn-lt"/>
                <a:cs typeface="+mn-lt"/>
              </a:rPr>
              <a:t> </a:t>
            </a:r>
            <a:r>
              <a:rPr lang="en-US" sz="2000" dirty="0" err="1">
                <a:ea typeface="+mn-lt"/>
                <a:cs typeface="+mn-lt"/>
              </a:rPr>
              <a:t>các</a:t>
            </a:r>
            <a:r>
              <a:rPr lang="en-US" sz="2000" dirty="0">
                <a:ea typeface="+mn-lt"/>
                <a:cs typeface="+mn-lt"/>
              </a:rPr>
              <a:t> </a:t>
            </a:r>
            <a:r>
              <a:rPr lang="en-US" sz="2000" dirty="0" err="1">
                <a:ea typeface="+mn-lt"/>
                <a:cs typeface="+mn-lt"/>
              </a:rPr>
              <a:t>chỉ</a:t>
            </a:r>
            <a:r>
              <a:rPr lang="en-US" sz="2000" dirty="0">
                <a:ea typeface="+mn-lt"/>
                <a:cs typeface="+mn-lt"/>
              </a:rPr>
              <a:t> </a:t>
            </a:r>
            <a:r>
              <a:rPr lang="en-US" sz="2000" dirty="0" err="1">
                <a:ea typeface="+mn-lt"/>
                <a:cs typeface="+mn-lt"/>
              </a:rPr>
              <a:t>số</a:t>
            </a:r>
            <a:r>
              <a:rPr lang="en-US" sz="2000" dirty="0">
                <a:ea typeface="+mn-lt"/>
                <a:cs typeface="+mn-lt"/>
              </a:rPr>
              <a:t> </a:t>
            </a:r>
            <a:r>
              <a:rPr lang="en-US" sz="2000" dirty="0" err="1">
                <a:ea typeface="+mn-lt"/>
                <a:cs typeface="+mn-lt"/>
              </a:rPr>
              <a:t>truyền</a:t>
            </a:r>
            <a:r>
              <a:rPr lang="en-US" sz="2000" dirty="0">
                <a:ea typeface="+mn-lt"/>
                <a:cs typeface="+mn-lt"/>
              </a:rPr>
              <a:t> </a:t>
            </a:r>
            <a:r>
              <a:rPr lang="en-US" sz="2000" dirty="0" err="1">
                <a:ea typeface="+mn-lt"/>
                <a:cs typeface="+mn-lt"/>
              </a:rPr>
              <a:t>thống</a:t>
            </a:r>
            <a:r>
              <a:rPr lang="en-US" sz="2000" dirty="0">
                <a:ea typeface="+mn-lt"/>
                <a:cs typeface="+mn-lt"/>
              </a:rPr>
              <a:t> (</a:t>
            </a:r>
            <a:r>
              <a:rPr lang="en-US" sz="2000" dirty="0" err="1">
                <a:ea typeface="+mn-lt"/>
                <a:cs typeface="+mn-lt"/>
              </a:rPr>
              <a:t>như</a:t>
            </a:r>
            <a:r>
              <a:rPr lang="en-US" sz="2000" dirty="0">
                <a:ea typeface="+mn-lt"/>
                <a:cs typeface="+mn-lt"/>
              </a:rPr>
              <a:t> ROUGE, BLEU) </a:t>
            </a:r>
            <a:r>
              <a:rPr lang="en-US" sz="2000" dirty="0" err="1">
                <a:ea typeface="+mn-lt"/>
                <a:cs typeface="+mn-lt"/>
              </a:rPr>
              <a:t>không</a:t>
            </a:r>
            <a:r>
              <a:rPr lang="en-US" sz="2000" dirty="0">
                <a:ea typeface="+mn-lt"/>
                <a:cs typeface="+mn-lt"/>
              </a:rPr>
              <a:t> </a:t>
            </a:r>
            <a:r>
              <a:rPr lang="en-US" sz="2000" dirty="0" err="1">
                <a:ea typeface="+mn-lt"/>
                <a:cs typeface="+mn-lt"/>
              </a:rPr>
              <a:t>đo</a:t>
            </a:r>
            <a:r>
              <a:rPr lang="en-US" sz="2000" dirty="0">
                <a:ea typeface="+mn-lt"/>
                <a:cs typeface="+mn-lt"/>
              </a:rPr>
              <a:t> </a:t>
            </a:r>
            <a:r>
              <a:rPr lang="en-US" sz="2000" dirty="0" err="1">
                <a:ea typeface="+mn-lt"/>
                <a:cs typeface="+mn-lt"/>
              </a:rPr>
              <a:t>lường</a:t>
            </a:r>
            <a:r>
              <a:rPr lang="en-US" sz="2000" dirty="0">
                <a:ea typeface="+mn-lt"/>
                <a:cs typeface="+mn-lt"/>
              </a:rPr>
              <a:t> </a:t>
            </a:r>
            <a:r>
              <a:rPr lang="en-US" sz="2000" dirty="0" err="1">
                <a:ea typeface="+mn-lt"/>
                <a:cs typeface="+mn-lt"/>
              </a:rPr>
              <a:t>hết</a:t>
            </a:r>
            <a:r>
              <a:rPr lang="en-US" sz="2000" dirty="0">
                <a:ea typeface="+mn-lt"/>
                <a:cs typeface="+mn-lt"/>
              </a:rPr>
              <a:t> </a:t>
            </a:r>
            <a:r>
              <a:rPr lang="en-US" sz="2000" dirty="0" err="1">
                <a:ea typeface="+mn-lt"/>
                <a:cs typeface="+mn-lt"/>
              </a:rPr>
              <a:t>được</a:t>
            </a:r>
            <a:r>
              <a:rPr lang="en-US" sz="2000" dirty="0">
                <a:ea typeface="+mn-lt"/>
                <a:cs typeface="+mn-lt"/>
              </a:rPr>
              <a:t>.</a:t>
            </a:r>
          </a:p>
          <a:p>
            <a:pPr>
              <a:buFont typeface="Arial"/>
              <a:buChar char="•"/>
            </a:pPr>
            <a:r>
              <a:rPr lang="en-US" sz="2000" b="1" dirty="0" err="1">
                <a:ea typeface="+mn-lt"/>
                <a:cs typeface="+mn-lt"/>
              </a:rPr>
              <a:t>Thiết</a:t>
            </a:r>
            <a:r>
              <a:rPr lang="en-US" sz="2000" b="1" dirty="0">
                <a:ea typeface="+mn-lt"/>
                <a:cs typeface="+mn-lt"/>
              </a:rPr>
              <a:t> </a:t>
            </a:r>
            <a:r>
              <a:rPr lang="en-US" sz="2000" b="1" dirty="0" err="1">
                <a:ea typeface="+mn-lt"/>
                <a:cs typeface="+mn-lt"/>
              </a:rPr>
              <a:t>lập</a:t>
            </a:r>
            <a:r>
              <a:rPr lang="en-US" sz="2000" b="1" dirty="0">
                <a:ea typeface="+mn-lt"/>
                <a:cs typeface="+mn-lt"/>
              </a:rPr>
              <a:t> </a:t>
            </a:r>
            <a:r>
              <a:rPr lang="en-US" sz="2000" b="1" dirty="0" err="1">
                <a:ea typeface="+mn-lt"/>
                <a:cs typeface="+mn-lt"/>
              </a:rPr>
              <a:t>thực</a:t>
            </a:r>
            <a:r>
              <a:rPr lang="en-US" sz="2000" b="1" dirty="0">
                <a:ea typeface="+mn-lt"/>
                <a:cs typeface="+mn-lt"/>
              </a:rPr>
              <a:t> </a:t>
            </a:r>
            <a:r>
              <a:rPr lang="en-US" sz="2000" b="1" dirty="0" err="1">
                <a:ea typeface="+mn-lt"/>
                <a:cs typeface="+mn-lt"/>
              </a:rPr>
              <a:t>nghiệm</a:t>
            </a:r>
            <a:r>
              <a:rPr lang="en-US" sz="2000" b="1" dirty="0">
                <a:ea typeface="+mn-lt"/>
                <a:cs typeface="+mn-lt"/>
              </a:rPr>
              <a:t>:</a:t>
            </a:r>
          </a:p>
          <a:p>
            <a:pPr lvl="1" indent="-285750">
              <a:buFont typeface="Arial"/>
              <a:buChar char="•"/>
            </a:pPr>
            <a:r>
              <a:rPr lang="en-US" sz="2000" b="1" dirty="0" err="1">
                <a:ea typeface="+mn-lt"/>
                <a:cs typeface="+mn-lt"/>
              </a:rPr>
              <a:t>Giám</a:t>
            </a:r>
            <a:r>
              <a:rPr lang="en-US" sz="2000" b="1" dirty="0">
                <a:ea typeface="+mn-lt"/>
                <a:cs typeface="+mn-lt"/>
              </a:rPr>
              <a:t> </a:t>
            </a:r>
            <a:r>
              <a:rPr lang="en-US" sz="2000" b="1" dirty="0" err="1">
                <a:ea typeface="+mn-lt"/>
                <a:cs typeface="+mn-lt"/>
              </a:rPr>
              <a:t>khảo</a:t>
            </a:r>
            <a:r>
              <a:rPr lang="en-US" sz="2000" b="1" dirty="0">
                <a:ea typeface="+mn-lt"/>
                <a:cs typeface="+mn-lt"/>
              </a:rPr>
              <a:t> (Judge):</a:t>
            </a:r>
            <a:r>
              <a:rPr lang="en-US" sz="2000" dirty="0">
                <a:ea typeface="+mn-lt"/>
                <a:cs typeface="+mn-lt"/>
              </a:rPr>
              <a:t> </a:t>
            </a:r>
            <a:r>
              <a:rPr lang="en-US" sz="2000" dirty="0" err="1">
                <a:ea typeface="+mn-lt"/>
                <a:cs typeface="+mn-lt"/>
              </a:rPr>
              <a:t>Sử</a:t>
            </a:r>
            <a:r>
              <a:rPr lang="en-US" sz="2000" dirty="0">
                <a:ea typeface="+mn-lt"/>
                <a:cs typeface="+mn-lt"/>
              </a:rPr>
              <a:t> </a:t>
            </a:r>
            <a:r>
              <a:rPr lang="en-US" sz="2000" dirty="0" err="1">
                <a:ea typeface="+mn-lt"/>
                <a:cs typeface="+mn-lt"/>
              </a:rPr>
              <a:t>dụng</a:t>
            </a:r>
            <a:r>
              <a:rPr lang="en-US" sz="2000" dirty="0">
                <a:ea typeface="+mn-lt"/>
                <a:cs typeface="+mn-lt"/>
              </a:rPr>
              <a:t> </a:t>
            </a:r>
            <a:r>
              <a:rPr lang="en-US" sz="2000" dirty="0" err="1">
                <a:ea typeface="+mn-lt"/>
                <a:cs typeface="+mn-lt"/>
              </a:rPr>
              <a:t>mô</a:t>
            </a:r>
            <a:r>
              <a:rPr lang="en-US" sz="2000" dirty="0">
                <a:ea typeface="+mn-lt"/>
                <a:cs typeface="+mn-lt"/>
              </a:rPr>
              <a:t> </a:t>
            </a:r>
            <a:r>
              <a:rPr lang="en-US" sz="2000" dirty="0" err="1">
                <a:ea typeface="+mn-lt"/>
                <a:cs typeface="+mn-lt"/>
              </a:rPr>
              <a:t>hình</a:t>
            </a:r>
            <a:r>
              <a:rPr lang="en-US" sz="2000" dirty="0">
                <a:ea typeface="+mn-lt"/>
                <a:cs typeface="+mn-lt"/>
              </a:rPr>
              <a:t> </a:t>
            </a:r>
            <a:r>
              <a:rPr lang="en-US" sz="1800" b="1" dirty="0">
                <a:effectLst/>
                <a:latin typeface="Times New Roman" panose="02020603050405020304" pitchFamily="18" charset="0"/>
                <a:ea typeface="Calibri" panose="020F0502020204030204" pitchFamily="34" charset="0"/>
              </a:rPr>
              <a:t>llama-3.3-70b-versatile</a:t>
            </a:r>
            <a:r>
              <a:rPr lang="en-US" sz="2000" dirty="0">
                <a:ea typeface="+mn-lt"/>
                <a:cs typeface="+mn-lt"/>
              </a:rPr>
              <a:t>.</a:t>
            </a:r>
          </a:p>
          <a:p>
            <a:pPr lvl="1" indent="-285750">
              <a:buFont typeface="Arial"/>
              <a:buChar char="•"/>
            </a:pPr>
            <a:r>
              <a:rPr lang="en-US" sz="2000" b="1" dirty="0" err="1">
                <a:ea typeface="+mn-lt"/>
                <a:cs typeface="+mn-lt"/>
              </a:rPr>
              <a:t>Dữ</a:t>
            </a:r>
            <a:r>
              <a:rPr lang="en-US" sz="2000" b="1" dirty="0">
                <a:ea typeface="+mn-lt"/>
                <a:cs typeface="+mn-lt"/>
              </a:rPr>
              <a:t> </a:t>
            </a:r>
            <a:r>
              <a:rPr lang="en-US" sz="2000" b="1" dirty="0" err="1">
                <a:ea typeface="+mn-lt"/>
                <a:cs typeface="+mn-lt"/>
              </a:rPr>
              <a:t>liệu</a:t>
            </a:r>
            <a:r>
              <a:rPr lang="en-US" sz="2000" b="1" dirty="0">
                <a:ea typeface="+mn-lt"/>
                <a:cs typeface="+mn-lt"/>
              </a:rPr>
              <a:t> </a:t>
            </a:r>
            <a:r>
              <a:rPr lang="en-US" sz="2000" b="1" dirty="0" err="1">
                <a:ea typeface="+mn-lt"/>
                <a:cs typeface="+mn-lt"/>
              </a:rPr>
              <a:t>mẫu</a:t>
            </a:r>
            <a:r>
              <a:rPr lang="en-US" sz="2000" b="1" dirty="0">
                <a:ea typeface="+mn-lt"/>
                <a:cs typeface="+mn-lt"/>
              </a:rPr>
              <a:t>:</a:t>
            </a:r>
            <a:r>
              <a:rPr lang="en-US" sz="2000" dirty="0">
                <a:ea typeface="+mn-lt"/>
                <a:cs typeface="+mn-lt"/>
              </a:rPr>
              <a:t> </a:t>
            </a:r>
            <a:r>
              <a:rPr lang="en-US" sz="2000" dirty="0" err="1">
                <a:ea typeface="+mn-lt"/>
                <a:cs typeface="+mn-lt"/>
              </a:rPr>
              <a:t>Chọn</a:t>
            </a:r>
            <a:r>
              <a:rPr lang="en-US" sz="2000" dirty="0">
                <a:ea typeface="+mn-lt"/>
                <a:cs typeface="+mn-lt"/>
              </a:rPr>
              <a:t> </a:t>
            </a:r>
            <a:r>
              <a:rPr lang="en-US" sz="2000" dirty="0" err="1">
                <a:ea typeface="+mn-lt"/>
                <a:cs typeface="+mn-lt"/>
              </a:rPr>
              <a:t>ngẫu</a:t>
            </a:r>
            <a:r>
              <a:rPr lang="en-US" sz="2000" dirty="0">
                <a:ea typeface="+mn-lt"/>
                <a:cs typeface="+mn-lt"/>
              </a:rPr>
              <a:t> </a:t>
            </a:r>
            <a:r>
              <a:rPr lang="en-US" sz="2000" dirty="0" err="1">
                <a:ea typeface="+mn-lt"/>
                <a:cs typeface="+mn-lt"/>
              </a:rPr>
              <a:t>nhiên</a:t>
            </a:r>
            <a:r>
              <a:rPr lang="en-US" sz="2000" dirty="0">
                <a:ea typeface="+mn-lt"/>
                <a:cs typeface="+mn-lt"/>
              </a:rPr>
              <a:t> </a:t>
            </a:r>
            <a:r>
              <a:rPr lang="en-US" sz="2000" b="1" dirty="0">
                <a:ea typeface="+mn-lt"/>
                <a:cs typeface="+mn-lt"/>
              </a:rPr>
              <a:t>50 </a:t>
            </a:r>
            <a:r>
              <a:rPr lang="en-US" sz="2000" b="1" dirty="0" err="1">
                <a:ea typeface="+mn-lt"/>
                <a:cs typeface="+mn-lt"/>
              </a:rPr>
              <a:t>mẫu</a:t>
            </a:r>
            <a:r>
              <a:rPr lang="en-US" sz="2000" dirty="0">
                <a:ea typeface="+mn-lt"/>
                <a:cs typeface="+mn-lt"/>
              </a:rPr>
              <a:t> </a:t>
            </a:r>
            <a:r>
              <a:rPr lang="en-US" sz="2000" dirty="0" err="1">
                <a:ea typeface="+mn-lt"/>
                <a:cs typeface="+mn-lt"/>
              </a:rPr>
              <a:t>từ</a:t>
            </a:r>
            <a:r>
              <a:rPr lang="en-US" sz="2000" dirty="0">
                <a:ea typeface="+mn-lt"/>
                <a:cs typeface="+mn-lt"/>
              </a:rPr>
              <a:t> </a:t>
            </a:r>
            <a:r>
              <a:rPr lang="en-US" sz="2000" dirty="0" err="1">
                <a:ea typeface="+mn-lt"/>
                <a:cs typeface="+mn-lt"/>
              </a:rPr>
              <a:t>tập</a:t>
            </a:r>
            <a:r>
              <a:rPr lang="en-US" sz="2000" dirty="0">
                <a:ea typeface="+mn-lt"/>
                <a:cs typeface="+mn-lt"/>
              </a:rPr>
              <a:t> Test.</a:t>
            </a:r>
          </a:p>
          <a:p>
            <a:pPr lvl="1" indent="-285750">
              <a:buFont typeface="Arial"/>
              <a:buChar char="•"/>
            </a:pPr>
            <a:r>
              <a:rPr lang="en-US" sz="2000" b="1" dirty="0" err="1">
                <a:ea typeface="+mn-lt"/>
                <a:cs typeface="+mn-lt"/>
              </a:rPr>
              <a:t>Quy</a:t>
            </a:r>
            <a:r>
              <a:rPr lang="en-US" sz="2000" b="1" dirty="0">
                <a:ea typeface="+mn-lt"/>
                <a:cs typeface="+mn-lt"/>
              </a:rPr>
              <a:t> </a:t>
            </a:r>
            <a:r>
              <a:rPr lang="en-US" sz="2000" b="1" dirty="0" err="1">
                <a:ea typeface="+mn-lt"/>
                <a:cs typeface="+mn-lt"/>
              </a:rPr>
              <a:t>trình</a:t>
            </a:r>
            <a:r>
              <a:rPr lang="en-US" sz="2000" b="1" dirty="0">
                <a:ea typeface="+mn-lt"/>
                <a:cs typeface="+mn-lt"/>
              </a:rPr>
              <a:t>:</a:t>
            </a:r>
            <a:r>
              <a:rPr lang="en-US" sz="2000" dirty="0">
                <a:ea typeface="+mn-lt"/>
                <a:cs typeface="+mn-lt"/>
              </a:rPr>
              <a:t> </a:t>
            </a:r>
            <a:r>
              <a:rPr lang="en-US" sz="2000" dirty="0" err="1">
                <a:ea typeface="+mn-lt"/>
                <a:cs typeface="+mn-lt"/>
              </a:rPr>
              <a:t>Mô</a:t>
            </a:r>
            <a:r>
              <a:rPr lang="en-US" sz="2000" dirty="0">
                <a:ea typeface="+mn-lt"/>
                <a:cs typeface="+mn-lt"/>
              </a:rPr>
              <a:t> </a:t>
            </a:r>
            <a:r>
              <a:rPr lang="en-US" sz="2000" dirty="0" err="1">
                <a:ea typeface="+mn-lt"/>
                <a:cs typeface="+mn-lt"/>
              </a:rPr>
              <a:t>hình</a:t>
            </a:r>
            <a:r>
              <a:rPr lang="en-US" sz="2000" dirty="0">
                <a:ea typeface="+mn-lt"/>
                <a:cs typeface="+mn-lt"/>
              </a:rPr>
              <a:t> </a:t>
            </a:r>
            <a:r>
              <a:rPr lang="en-US" sz="2000" dirty="0" err="1">
                <a:ea typeface="+mn-lt"/>
                <a:cs typeface="+mn-lt"/>
              </a:rPr>
              <a:t>sẽ</a:t>
            </a:r>
            <a:r>
              <a:rPr lang="en-US" sz="2000" dirty="0">
                <a:ea typeface="+mn-lt"/>
                <a:cs typeface="+mn-lt"/>
              </a:rPr>
              <a:t> </a:t>
            </a:r>
            <a:r>
              <a:rPr lang="en-US" sz="2000" dirty="0" err="1">
                <a:ea typeface="+mn-lt"/>
                <a:cs typeface="+mn-lt"/>
              </a:rPr>
              <a:t>đọc</a:t>
            </a:r>
            <a:r>
              <a:rPr lang="en-US" sz="2000" dirty="0">
                <a:ea typeface="+mn-lt"/>
                <a:cs typeface="+mn-lt"/>
              </a:rPr>
              <a:t> </a:t>
            </a:r>
            <a:r>
              <a:rPr lang="en-US" sz="2000" dirty="0" err="1">
                <a:ea typeface="+mn-lt"/>
                <a:cs typeface="+mn-lt"/>
              </a:rPr>
              <a:t>Đoạn</a:t>
            </a:r>
            <a:r>
              <a:rPr lang="en-US" sz="2000" dirty="0">
                <a:ea typeface="+mn-lt"/>
                <a:cs typeface="+mn-lt"/>
              </a:rPr>
              <a:t> </a:t>
            </a:r>
            <a:r>
              <a:rPr lang="en-US" sz="2000" dirty="0" err="1">
                <a:ea typeface="+mn-lt"/>
                <a:cs typeface="+mn-lt"/>
              </a:rPr>
              <a:t>văn</a:t>
            </a:r>
            <a:r>
              <a:rPr lang="en-US" sz="2000" dirty="0">
                <a:ea typeface="+mn-lt"/>
                <a:cs typeface="+mn-lt"/>
              </a:rPr>
              <a:t> (Context), </a:t>
            </a:r>
            <a:r>
              <a:rPr lang="en-US" sz="2000" dirty="0" err="1">
                <a:ea typeface="+mn-lt"/>
                <a:cs typeface="+mn-lt"/>
              </a:rPr>
              <a:t>Câu</a:t>
            </a:r>
            <a:r>
              <a:rPr lang="en-US" sz="2000" dirty="0">
                <a:ea typeface="+mn-lt"/>
                <a:cs typeface="+mn-lt"/>
              </a:rPr>
              <a:t> </a:t>
            </a:r>
            <a:r>
              <a:rPr lang="en-US" sz="2000" dirty="0" err="1">
                <a:ea typeface="+mn-lt"/>
                <a:cs typeface="+mn-lt"/>
              </a:rPr>
              <a:t>hỏi</a:t>
            </a:r>
            <a:r>
              <a:rPr lang="en-US" sz="2000" dirty="0">
                <a:ea typeface="+mn-lt"/>
                <a:cs typeface="+mn-lt"/>
              </a:rPr>
              <a:t>, </a:t>
            </a:r>
            <a:r>
              <a:rPr lang="en-US" sz="2000" dirty="0" err="1">
                <a:ea typeface="+mn-lt"/>
                <a:cs typeface="+mn-lt"/>
              </a:rPr>
              <a:t>Đáp</a:t>
            </a:r>
            <a:r>
              <a:rPr lang="en-US" sz="2000" dirty="0">
                <a:ea typeface="+mn-lt"/>
                <a:cs typeface="+mn-lt"/>
              </a:rPr>
              <a:t> </a:t>
            </a:r>
            <a:r>
              <a:rPr lang="en-US" sz="2000" dirty="0" err="1">
                <a:ea typeface="+mn-lt"/>
                <a:cs typeface="+mn-lt"/>
              </a:rPr>
              <a:t>án</a:t>
            </a:r>
            <a:r>
              <a:rPr lang="en-US" sz="2000" dirty="0">
                <a:ea typeface="+mn-lt"/>
                <a:cs typeface="+mn-lt"/>
              </a:rPr>
              <a:t> </a:t>
            </a:r>
            <a:r>
              <a:rPr lang="en-US" sz="2000" dirty="0" err="1">
                <a:ea typeface="+mn-lt"/>
                <a:cs typeface="+mn-lt"/>
              </a:rPr>
              <a:t>chuẩn</a:t>
            </a:r>
            <a:r>
              <a:rPr lang="en-US" sz="2000" dirty="0">
                <a:ea typeface="+mn-lt"/>
                <a:cs typeface="+mn-lt"/>
              </a:rPr>
              <a:t> (Ground Truth) </a:t>
            </a:r>
            <a:r>
              <a:rPr lang="en-US" sz="2000" dirty="0" err="1">
                <a:ea typeface="+mn-lt"/>
                <a:cs typeface="+mn-lt"/>
              </a:rPr>
              <a:t>và</a:t>
            </a:r>
            <a:r>
              <a:rPr lang="en-US" sz="2000" dirty="0">
                <a:ea typeface="+mn-lt"/>
                <a:cs typeface="+mn-lt"/>
              </a:rPr>
              <a:t> so </a:t>
            </a:r>
            <a:r>
              <a:rPr lang="en-US" sz="2000" dirty="0" err="1">
                <a:ea typeface="+mn-lt"/>
                <a:cs typeface="+mn-lt"/>
              </a:rPr>
              <a:t>sánh</a:t>
            </a:r>
            <a:r>
              <a:rPr lang="en-US" sz="2000" dirty="0">
                <a:ea typeface="+mn-lt"/>
                <a:cs typeface="+mn-lt"/>
              </a:rPr>
              <a:t> </a:t>
            </a:r>
            <a:r>
              <a:rPr lang="en-US" sz="2000" dirty="0" err="1">
                <a:ea typeface="+mn-lt"/>
                <a:cs typeface="+mn-lt"/>
              </a:rPr>
              <a:t>câu</a:t>
            </a:r>
            <a:r>
              <a:rPr lang="en-US" sz="2000" dirty="0">
                <a:ea typeface="+mn-lt"/>
                <a:cs typeface="+mn-lt"/>
              </a:rPr>
              <a:t> </a:t>
            </a:r>
            <a:r>
              <a:rPr lang="en-US" sz="2000" dirty="0" err="1">
                <a:ea typeface="+mn-lt"/>
                <a:cs typeface="+mn-lt"/>
              </a:rPr>
              <a:t>trả</a:t>
            </a:r>
            <a:r>
              <a:rPr lang="en-US" sz="2000" dirty="0">
                <a:ea typeface="+mn-lt"/>
                <a:cs typeface="+mn-lt"/>
              </a:rPr>
              <a:t> </a:t>
            </a:r>
            <a:r>
              <a:rPr lang="en-US" sz="2000" dirty="0" err="1">
                <a:ea typeface="+mn-lt"/>
                <a:cs typeface="+mn-lt"/>
              </a:rPr>
              <a:t>lời</a:t>
            </a:r>
            <a:r>
              <a:rPr lang="en-US" sz="2000" dirty="0">
                <a:ea typeface="+mn-lt"/>
                <a:cs typeface="+mn-lt"/>
              </a:rPr>
              <a:t> </a:t>
            </a:r>
            <a:r>
              <a:rPr lang="en-US" sz="2000" dirty="0" err="1">
                <a:ea typeface="+mn-lt"/>
                <a:cs typeface="+mn-lt"/>
              </a:rPr>
              <a:t>của</a:t>
            </a:r>
            <a:r>
              <a:rPr lang="en-US" sz="2000" dirty="0">
                <a:ea typeface="+mn-lt"/>
                <a:cs typeface="+mn-lt"/>
              </a:rPr>
              <a:t> 2 </a:t>
            </a:r>
            <a:r>
              <a:rPr lang="en-US" sz="2000" dirty="0" err="1">
                <a:ea typeface="+mn-lt"/>
                <a:cs typeface="+mn-lt"/>
              </a:rPr>
              <a:t>mô</a:t>
            </a:r>
            <a:r>
              <a:rPr lang="en-US" sz="2000" dirty="0">
                <a:ea typeface="+mn-lt"/>
                <a:cs typeface="+mn-lt"/>
              </a:rPr>
              <a:t> </a:t>
            </a:r>
            <a:r>
              <a:rPr lang="en-US" sz="2000" dirty="0" err="1">
                <a:ea typeface="+mn-lt"/>
                <a:cs typeface="+mn-lt"/>
              </a:rPr>
              <a:t>hình</a:t>
            </a:r>
            <a:r>
              <a:rPr lang="en-US" sz="2000" dirty="0">
                <a:ea typeface="+mn-lt"/>
                <a:cs typeface="+mn-lt"/>
              </a:rPr>
              <a:t> (Baseline vs. Augmented).</a:t>
            </a:r>
            <a:endParaRPr lang="en-US" sz="2000" dirty="0">
              <a:ea typeface="Calibri"/>
              <a:cs typeface="Calibri"/>
            </a:endParaRPr>
          </a:p>
          <a:p>
            <a:pPr>
              <a:buFont typeface="Arial"/>
              <a:buChar char="•"/>
            </a:pPr>
            <a:r>
              <a:rPr lang="en-US" sz="2000" b="1" dirty="0" err="1">
                <a:ea typeface="+mn-lt"/>
                <a:cs typeface="+mn-lt"/>
              </a:rPr>
              <a:t>Tiêu</a:t>
            </a:r>
            <a:r>
              <a:rPr lang="en-US" sz="2000" b="1" dirty="0">
                <a:ea typeface="+mn-lt"/>
                <a:cs typeface="+mn-lt"/>
              </a:rPr>
              <a:t> </a:t>
            </a:r>
            <a:r>
              <a:rPr lang="en-US" sz="2000" b="1" dirty="0" err="1">
                <a:ea typeface="+mn-lt"/>
                <a:cs typeface="+mn-lt"/>
              </a:rPr>
              <a:t>chí</a:t>
            </a:r>
            <a:r>
              <a:rPr lang="en-US" sz="2000" b="1" dirty="0">
                <a:ea typeface="+mn-lt"/>
                <a:cs typeface="+mn-lt"/>
              </a:rPr>
              <a:t> </a:t>
            </a:r>
            <a:r>
              <a:rPr lang="en-US" sz="2000" b="1" dirty="0" err="1">
                <a:ea typeface="+mn-lt"/>
                <a:cs typeface="+mn-lt"/>
              </a:rPr>
              <a:t>chấm</a:t>
            </a:r>
            <a:r>
              <a:rPr lang="en-US" sz="2000" b="1" dirty="0">
                <a:ea typeface="+mn-lt"/>
                <a:cs typeface="+mn-lt"/>
              </a:rPr>
              <a:t> </a:t>
            </a:r>
            <a:r>
              <a:rPr lang="en-US" sz="2000" b="1" dirty="0" err="1">
                <a:ea typeface="+mn-lt"/>
                <a:cs typeface="+mn-lt"/>
              </a:rPr>
              <a:t>điểm</a:t>
            </a:r>
            <a:r>
              <a:rPr lang="en-US" sz="2000" b="1" dirty="0">
                <a:ea typeface="+mn-lt"/>
                <a:cs typeface="+mn-lt"/>
              </a:rPr>
              <a:t> (thang 0-5):</a:t>
            </a:r>
            <a:endParaRPr lang="en-US" sz="2000" dirty="0">
              <a:ea typeface="Calibri"/>
              <a:cs typeface="Calibri"/>
            </a:endParaRPr>
          </a:p>
          <a:p>
            <a:pPr lvl="1" indent="-285750">
              <a:buFont typeface="Arial"/>
              <a:buChar char="•"/>
            </a:pPr>
            <a:r>
              <a:rPr lang="vi-VN" sz="2000" dirty="0">
                <a:ea typeface="+mn-lt"/>
                <a:cs typeface="+mn-lt"/>
              </a:rPr>
              <a:t>5: Hoàn toàn đúng và trích dẫn chính xác</a:t>
            </a:r>
            <a:endParaRPr lang="en-US" sz="2000" dirty="0">
              <a:ea typeface="+mn-lt"/>
              <a:cs typeface="+mn-lt"/>
            </a:endParaRPr>
          </a:p>
          <a:p>
            <a:pPr lvl="1" indent="-285750">
              <a:buFont typeface="Arial"/>
              <a:buChar char="•"/>
            </a:pPr>
            <a:r>
              <a:rPr lang="vi-VN" sz="2000" dirty="0">
                <a:ea typeface="+mn-lt"/>
                <a:cs typeface="+mn-lt"/>
              </a:rPr>
              <a:t>4: Đúng phần lớn, chỉ sai/thiếu chút</a:t>
            </a:r>
            <a:endParaRPr lang="en-US" sz="2000" dirty="0">
              <a:ea typeface="+mn-lt"/>
              <a:cs typeface="+mn-lt"/>
            </a:endParaRPr>
          </a:p>
          <a:p>
            <a:pPr lvl="1" indent="-285750">
              <a:buFont typeface="Arial"/>
              <a:buChar char="•"/>
            </a:pPr>
            <a:r>
              <a:rPr lang="vi-VN" sz="2000" dirty="0">
                <a:ea typeface="+mn-lt"/>
                <a:cs typeface="+mn-lt"/>
              </a:rPr>
              <a:t>3: Khá đúng nhưng thiếu nhiều ý quan trọng</a:t>
            </a:r>
            <a:endParaRPr lang="en-US" sz="2000" dirty="0">
              <a:ea typeface="+mn-lt"/>
              <a:cs typeface="+mn-lt"/>
            </a:endParaRPr>
          </a:p>
          <a:p>
            <a:pPr lvl="1" indent="-285750">
              <a:buFont typeface="Arial"/>
              <a:buChar char="•"/>
            </a:pPr>
            <a:r>
              <a:rPr lang="vi-VN" sz="2000" dirty="0">
                <a:ea typeface="+mn-lt"/>
                <a:cs typeface="+mn-lt"/>
              </a:rPr>
              <a:t>2: Sai đáng kể nhưng có liên quan</a:t>
            </a:r>
            <a:endParaRPr lang="en-US" sz="2000" dirty="0">
              <a:ea typeface="+mn-lt"/>
              <a:cs typeface="+mn-lt"/>
            </a:endParaRPr>
          </a:p>
          <a:p>
            <a:pPr lvl="1" indent="-285750">
              <a:buFont typeface="Arial"/>
              <a:buChar char="•"/>
            </a:pPr>
            <a:r>
              <a:rPr lang="vi-VN" sz="2000" dirty="0">
                <a:ea typeface="+mn-lt"/>
                <a:cs typeface="+mn-lt"/>
              </a:rPr>
              <a:t>1: Hầu như sai</a:t>
            </a:r>
            <a:endParaRPr lang="en-US" sz="2000" dirty="0">
              <a:ea typeface="+mn-lt"/>
              <a:cs typeface="+mn-lt"/>
            </a:endParaRPr>
          </a:p>
          <a:p>
            <a:pPr lvl="1" indent="-285750">
              <a:buFont typeface="Arial"/>
              <a:buChar char="•"/>
            </a:pPr>
            <a:r>
              <a:rPr lang="vi-VN" sz="2000" dirty="0">
                <a:ea typeface="+mn-lt"/>
                <a:cs typeface="+mn-lt"/>
              </a:rPr>
              <a:t>0: Hoàn toàn sai hoặc không liên quan</a:t>
            </a:r>
            <a:endParaRPr lang="en-US" sz="1800" dirty="0">
              <a:ea typeface="Calibri"/>
              <a:cs typeface="Calibri"/>
            </a:endParaRPr>
          </a:p>
          <a:p>
            <a:pPr>
              <a:buNone/>
            </a:pPr>
            <a:endParaRPr lang="en-US" dirty="0">
              <a:ea typeface="+mn-lt"/>
              <a:cs typeface="+mn-lt"/>
            </a:endParaRPr>
          </a:p>
          <a:p>
            <a:pPr marL="0" indent="0">
              <a:buNone/>
            </a:pPr>
            <a:endParaRPr lang="en-US" sz="2600" b="1" dirty="0">
              <a:solidFill>
                <a:srgbClr val="373A3C"/>
              </a:solidFill>
              <a:latin typeface="Calibri"/>
              <a:ea typeface="Calibri"/>
              <a:cs typeface="Calibri"/>
            </a:endParaRPr>
          </a:p>
        </p:txBody>
      </p:sp>
    </p:spTree>
    <p:extLst>
      <p:ext uri="{BB962C8B-B14F-4D97-AF65-F5344CB8AC3E}">
        <p14:creationId xmlns:p14="http://schemas.microsoft.com/office/powerpoint/2010/main" val="2301807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C01B7-48A3-4DC2-E601-183DEACE639C}"/>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68CDCF1A-5428-7721-07DF-8ED34ADAF2BE}"/>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5EC688FA-6953-AA7A-121C-673E932D8413}"/>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D3AEDB01-2351-068D-6F1B-0716CD17E58B}"/>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E984D0A6-D182-CEF6-590F-6E13EEE24BB0}"/>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FF1D3396-AE29-9E6D-584A-6649EDAA1018}"/>
              </a:ext>
            </a:extLst>
          </p:cNvPr>
          <p:cNvSpPr>
            <a:spLocks noGrp="1"/>
          </p:cNvSpPr>
          <p:nvPr>
            <p:ph type="title"/>
          </p:nvPr>
        </p:nvSpPr>
        <p:spPr>
          <a:xfrm>
            <a:off x="-2415" y="10956"/>
            <a:ext cx="7886700" cy="1325563"/>
          </a:xfrm>
        </p:spPr>
        <p:txBody>
          <a:bodyPr/>
          <a:lstStyle/>
          <a:p>
            <a:r>
              <a:rPr lang="vi-VN">
                <a:latin typeface="Times New Roman"/>
                <a:cs typeface="Times New Roman"/>
              </a:rPr>
              <a:t>Đánh giá bằng LLM</a:t>
            </a:r>
          </a:p>
        </p:txBody>
      </p:sp>
      <p:sp>
        <p:nvSpPr>
          <p:cNvPr id="9" name="Content Placeholder 2">
            <a:extLst>
              <a:ext uri="{FF2B5EF4-FFF2-40B4-BE49-F238E27FC236}">
                <a16:creationId xmlns:a16="http://schemas.microsoft.com/office/drawing/2014/main" id="{5A5A768D-D902-4CF4-A4F8-A3F9FFEBFD98}"/>
              </a:ext>
            </a:extLst>
          </p:cNvPr>
          <p:cNvSpPr>
            <a:spLocks noGrp="1"/>
          </p:cNvSpPr>
          <p:nvPr>
            <p:ph idx="1"/>
          </p:nvPr>
        </p:nvSpPr>
        <p:spPr>
          <a:xfrm>
            <a:off x="-2415" y="1503653"/>
            <a:ext cx="9148829" cy="5188464"/>
          </a:xfrm>
        </p:spPr>
        <p:txBody>
          <a:bodyPr vert="horz" lIns="91440" tIns="45720" rIns="91440" bIns="45720" rtlCol="0" anchor="t">
            <a:noAutofit/>
          </a:bodyPr>
          <a:lstStyle/>
          <a:p>
            <a:pPr>
              <a:buFont typeface="Arial"/>
              <a:buChar char="•"/>
            </a:pPr>
            <a:endParaRPr lang="en-US" sz="2000" b="1">
              <a:ea typeface="Calibri"/>
              <a:cs typeface="Calibri"/>
            </a:endParaRPr>
          </a:p>
          <a:p>
            <a:pPr>
              <a:buNone/>
            </a:pPr>
            <a:endParaRPr lang="en-US" sz="1800" b="1">
              <a:ea typeface="Calibri"/>
              <a:cs typeface="Calibri"/>
            </a:endParaRPr>
          </a:p>
          <a:p>
            <a:pPr>
              <a:buNone/>
            </a:pPr>
            <a:endParaRPr lang="en-US">
              <a:ea typeface="+mn-lt"/>
              <a:cs typeface="+mn-lt"/>
            </a:endParaRPr>
          </a:p>
          <a:p>
            <a:pPr marL="0" indent="0">
              <a:buNone/>
            </a:pPr>
            <a:endParaRPr lang="en-US" sz="2600" b="1">
              <a:solidFill>
                <a:srgbClr val="373A3C"/>
              </a:solidFill>
              <a:latin typeface="Calibri"/>
              <a:ea typeface="Calibri"/>
              <a:cs typeface="Calibri"/>
            </a:endParaRPr>
          </a:p>
        </p:txBody>
      </p:sp>
      <p:pic>
        <p:nvPicPr>
          <p:cNvPr id="10" name="Picture 9">
            <a:extLst>
              <a:ext uri="{FF2B5EF4-FFF2-40B4-BE49-F238E27FC236}">
                <a16:creationId xmlns:a16="http://schemas.microsoft.com/office/drawing/2014/main" id="{4D53694C-5F98-4632-9548-2A3A415400EE}"/>
              </a:ext>
            </a:extLst>
          </p:cNvPr>
          <p:cNvPicPr>
            <a:picLocks noChangeAspect="1"/>
          </p:cNvPicPr>
          <p:nvPr/>
        </p:nvPicPr>
        <p:blipFill>
          <a:blip r:embed="rId3"/>
          <a:stretch>
            <a:fillRect/>
          </a:stretch>
        </p:blipFill>
        <p:spPr>
          <a:xfrm>
            <a:off x="620040" y="1587275"/>
            <a:ext cx="8019490" cy="5099910"/>
          </a:xfrm>
          <a:prstGeom prst="rect">
            <a:avLst/>
          </a:prstGeom>
        </p:spPr>
      </p:pic>
    </p:spTree>
    <p:extLst>
      <p:ext uri="{BB962C8B-B14F-4D97-AF65-F5344CB8AC3E}">
        <p14:creationId xmlns:p14="http://schemas.microsoft.com/office/powerpoint/2010/main" val="1838267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4C4F5-F4F9-BA68-5CFB-ACC0FA04F91C}"/>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1ADA10E0-E470-E6CC-F69C-DFC498D74E99}"/>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2E8CED8E-E6F8-E89E-52C9-65A6B7D5FC77}"/>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0322445C-9331-54A8-437B-FD3A7A69F41F}"/>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98E7A413-F51E-3492-2A33-8743A1A58920}"/>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44ECCD17-C889-3CBA-FEE5-85E67AAC7D8C}"/>
              </a:ext>
            </a:extLst>
          </p:cNvPr>
          <p:cNvSpPr>
            <a:spLocks noGrp="1"/>
          </p:cNvSpPr>
          <p:nvPr>
            <p:ph type="title"/>
          </p:nvPr>
        </p:nvSpPr>
        <p:spPr>
          <a:xfrm>
            <a:off x="-2415" y="10956"/>
            <a:ext cx="7886700" cy="1325563"/>
          </a:xfrm>
        </p:spPr>
        <p:txBody>
          <a:bodyPr/>
          <a:lstStyle/>
          <a:p>
            <a:r>
              <a:rPr lang="vi-VN">
                <a:latin typeface="Times New Roman"/>
                <a:cs typeface="Times New Roman"/>
              </a:rPr>
              <a:t>Đánh giá bằng LLM</a:t>
            </a:r>
          </a:p>
        </p:txBody>
      </p:sp>
      <p:sp>
        <p:nvSpPr>
          <p:cNvPr id="9" name="Content Placeholder 2">
            <a:extLst>
              <a:ext uri="{FF2B5EF4-FFF2-40B4-BE49-F238E27FC236}">
                <a16:creationId xmlns:a16="http://schemas.microsoft.com/office/drawing/2014/main" id="{0E5EB82D-E5A0-97F5-1857-7C106E6BCF3C}"/>
              </a:ext>
            </a:extLst>
          </p:cNvPr>
          <p:cNvSpPr>
            <a:spLocks noGrp="1"/>
          </p:cNvSpPr>
          <p:nvPr>
            <p:ph idx="1"/>
          </p:nvPr>
        </p:nvSpPr>
        <p:spPr>
          <a:xfrm>
            <a:off x="-2415" y="1503653"/>
            <a:ext cx="9148829" cy="5188464"/>
          </a:xfrm>
        </p:spPr>
        <p:txBody>
          <a:bodyPr vert="horz" lIns="91440" tIns="45720" rIns="91440" bIns="45720" rtlCol="0" anchor="t">
            <a:noAutofit/>
          </a:bodyPr>
          <a:lstStyle/>
          <a:p>
            <a:r>
              <a:rPr lang="en-US" sz="1700" b="1" dirty="0" err="1">
                <a:latin typeface="Times New Roman" panose="02020603050405020304" pitchFamily="18" charset="0"/>
                <a:cs typeface="Times New Roman" panose="02020603050405020304" pitchFamily="18" charset="0"/>
              </a:rPr>
              <a:t>Kết</a:t>
            </a: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quả</a:t>
            </a: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đối</a:t>
            </a:r>
            <a:r>
              <a:rPr lang="en-US" sz="1700" b="1" dirty="0">
                <a:latin typeface="Times New Roman" panose="02020603050405020304" pitchFamily="18" charset="0"/>
                <a:cs typeface="Times New Roman" panose="02020603050405020304" pitchFamily="18" charset="0"/>
              </a:rPr>
              <a:t> </a:t>
            </a:r>
            <a:r>
              <a:rPr lang="en-US" sz="1700" b="1" dirty="0" err="1">
                <a:latin typeface="Times New Roman" panose="02020603050405020304" pitchFamily="18" charset="0"/>
                <a:cs typeface="Times New Roman" panose="02020603050405020304" pitchFamily="18" charset="0"/>
              </a:rPr>
              <a:t>đầu</a:t>
            </a:r>
            <a:r>
              <a:rPr lang="en-US" sz="1700" b="1" dirty="0">
                <a:latin typeface="Times New Roman" panose="02020603050405020304" pitchFamily="18" charset="0"/>
                <a:cs typeface="Times New Roman" panose="02020603050405020304" pitchFamily="18" charset="0"/>
              </a:rPr>
              <a:t> (Baseline vs. Augmented):</a:t>
            </a:r>
          </a:p>
          <a:p>
            <a:pPr lvl="1"/>
            <a:r>
              <a:rPr lang="en-US" sz="1700" dirty="0" err="1">
                <a:latin typeface="Times New Roman" panose="02020603050405020304" pitchFamily="18" charset="0"/>
                <a:cs typeface="Times New Roman" panose="02020603050405020304" pitchFamily="18" charset="0"/>
              </a:rPr>
              <a:t>Tỷ</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lệ</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Hòa</a:t>
            </a:r>
            <a:r>
              <a:rPr lang="en-US" sz="1700" dirty="0">
                <a:latin typeface="Times New Roman" panose="02020603050405020304" pitchFamily="18" charset="0"/>
                <a:cs typeface="Times New Roman" panose="02020603050405020304" pitchFamily="18" charset="0"/>
              </a:rPr>
              <a:t>: 17/50 </a:t>
            </a:r>
            <a:r>
              <a:rPr lang="en-US" sz="1700" dirty="0" err="1">
                <a:latin typeface="Times New Roman" panose="02020603050405020304" pitchFamily="18" charset="0"/>
                <a:cs typeface="Times New Roman" panose="02020603050405020304" pitchFamily="18" charset="0"/>
              </a:rPr>
              <a:t>mẫu</a:t>
            </a:r>
            <a:r>
              <a:rPr lang="en-US" sz="1700" dirty="0">
                <a:latin typeface="Times New Roman" panose="02020603050405020304" pitchFamily="18" charset="0"/>
                <a:cs typeface="Times New Roman" panose="02020603050405020304" pitchFamily="18" charset="0"/>
              </a:rPr>
              <a:t>.</a:t>
            </a:r>
          </a:p>
          <a:p>
            <a:pPr lvl="1"/>
            <a:r>
              <a:rPr lang="en-US" sz="1700" dirty="0">
                <a:latin typeface="Times New Roman" panose="02020603050405020304" pitchFamily="18" charset="0"/>
                <a:cs typeface="Times New Roman" panose="02020603050405020304" pitchFamily="18" charset="0"/>
              </a:rPr>
              <a:t>Baseline </a:t>
            </a:r>
            <a:r>
              <a:rPr lang="en-US" sz="1700" dirty="0" err="1">
                <a:latin typeface="Times New Roman" panose="02020603050405020304" pitchFamily="18" charset="0"/>
                <a:cs typeface="Times New Roman" panose="02020603050405020304" pitchFamily="18" charset="0"/>
              </a:rPr>
              <a:t>thắng</a:t>
            </a:r>
            <a:r>
              <a:rPr lang="en-US" sz="1700" dirty="0">
                <a:latin typeface="Times New Roman" panose="02020603050405020304" pitchFamily="18" charset="0"/>
                <a:cs typeface="Times New Roman" panose="02020603050405020304" pitchFamily="18" charset="0"/>
              </a:rPr>
              <a:t>: 20 </a:t>
            </a:r>
            <a:r>
              <a:rPr lang="en-US" sz="1700" dirty="0" err="1">
                <a:latin typeface="Times New Roman" panose="02020603050405020304" pitchFamily="18" charset="0"/>
                <a:cs typeface="Times New Roman" panose="02020603050405020304" pitchFamily="18" charset="0"/>
              </a:rPr>
              <a:t>mẫu</a:t>
            </a:r>
            <a:r>
              <a:rPr lang="en-US" sz="1700" dirty="0">
                <a:latin typeface="Times New Roman" panose="02020603050405020304" pitchFamily="18" charset="0"/>
                <a:cs typeface="Times New Roman" panose="02020603050405020304" pitchFamily="18" charset="0"/>
              </a:rPr>
              <a:t>.</a:t>
            </a:r>
          </a:p>
          <a:p>
            <a:pPr lvl="1"/>
            <a:r>
              <a:rPr lang="en-US" sz="1700" dirty="0">
                <a:latin typeface="Times New Roman" panose="02020603050405020304" pitchFamily="18" charset="0"/>
                <a:cs typeface="Times New Roman" panose="02020603050405020304" pitchFamily="18" charset="0"/>
              </a:rPr>
              <a:t>Augmented </a:t>
            </a:r>
            <a:r>
              <a:rPr lang="en-US" sz="1700" dirty="0" err="1">
                <a:latin typeface="Times New Roman" panose="02020603050405020304" pitchFamily="18" charset="0"/>
                <a:cs typeface="Times New Roman" panose="02020603050405020304" pitchFamily="18" charset="0"/>
              </a:rPr>
              <a:t>thắng</a:t>
            </a:r>
            <a:r>
              <a:rPr lang="en-US" sz="1700" dirty="0">
                <a:latin typeface="Times New Roman" panose="02020603050405020304" pitchFamily="18" charset="0"/>
                <a:cs typeface="Times New Roman" panose="02020603050405020304" pitchFamily="18" charset="0"/>
              </a:rPr>
              <a:t>: 13 </a:t>
            </a:r>
            <a:r>
              <a:rPr lang="en-US" sz="1700" dirty="0" err="1">
                <a:latin typeface="Times New Roman" panose="02020603050405020304" pitchFamily="18" charset="0"/>
                <a:cs typeface="Times New Roman" panose="02020603050405020304" pitchFamily="18" charset="0"/>
              </a:rPr>
              <a:t>mẫu</a:t>
            </a:r>
            <a:r>
              <a:rPr lang="en-US" sz="1700" dirty="0">
                <a:latin typeface="Times New Roman" panose="02020603050405020304" pitchFamily="18" charset="0"/>
                <a:cs typeface="Times New Roman" panose="02020603050405020304" pitchFamily="18" charset="0"/>
              </a:rPr>
              <a:t>.</a:t>
            </a:r>
          </a:p>
          <a:p>
            <a:r>
              <a:rPr lang="vi-VN" sz="1700" b="1" dirty="0">
                <a:latin typeface="Times New Roman" panose="02020603050405020304" pitchFamily="18" charset="0"/>
                <a:cs typeface="Times New Roman" panose="02020603050405020304" pitchFamily="18" charset="0"/>
              </a:rPr>
              <a:t>Phân tích sâu (Insights):</a:t>
            </a:r>
          </a:p>
          <a:p>
            <a:pPr lvl="1"/>
            <a:r>
              <a:rPr lang="vi-VN" sz="1700" b="1" dirty="0">
                <a:latin typeface="Times New Roman" panose="02020603050405020304" pitchFamily="18" charset="0"/>
                <a:cs typeface="Times New Roman" panose="02020603050405020304" pitchFamily="18" charset="0"/>
              </a:rPr>
              <a:t>Hiện tượng “Hòa” chiếm tỉ lệ lớn:</a:t>
            </a:r>
            <a:r>
              <a:rPr lang="en-US" sz="1700" b="1" dirty="0">
                <a:latin typeface="Times New Roman" panose="02020603050405020304" pitchFamily="18" charset="0"/>
                <a:cs typeface="Times New Roman" panose="02020603050405020304" pitchFamily="18" charset="0"/>
              </a:rPr>
              <a:t> </a:t>
            </a:r>
            <a:r>
              <a:rPr lang="vi-VN" sz="1700" dirty="0">
                <a:latin typeface="Times New Roman" panose="02020603050405020304" pitchFamily="18" charset="0"/>
                <a:cs typeface="Times New Roman" panose="02020603050405020304" pitchFamily="18" charset="0"/>
              </a:rPr>
              <a:t>Điều này cho thấy hai mô hình vẫn sinh ra những câu trả lời tương đối giống nhau về mặt ngữ nghĩa ở nhiều câu hỏi. Synthetic data không làm mô hình Augmented “lệch” hoàn toàn khỏi kiến thức nền, nhưng cũng </a:t>
            </a:r>
            <a:r>
              <a:rPr lang="vi-VN" sz="1700" b="1" dirty="0">
                <a:latin typeface="Times New Roman" panose="02020603050405020304" pitchFamily="18" charset="0"/>
                <a:cs typeface="Times New Roman" panose="02020603050405020304" pitchFamily="18" charset="0"/>
              </a:rPr>
              <a:t>không giúp mô hình cải thiện chất lượng</a:t>
            </a:r>
            <a:r>
              <a:rPr lang="vi-VN" sz="1700" dirty="0">
                <a:latin typeface="Times New Roman" panose="02020603050405020304" pitchFamily="18" charset="0"/>
                <a:cs typeface="Times New Roman" panose="02020603050405020304" pitchFamily="18" charset="0"/>
              </a:rPr>
              <a:t>.</a:t>
            </a:r>
          </a:p>
          <a:p>
            <a:pPr lvl="1"/>
            <a:r>
              <a:rPr lang="vi-VN" sz="1700" b="1" dirty="0">
                <a:latin typeface="Times New Roman" panose="02020603050405020304" pitchFamily="18" charset="0"/>
                <a:cs typeface="Times New Roman" panose="02020603050405020304" pitchFamily="18" charset="0"/>
              </a:rPr>
              <a:t>Baseline thắng nhiều hơn rõ rệt:</a:t>
            </a:r>
            <a:r>
              <a:rPr lang="en-US" sz="1700" b="1" dirty="0">
                <a:latin typeface="Times New Roman" panose="02020603050405020304" pitchFamily="18" charset="0"/>
                <a:cs typeface="Times New Roman" panose="02020603050405020304" pitchFamily="18" charset="0"/>
              </a:rPr>
              <a:t> </a:t>
            </a:r>
            <a:r>
              <a:rPr lang="vi-VN" sz="1700" dirty="0">
                <a:latin typeface="Times New Roman" panose="02020603050405020304" pitchFamily="18" charset="0"/>
                <a:cs typeface="Times New Roman" panose="02020603050405020304" pitchFamily="18" charset="0"/>
              </a:rPr>
              <a:t>Kết quả 20–13 khẳng định rằng mô hình Baseline tạo ra câu trả lời </a:t>
            </a:r>
            <a:r>
              <a:rPr lang="vi-VN" sz="1700" b="1" dirty="0">
                <a:latin typeface="Times New Roman" panose="02020603050405020304" pitchFamily="18" charset="0"/>
                <a:cs typeface="Times New Roman" panose="02020603050405020304" pitchFamily="18" charset="0"/>
              </a:rPr>
              <a:t>chính xác hơn và phù hợp hơn với đáp án chuẩn</a:t>
            </a:r>
            <a:r>
              <a:rPr lang="vi-VN" sz="1700" dirty="0">
                <a:latin typeface="Times New Roman" panose="02020603050405020304" pitchFamily="18" charset="0"/>
                <a:cs typeface="Times New Roman" panose="02020603050405020304" pitchFamily="18" charset="0"/>
              </a:rPr>
              <a:t>, phù hợp với phân tích metric (EM, F1, ROUGE, METEOR) trong báo cáo: synthetic gây </a:t>
            </a:r>
            <a:r>
              <a:rPr lang="vi-VN" sz="1700" b="1" dirty="0">
                <a:latin typeface="Times New Roman" panose="02020603050405020304" pitchFamily="18" charset="0"/>
                <a:cs typeface="Times New Roman" panose="02020603050405020304" pitchFamily="18" charset="0"/>
              </a:rPr>
              <a:t>nhiễu</a:t>
            </a:r>
            <a:r>
              <a:rPr lang="vi-VN" sz="1700" dirty="0">
                <a:latin typeface="Times New Roman" panose="02020603050405020304" pitchFamily="18" charset="0"/>
                <a:cs typeface="Times New Roman" panose="02020603050405020304" pitchFamily="18" charset="0"/>
              </a:rPr>
              <a:t> và </a:t>
            </a:r>
            <a:r>
              <a:rPr lang="vi-VN" sz="1700" b="1" dirty="0">
                <a:latin typeface="Times New Roman" panose="02020603050405020304" pitchFamily="18" charset="0"/>
                <a:cs typeface="Times New Roman" panose="02020603050405020304" pitchFamily="18" charset="0"/>
              </a:rPr>
              <a:t>lệch phân phối</a:t>
            </a:r>
            <a:r>
              <a:rPr lang="vi-VN" sz="1700" dirty="0">
                <a:latin typeface="Times New Roman" panose="02020603050405020304" pitchFamily="18" charset="0"/>
                <a:cs typeface="Times New Roman" panose="02020603050405020304" pitchFamily="18" charset="0"/>
              </a:rPr>
              <a:t> so với dữ liệu thật.</a:t>
            </a:r>
          </a:p>
          <a:p>
            <a:pPr lvl="1"/>
            <a:r>
              <a:rPr lang="vi-VN" sz="1700" b="1" dirty="0">
                <a:latin typeface="Times New Roman" panose="02020603050405020304" pitchFamily="18" charset="0"/>
                <a:cs typeface="Times New Roman" panose="02020603050405020304" pitchFamily="18" charset="0"/>
              </a:rPr>
              <a:t>Synthetic gây suy giảm hiệu năng:</a:t>
            </a:r>
            <a:r>
              <a:rPr lang="en-US" sz="1700" b="1" dirty="0">
                <a:latin typeface="Times New Roman" panose="02020603050405020304" pitchFamily="18" charset="0"/>
                <a:cs typeface="Times New Roman" panose="02020603050405020304" pitchFamily="18" charset="0"/>
              </a:rPr>
              <a:t> </a:t>
            </a:r>
            <a:r>
              <a:rPr lang="vi-VN" sz="1700" dirty="0">
                <a:latin typeface="Times New Roman" panose="02020603050405020304" pitchFamily="18" charset="0"/>
                <a:cs typeface="Times New Roman" panose="02020603050405020304" pitchFamily="18" charset="0"/>
              </a:rPr>
              <a:t>Với điểm trung bình LLM Judge </a:t>
            </a:r>
            <a:r>
              <a:rPr lang="vi-VN" sz="1700" b="1" dirty="0">
                <a:latin typeface="Times New Roman" panose="02020603050405020304" pitchFamily="18" charset="0"/>
                <a:cs typeface="Times New Roman" panose="02020603050405020304" pitchFamily="18" charset="0"/>
              </a:rPr>
              <a:t>3.66 (Base)</a:t>
            </a:r>
            <a:r>
              <a:rPr lang="vi-VN" sz="1700" dirty="0">
                <a:latin typeface="Times New Roman" panose="02020603050405020304" pitchFamily="18" charset="0"/>
                <a:cs typeface="Times New Roman" panose="02020603050405020304" pitchFamily="18" charset="0"/>
              </a:rPr>
              <a:t> so với </a:t>
            </a:r>
            <a:r>
              <a:rPr lang="vi-VN" sz="1700" b="1" dirty="0">
                <a:latin typeface="Times New Roman" panose="02020603050405020304" pitchFamily="18" charset="0"/>
                <a:cs typeface="Times New Roman" panose="02020603050405020304" pitchFamily="18" charset="0"/>
              </a:rPr>
              <a:t>3.16 (Mixed)</a:t>
            </a:r>
            <a:r>
              <a:rPr lang="vi-VN" sz="1700" dirty="0">
                <a:latin typeface="Times New Roman" panose="02020603050405020304" pitchFamily="18" charset="0"/>
                <a:cs typeface="Times New Roman" panose="02020603050405020304" pitchFamily="18" charset="0"/>
              </a:rPr>
              <a:t>, có thể thấy dữ liệu synthetic không mô phỏng đúng phong cách của ViQuAD gốc, khiến mô hình Augmented trả lời </a:t>
            </a:r>
            <a:r>
              <a:rPr lang="vi-VN" sz="1700" b="1" dirty="0">
                <a:latin typeface="Times New Roman" panose="02020603050405020304" pitchFamily="18" charset="0"/>
                <a:cs typeface="Times New Roman" panose="02020603050405020304" pitchFamily="18" charset="0"/>
              </a:rPr>
              <a:t>kém tự tin và kém chính xác</a:t>
            </a:r>
            <a:r>
              <a:rPr lang="vi-VN" sz="1700" dirty="0">
                <a:latin typeface="Times New Roman" panose="02020603050405020304" pitchFamily="18" charset="0"/>
                <a:cs typeface="Times New Roman" panose="02020603050405020304" pitchFamily="18" charset="0"/>
              </a:rPr>
              <a:t> hơn.</a:t>
            </a:r>
          </a:p>
          <a:p>
            <a:pPr lvl="1"/>
            <a:r>
              <a:rPr lang="vi-VN" sz="1700" b="1" dirty="0">
                <a:latin typeface="Times New Roman" panose="02020603050405020304" pitchFamily="18" charset="0"/>
                <a:cs typeface="Times New Roman" panose="02020603050405020304" pitchFamily="18" charset="0"/>
              </a:rPr>
              <a:t>Khó khăn trong Generative QA:</a:t>
            </a:r>
            <a:r>
              <a:rPr lang="en-US" sz="1700" b="1" dirty="0">
                <a:latin typeface="Times New Roman" panose="02020603050405020304" pitchFamily="18" charset="0"/>
                <a:cs typeface="Times New Roman" panose="02020603050405020304" pitchFamily="18" charset="0"/>
              </a:rPr>
              <a:t> </a:t>
            </a:r>
            <a:r>
              <a:rPr lang="vi-VN" sz="1700" dirty="0">
                <a:latin typeface="Times New Roman" panose="02020603050405020304" pitchFamily="18" charset="0"/>
                <a:cs typeface="Times New Roman" panose="02020603050405020304" pitchFamily="18" charset="0"/>
              </a:rPr>
              <a:t>Việc point-based đánh giá (0–5) cho thấy quá trình sinh câu trả lời từ mô hình nhỏ như Qwen 0.6B </a:t>
            </a:r>
            <a:r>
              <a:rPr lang="vi-VN" sz="1700" b="1" dirty="0">
                <a:latin typeface="Times New Roman" panose="02020603050405020304" pitchFamily="18" charset="0"/>
                <a:cs typeface="Times New Roman" panose="02020603050405020304" pitchFamily="18" charset="0"/>
              </a:rPr>
              <a:t>nhạy cảm với format và độ dài</a:t>
            </a:r>
            <a:r>
              <a:rPr lang="vi-VN" sz="1700" dirty="0">
                <a:latin typeface="Times New Roman" panose="02020603050405020304" pitchFamily="18" charset="0"/>
                <a:cs typeface="Times New Roman" panose="02020603050405020304" pitchFamily="18" charset="0"/>
              </a:rPr>
              <a:t>. Synthetic có xu hướng sinh câu trả lời dài/diễn giải → làm giảm điểm khi so với đáp án chuẩn ngắn gọn.</a:t>
            </a:r>
          </a:p>
          <a:p>
            <a:pPr marL="0" indent="0">
              <a:buNone/>
            </a:pPr>
            <a:endParaRPr lang="en-US" sz="2000" b="1" dirty="0">
              <a:ea typeface="Calibri"/>
              <a:cs typeface="Calibri"/>
            </a:endParaRPr>
          </a:p>
          <a:p>
            <a:pPr>
              <a:buNone/>
            </a:pPr>
            <a:endParaRPr lang="en-US" sz="1800" b="1" dirty="0">
              <a:ea typeface="Calibri"/>
              <a:cs typeface="Calibri"/>
            </a:endParaRPr>
          </a:p>
          <a:p>
            <a:pPr>
              <a:buNone/>
            </a:pPr>
            <a:endParaRPr lang="en-US" dirty="0">
              <a:ea typeface="+mn-lt"/>
              <a:cs typeface="+mn-lt"/>
            </a:endParaRPr>
          </a:p>
          <a:p>
            <a:pPr marL="0" indent="0">
              <a:buNone/>
            </a:pPr>
            <a:endParaRPr lang="en-US" sz="2600" b="1" dirty="0">
              <a:solidFill>
                <a:srgbClr val="373A3C"/>
              </a:solidFill>
              <a:latin typeface="Calibri"/>
              <a:ea typeface="Calibri"/>
              <a:cs typeface="Calibri"/>
            </a:endParaRPr>
          </a:p>
        </p:txBody>
      </p:sp>
    </p:spTree>
    <p:extLst>
      <p:ext uri="{BB962C8B-B14F-4D97-AF65-F5344CB8AC3E}">
        <p14:creationId xmlns:p14="http://schemas.microsoft.com/office/powerpoint/2010/main" val="18373370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10665"/>
            <a:ext cx="9143365" cy="5177155"/>
          </a:xfrm>
        </p:spPr>
        <p:txBody>
          <a:bodyPr anchor="ctr" anchorCtr="0">
            <a:normAutofit/>
          </a:bodyPr>
          <a:lstStyle/>
          <a:p>
            <a:pPr algn="ctr"/>
            <a:r>
              <a:rPr lang="en-US" b="0" i="0">
                <a:solidFill>
                  <a:srgbClr val="373A3C"/>
                </a:solidFill>
                <a:effectLst/>
                <a:latin typeface="Times New Roman" panose="02020603050405020304" pitchFamily="18" charset="0"/>
                <a:cs typeface="Times New Roman" panose="02020603050405020304" pitchFamily="18" charset="0"/>
              </a:rPr>
              <a:t>Encoder-Decoder</a:t>
            </a:r>
          </a:p>
        </p:txBody>
      </p:sp>
      <p:pic>
        <p:nvPicPr>
          <p:cNvPr id="100" name="Picture 99"/>
          <p:cNvPicPr/>
          <p:nvPr/>
        </p:nvPicPr>
        <p:blipFill>
          <a:blip r:embed="rId2"/>
          <a:stretch>
            <a:fillRect/>
          </a:stretch>
        </p:blipFill>
        <p:spPr>
          <a:xfrm>
            <a:off x="7622540" y="88900"/>
            <a:ext cx="1440180" cy="935355"/>
          </a:xfrm>
          <a:prstGeom prst="rect">
            <a:avLst/>
          </a:prstGeom>
          <a:noFill/>
          <a:ln w="9525">
            <a:noFill/>
          </a:ln>
        </p:spPr>
      </p:pic>
      <p:sp>
        <p:nvSpPr>
          <p:cNvPr id="4" name="Text Box 3"/>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985455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72BA-2099-5A59-140F-CA24B242A499}"/>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E6AB90ED-5EBA-3BEB-9634-FC4388FF6D2A}"/>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1414AE65-B1D4-492F-9603-8492E21D6392}"/>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809AA382-02D7-43D3-BBAB-5DBB69A879FE}"/>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4B4A7BC2-71B3-9743-E8A0-3E51F202B4B2}"/>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61D67E49-1670-4FE7-9330-84C08459EB76}"/>
              </a:ext>
            </a:extLst>
          </p:cNvPr>
          <p:cNvSpPr>
            <a:spLocks noGrp="1"/>
          </p:cNvSpPr>
          <p:nvPr>
            <p:ph type="title"/>
          </p:nvPr>
        </p:nvSpPr>
        <p:spPr>
          <a:xfrm>
            <a:off x="-2415" y="10956"/>
            <a:ext cx="7886700" cy="1325563"/>
          </a:xfrm>
        </p:spPr>
        <p:txBody>
          <a:bodyPr>
            <a:normAutofit/>
          </a:bodyPr>
          <a:lstStyle/>
          <a:p>
            <a:r>
              <a:rPr lang="vi-VN" sz="3200">
                <a:latin typeface="Times New Roman"/>
                <a:ea typeface="+mj-lt"/>
                <a:cs typeface="Times New Roman"/>
              </a:rPr>
              <a:t>Tổng quan về Encoder-Decoder</a:t>
            </a:r>
            <a:endParaRPr lang="vi-VN" sz="3200">
              <a:latin typeface="Times New Roman"/>
              <a:cs typeface="Times New Roman"/>
            </a:endParaRPr>
          </a:p>
        </p:txBody>
      </p:sp>
      <p:sp>
        <p:nvSpPr>
          <p:cNvPr id="9" name="Content Placeholder 2">
            <a:extLst>
              <a:ext uri="{FF2B5EF4-FFF2-40B4-BE49-F238E27FC236}">
                <a16:creationId xmlns:a16="http://schemas.microsoft.com/office/drawing/2014/main" id="{80A52D4F-F183-ACA9-64E4-B1894D1B6407}"/>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b="1">
                <a:solidFill>
                  <a:srgbClr val="373A3C"/>
                </a:solidFill>
                <a:latin typeface="Times New Roman"/>
                <a:ea typeface="+mn-lt"/>
                <a:cs typeface="+mn-lt"/>
              </a:rPr>
              <a:t>Kiến trúc:</a:t>
            </a:r>
            <a:endParaRPr lang="vi-VN">
              <a:solidFill>
                <a:srgbClr val="000000"/>
              </a:solidFill>
              <a:latin typeface="Times New Roman"/>
              <a:ea typeface="+mn-lt"/>
              <a:cs typeface="Arial"/>
            </a:endParaRPr>
          </a:p>
          <a:p>
            <a:pPr lvl="1">
              <a:buFont typeface="Courier New"/>
              <a:buChar char="o"/>
            </a:pPr>
            <a:r>
              <a:rPr lang="en-US">
                <a:solidFill>
                  <a:srgbClr val="373A3C"/>
                </a:solidFill>
                <a:latin typeface="Times New Roman"/>
                <a:ea typeface="+mn-lt"/>
                <a:cs typeface="+mn-lt"/>
              </a:rPr>
              <a:t>Kết hợp cả Encoder (mã hóa đầu vào) và Decoder (sinh đầu ra).</a:t>
            </a:r>
            <a:endParaRPr lang="en-US">
              <a:latin typeface="Times New Roman"/>
              <a:ea typeface="Calibri"/>
              <a:cs typeface="Calibri"/>
            </a:endParaRPr>
          </a:p>
          <a:p>
            <a:pPr lvl="1">
              <a:buFont typeface="Courier New"/>
              <a:buChar char="o"/>
            </a:pPr>
            <a:r>
              <a:rPr lang="en-US">
                <a:solidFill>
                  <a:srgbClr val="373A3C"/>
                </a:solidFill>
                <a:latin typeface="Times New Roman"/>
                <a:ea typeface="+mn-lt"/>
                <a:cs typeface="+mn-lt"/>
              </a:rPr>
              <a:t>Sử dụng cơ chế Cross-Attention để Decoder tận dụng thông tin từ Encoder.</a:t>
            </a:r>
            <a:endParaRPr lang="vi-VN">
              <a:latin typeface="Times New Roman"/>
              <a:ea typeface="+mn-lt"/>
              <a:cs typeface="Arial"/>
            </a:endParaRPr>
          </a:p>
          <a:p>
            <a:pPr lvl="1">
              <a:buFont typeface="Courier New"/>
              <a:buChar char="o"/>
            </a:pPr>
            <a:r>
              <a:rPr lang="en-US">
                <a:solidFill>
                  <a:srgbClr val="373A3C"/>
                </a:solidFill>
                <a:latin typeface="Times New Roman"/>
                <a:ea typeface="+mn-lt"/>
                <a:cs typeface="+mn-lt"/>
              </a:rPr>
              <a:t>Phù hợp nhất với các tác vụ Sequence-to-Sequence (Seq2Seq): Dịch máy, Tóm tắt văn bản, Chuyển đổi văn bản.</a:t>
            </a:r>
            <a:endParaRPr lang="en-US">
              <a:latin typeface="Times New Roman"/>
              <a:ea typeface="Calibri"/>
              <a:cs typeface="Calibri"/>
            </a:endParaRPr>
          </a:p>
          <a:p>
            <a:pPr>
              <a:buFont typeface="Arial"/>
              <a:buChar char="•"/>
            </a:pPr>
            <a:r>
              <a:rPr lang="en-US" b="1">
                <a:solidFill>
                  <a:srgbClr val="373A3C"/>
                </a:solidFill>
                <a:latin typeface="Times New Roman"/>
                <a:ea typeface="+mn-lt"/>
                <a:cs typeface="+mn-lt"/>
              </a:rPr>
              <a:t>Lựa chọn mô hình:</a:t>
            </a:r>
            <a:endParaRPr lang="en-US">
              <a:latin typeface="Times New Roman"/>
              <a:ea typeface="+mn-lt"/>
              <a:cs typeface="+mn-lt"/>
            </a:endParaRPr>
          </a:p>
          <a:p>
            <a:pPr lvl="1">
              <a:buFont typeface="Courier New"/>
              <a:buChar char="o"/>
            </a:pPr>
            <a:r>
              <a:rPr lang="en-US" b="1">
                <a:solidFill>
                  <a:srgbClr val="373A3C"/>
                </a:solidFill>
                <a:latin typeface="Times New Roman"/>
                <a:ea typeface="+mn-lt"/>
                <a:cs typeface="+mn-lt"/>
              </a:rPr>
              <a:t>Mô hình:</a:t>
            </a:r>
            <a:r>
              <a:rPr lang="en-US">
                <a:solidFill>
                  <a:srgbClr val="373A3C"/>
                </a:solidFill>
                <a:latin typeface="Times New Roman"/>
                <a:ea typeface="+mn-lt"/>
                <a:cs typeface="+mn-lt"/>
              </a:rPr>
              <a:t> ViT5 (Vietnamese Text-to-Text Transfer Transformer).</a:t>
            </a:r>
            <a:endParaRPr lang="en-US">
              <a:latin typeface="Times New Roman"/>
              <a:ea typeface="+mn-lt"/>
              <a:cs typeface="+mn-lt"/>
            </a:endParaRPr>
          </a:p>
          <a:p>
            <a:pPr lvl="1">
              <a:buFont typeface="Courier New"/>
              <a:buChar char="o"/>
            </a:pPr>
            <a:r>
              <a:rPr lang="en-US" b="1">
                <a:solidFill>
                  <a:srgbClr val="373A3C"/>
                </a:solidFill>
                <a:latin typeface="Times New Roman"/>
                <a:ea typeface="+mn-lt"/>
                <a:cs typeface="+mn-lt"/>
              </a:rPr>
              <a:t>Lý do:</a:t>
            </a:r>
            <a:r>
              <a:rPr lang="en-US">
                <a:solidFill>
                  <a:srgbClr val="373A3C"/>
                </a:solidFill>
                <a:latin typeface="Times New Roman"/>
                <a:ea typeface="+mn-lt"/>
                <a:cs typeface="+mn-lt"/>
              </a:rPr>
              <a:t> Được huấn luyện trên ngữ liệu tiếng Việt lớn, tương thích tốt với dạng bài toán text-to-text.</a:t>
            </a:r>
            <a:endParaRPr lang="en-US">
              <a:latin typeface="Times New Roman"/>
              <a:ea typeface="Calibri"/>
              <a:cs typeface="Calibri"/>
            </a:endParaRPr>
          </a:p>
          <a:p>
            <a:pPr lvl="1">
              <a:buFont typeface="Courier New"/>
              <a:buChar char="o"/>
            </a:pPr>
            <a:r>
              <a:rPr lang="en-US" b="1">
                <a:solidFill>
                  <a:srgbClr val="373A3C"/>
                </a:solidFill>
                <a:latin typeface="Times New Roman"/>
                <a:ea typeface="+mn-lt"/>
                <a:cs typeface="+mn-lt"/>
              </a:rPr>
              <a:t>Cách tiếp cận:</a:t>
            </a:r>
            <a:r>
              <a:rPr lang="en-US">
                <a:solidFill>
                  <a:srgbClr val="373A3C"/>
                </a:solidFill>
                <a:latin typeface="Times New Roman"/>
                <a:ea typeface="+mn-lt"/>
                <a:cs typeface="+mn-lt"/>
              </a:rPr>
              <a:t> Đưa bài toán phân loại về dạng sinh văn bản (Input: câu bình luận $\to$ Output: text nhãn "positive", "negative", "neutral").</a:t>
            </a:r>
            <a:endParaRPr lang="en-US">
              <a:latin typeface="Times New Roman"/>
              <a:ea typeface="Calibri"/>
              <a:cs typeface="Calibri"/>
            </a:endParaRPr>
          </a:p>
          <a:p>
            <a:pPr>
              <a:buFont typeface="Arial"/>
              <a:buChar char="•"/>
            </a:pPr>
            <a:endParaRPr lang="en-US" b="1">
              <a:solidFill>
                <a:srgbClr val="373A3C"/>
              </a:solidFill>
              <a:latin typeface="Times New Roman"/>
              <a:ea typeface="Calibri"/>
              <a:cs typeface="Calibri"/>
            </a:endParaRPr>
          </a:p>
          <a:p>
            <a:pPr>
              <a:buFont typeface="Arial"/>
              <a:buChar char="•"/>
            </a:pPr>
            <a:endParaRPr lang="en-US">
              <a:solidFill>
                <a:srgbClr val="373A3C"/>
              </a:solidFill>
              <a:latin typeface="Times New Roman"/>
              <a:ea typeface="Calibri"/>
              <a:cs typeface="Calibri"/>
            </a:endParaRPr>
          </a:p>
          <a:p>
            <a:pPr marL="0" indent="0">
              <a:buNone/>
            </a:pPr>
            <a:endParaRPr lang="en-US">
              <a:solidFill>
                <a:srgbClr val="373A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170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78C8F-038C-C129-93D8-7582FD6E4BF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052B3A85-A4B7-8D9A-7C83-AA5AADABF244}"/>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B127B28E-FCD8-6294-8576-28AFFCEB750A}"/>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7D09B311-5D92-2FD6-9F6E-C84C7F1F0254}"/>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C6395D76-C185-7057-B5C8-60A2C48CB62F}"/>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552E9D74-5E45-49D3-F4AE-A5E6A2224B46}"/>
              </a:ext>
            </a:extLst>
          </p:cNvPr>
          <p:cNvSpPr>
            <a:spLocks noGrp="1"/>
          </p:cNvSpPr>
          <p:nvPr>
            <p:ph type="title"/>
          </p:nvPr>
        </p:nvSpPr>
        <p:spPr>
          <a:xfrm>
            <a:off x="-2415" y="10956"/>
            <a:ext cx="7886700" cy="1325563"/>
          </a:xfrm>
        </p:spPr>
        <p:txBody>
          <a:bodyPr>
            <a:normAutofit/>
          </a:bodyPr>
          <a:lstStyle/>
          <a:p>
            <a:r>
              <a:rPr lang="vi-VN" sz="3200">
                <a:ea typeface="+mj-lt"/>
                <a:cs typeface="+mj-lt"/>
              </a:rPr>
              <a:t>Dữ liệu Huấn luyện Gốc (Original Data)</a:t>
            </a:r>
            <a:endParaRPr lang="vi-VN"/>
          </a:p>
        </p:txBody>
      </p:sp>
      <p:sp>
        <p:nvSpPr>
          <p:cNvPr id="9" name="Content Placeholder 2">
            <a:extLst>
              <a:ext uri="{FF2B5EF4-FFF2-40B4-BE49-F238E27FC236}">
                <a16:creationId xmlns:a16="http://schemas.microsoft.com/office/drawing/2014/main" id="{DB02D46D-4E04-A7C4-1371-570A03006CCD}"/>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b="1">
                <a:solidFill>
                  <a:srgbClr val="373A3C"/>
                </a:solidFill>
                <a:latin typeface="Times New Roman"/>
                <a:ea typeface="+mn-lt"/>
                <a:cs typeface="+mn-lt"/>
              </a:rPr>
              <a:t>Nguồn dữ liệu:</a:t>
            </a:r>
            <a:r>
              <a:rPr lang="en-US" sz="2400">
                <a:solidFill>
                  <a:srgbClr val="373A3C"/>
                </a:solidFill>
                <a:latin typeface="Times New Roman"/>
                <a:ea typeface="+mn-lt"/>
                <a:cs typeface="+mn-lt"/>
              </a:rPr>
              <a:t> Tập VLSP 2016 SA (Sentiment Analysis). </a:t>
            </a:r>
            <a:r>
              <a:rPr lang="en-US" sz="2400" b="1">
                <a:solidFill>
                  <a:srgbClr val="373A3C"/>
                </a:solidFill>
                <a:latin typeface="Times New Roman"/>
                <a:ea typeface="+mn-lt"/>
                <a:cs typeface="+mn-lt"/>
              </a:rPr>
              <a:t>Đặc điểm:</a:t>
            </a:r>
            <a:endParaRPr lang="vi-VN" sz="2400">
              <a:latin typeface="Times New Roman"/>
              <a:ea typeface="Calibri"/>
              <a:cs typeface="Arial" panose="020B0604020202020204" pitchFamily="34" charset="0"/>
            </a:endParaRPr>
          </a:p>
          <a:p>
            <a:pPr lvl="1">
              <a:buFont typeface="Courier New"/>
              <a:buChar char="o"/>
            </a:pPr>
            <a:r>
              <a:rPr lang="en-US">
                <a:solidFill>
                  <a:srgbClr val="373A3C"/>
                </a:solidFill>
                <a:latin typeface="Times New Roman"/>
                <a:ea typeface="+mn-lt"/>
                <a:cs typeface="+mn-lt"/>
              </a:rPr>
              <a:t>Bình luận ngắn về đời sống, thương mại, sản phẩm.</a:t>
            </a:r>
            <a:endParaRPr lang="vi-VN">
              <a:latin typeface="Times New Roman"/>
              <a:ea typeface="+mn-lt"/>
              <a:cs typeface="Arial"/>
            </a:endParaRPr>
          </a:p>
          <a:p>
            <a:pPr lvl="1">
              <a:buFont typeface="Courier New"/>
              <a:buChar char="o"/>
            </a:pPr>
            <a:r>
              <a:rPr lang="en-US">
                <a:solidFill>
                  <a:srgbClr val="373A3C"/>
                </a:solidFill>
                <a:latin typeface="Times New Roman"/>
                <a:ea typeface="+mn-lt"/>
                <a:cs typeface="+mn-lt"/>
              </a:rPr>
              <a:t>Văn phong đơn giản, độ dài ngắn.</a:t>
            </a:r>
            <a:endParaRPr lang="en-US">
              <a:latin typeface="Times New Roman"/>
              <a:ea typeface="+mn-lt"/>
              <a:cs typeface="+mn-lt"/>
            </a:endParaRPr>
          </a:p>
          <a:p>
            <a:pPr>
              <a:buFont typeface="Arial"/>
              <a:buChar char="•"/>
            </a:pPr>
            <a:r>
              <a:rPr lang="en-US" sz="2400" b="1">
                <a:solidFill>
                  <a:srgbClr val="373A3C"/>
                </a:solidFill>
                <a:latin typeface="Times New Roman"/>
                <a:ea typeface="+mn-lt"/>
                <a:cs typeface="+mn-lt"/>
              </a:rPr>
              <a:t>Tiền xử lý:</a:t>
            </a:r>
            <a:endParaRPr lang="en-US" sz="2400">
              <a:latin typeface="Times New Roman"/>
              <a:ea typeface="+mn-lt"/>
              <a:cs typeface="+mn-lt"/>
            </a:endParaRPr>
          </a:p>
          <a:p>
            <a:pPr lvl="1">
              <a:buFont typeface="Courier New"/>
              <a:buChar char="o"/>
            </a:pPr>
            <a:r>
              <a:rPr lang="en-US" b="1">
                <a:solidFill>
                  <a:srgbClr val="373A3C"/>
                </a:solidFill>
                <a:latin typeface="Times New Roman"/>
                <a:ea typeface="+mn-lt"/>
                <a:cs typeface="+mn-lt"/>
              </a:rPr>
              <a:t>Chuẩn hóa:</a:t>
            </a:r>
            <a:r>
              <a:rPr lang="en-US">
                <a:solidFill>
                  <a:srgbClr val="373A3C"/>
                </a:solidFill>
                <a:latin typeface="Times New Roman"/>
                <a:ea typeface="+mn-lt"/>
                <a:cs typeface="+mn-lt"/>
              </a:rPr>
              <a:t> Unicode, loại bỏ câu quá ngắn (&lt; 3 từ).</a:t>
            </a:r>
            <a:endParaRPr lang="en-US">
              <a:latin typeface="Times New Roman"/>
              <a:ea typeface="+mn-lt"/>
              <a:cs typeface="+mn-lt"/>
            </a:endParaRPr>
          </a:p>
          <a:p>
            <a:pPr lvl="1">
              <a:buFont typeface="Courier New"/>
              <a:buChar char="o"/>
            </a:pPr>
            <a:r>
              <a:rPr lang="en-US" b="1">
                <a:solidFill>
                  <a:srgbClr val="373A3C"/>
                </a:solidFill>
                <a:latin typeface="Times New Roman"/>
                <a:ea typeface="+mn-lt"/>
                <a:cs typeface="+mn-lt"/>
              </a:rPr>
              <a:t>Gán nhãn:</a:t>
            </a:r>
            <a:r>
              <a:rPr lang="en-US">
                <a:solidFill>
                  <a:srgbClr val="373A3C"/>
                </a:solidFill>
                <a:latin typeface="Times New Roman"/>
                <a:ea typeface="+mn-lt"/>
                <a:cs typeface="+mn-lt"/>
              </a:rPr>
              <a:t> Chuyển đổi nhãn gốc POS, NEG, NEU thành positive, negative, neutral.</a:t>
            </a:r>
            <a:endParaRPr lang="en-US">
              <a:latin typeface="Times New Roman"/>
              <a:ea typeface="+mn-lt"/>
              <a:cs typeface="+mn-lt"/>
            </a:endParaRPr>
          </a:p>
          <a:p>
            <a:pPr lvl="1">
              <a:buFont typeface="Courier New"/>
              <a:buChar char="o"/>
            </a:pPr>
            <a:r>
              <a:rPr lang="en-US" b="1">
                <a:solidFill>
                  <a:srgbClr val="373A3C"/>
                </a:solidFill>
                <a:latin typeface="Times New Roman"/>
                <a:ea typeface="+mn-lt"/>
                <a:cs typeface="+mn-lt"/>
              </a:rPr>
              <a:t>Đóng gói:</a:t>
            </a:r>
            <a:r>
              <a:rPr lang="en-US">
                <a:solidFill>
                  <a:srgbClr val="373A3C"/>
                </a:solidFill>
                <a:latin typeface="Times New Roman"/>
                <a:ea typeface="+mn-lt"/>
                <a:cs typeface="+mn-lt"/>
              </a:rPr>
              <a:t> Thêm prefix để định hướng mô hình: "Phân loại cảm xúc: [nội dung câu]".</a:t>
            </a:r>
            <a:endParaRPr lang="en-US">
              <a:latin typeface="Times New Roman"/>
              <a:ea typeface="Calibri"/>
              <a:cs typeface="Calibri"/>
            </a:endParaRPr>
          </a:p>
          <a:p>
            <a:pPr lvl="1">
              <a:buFont typeface="Courier New"/>
              <a:buChar char="o"/>
            </a:pPr>
            <a:r>
              <a:rPr lang="en-US" b="1">
                <a:solidFill>
                  <a:srgbClr val="373A3C"/>
                </a:solidFill>
                <a:latin typeface="Times New Roman"/>
                <a:ea typeface="+mn-lt"/>
                <a:cs typeface="+mn-lt"/>
              </a:rPr>
              <a:t>Số lượng:</a:t>
            </a:r>
            <a:r>
              <a:rPr lang="en-US">
                <a:solidFill>
                  <a:srgbClr val="373A3C"/>
                </a:solidFill>
                <a:latin typeface="Times New Roman"/>
                <a:ea typeface="+mn-lt"/>
                <a:cs typeface="+mn-lt"/>
              </a:rPr>
              <a:t> Train: 4.014 mẫu | Val: 999 mẫu | Test: 1.037 mẫu.</a:t>
            </a:r>
            <a:endParaRPr lang="en-US">
              <a:latin typeface="Times New Roman"/>
              <a:ea typeface="Calibri"/>
              <a:cs typeface="Calibri"/>
            </a:endParaRPr>
          </a:p>
          <a:p>
            <a:pPr>
              <a:buFont typeface="Arial"/>
              <a:buChar char="•"/>
            </a:pPr>
            <a:endParaRPr lang="en-US" sz="2400" b="1">
              <a:solidFill>
                <a:srgbClr val="373A3C"/>
              </a:solidFill>
              <a:latin typeface="Times New Roman"/>
              <a:ea typeface="Calibri"/>
              <a:cs typeface="Calibri"/>
            </a:endParaRPr>
          </a:p>
          <a:p>
            <a:pPr>
              <a:buFont typeface="Arial"/>
              <a:buChar char="•"/>
            </a:pPr>
            <a:endParaRPr lang="en-US" sz="2400" b="1">
              <a:solidFill>
                <a:srgbClr val="373A3C"/>
              </a:solidFill>
              <a:latin typeface="Times New Roman"/>
              <a:ea typeface="Calibri"/>
              <a:cs typeface="Calibri"/>
            </a:endParaRPr>
          </a:p>
          <a:p>
            <a:pPr>
              <a:buFont typeface="Arial"/>
              <a:buChar char="•"/>
            </a:pPr>
            <a:endParaRPr lang="en-US" sz="2400">
              <a:solidFill>
                <a:srgbClr val="373A3C"/>
              </a:solidFill>
              <a:latin typeface="Times New Roman"/>
              <a:ea typeface="Calibri"/>
              <a:cs typeface="Calibri"/>
            </a:endParaRPr>
          </a:p>
          <a:p>
            <a:pPr marL="0" indent="0">
              <a:buNone/>
            </a:pPr>
            <a:endParaRPr lang="en-US" sz="2400">
              <a:solidFill>
                <a:srgbClr val="373A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2936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BCF59-5B2A-1967-6D75-5D9CFDA4DA60}"/>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C5D086D9-A4F1-7943-46EA-06C73D1ABDB7}"/>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2679A1E3-137C-BFB9-F677-DCD39C2AC27C}"/>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C24366DE-5F24-37CA-9641-268FC6403D62}"/>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AE35FA55-D097-99C8-2FD0-EE906A6275AC}"/>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F9DB401A-FF1E-E950-6BE6-D99EFA64F0A0}"/>
              </a:ext>
            </a:extLst>
          </p:cNvPr>
          <p:cNvSpPr>
            <a:spLocks noGrp="1"/>
          </p:cNvSpPr>
          <p:nvPr>
            <p:ph type="title"/>
          </p:nvPr>
        </p:nvSpPr>
        <p:spPr>
          <a:xfrm>
            <a:off x="-2415" y="10956"/>
            <a:ext cx="7886700" cy="1325563"/>
          </a:xfrm>
        </p:spPr>
        <p:txBody>
          <a:bodyPr>
            <a:normAutofit/>
          </a:bodyPr>
          <a:lstStyle/>
          <a:p>
            <a:r>
              <a:rPr lang="vi-VN" sz="3200" dirty="0">
                <a:latin typeface="Times New Roman"/>
                <a:ea typeface="+mj-lt"/>
                <a:cs typeface="Times New Roman"/>
              </a:rPr>
              <a:t>Cấu trúc tập </a:t>
            </a:r>
            <a:r>
              <a:rPr lang="vi-VN" sz="3200" dirty="0" err="1">
                <a:latin typeface="Times New Roman"/>
                <a:ea typeface="+mj-lt"/>
                <a:cs typeface="Times New Roman"/>
              </a:rPr>
              <a:t>train</a:t>
            </a:r>
            <a:endParaRPr lang="vi-VN" dirty="0" err="1"/>
          </a:p>
        </p:txBody>
      </p:sp>
      <p:pic>
        <p:nvPicPr>
          <p:cNvPr id="2" name="Hình ảnh 1" descr="Ảnh có chứa văn bản, biểu đồ, ảnh chụp màn hình, hàng&#10;&#10;Nội dung do AI tạo ra có thể không chính xác.">
            <a:extLst>
              <a:ext uri="{FF2B5EF4-FFF2-40B4-BE49-F238E27FC236}">
                <a16:creationId xmlns:a16="http://schemas.microsoft.com/office/drawing/2014/main" id="{1F3995CC-BA99-4450-CA96-15B00379FA3C}"/>
              </a:ext>
            </a:extLst>
          </p:cNvPr>
          <p:cNvPicPr>
            <a:picLocks noChangeAspect="1"/>
          </p:cNvPicPr>
          <p:nvPr/>
        </p:nvPicPr>
        <p:blipFill>
          <a:blip r:embed="rId3"/>
          <a:stretch>
            <a:fillRect/>
          </a:stretch>
        </p:blipFill>
        <p:spPr>
          <a:xfrm>
            <a:off x="0" y="1712043"/>
            <a:ext cx="9144000" cy="4970721"/>
          </a:xfrm>
          <a:prstGeom prst="rect">
            <a:avLst/>
          </a:prstGeom>
        </p:spPr>
      </p:pic>
    </p:spTree>
    <p:extLst>
      <p:ext uri="{BB962C8B-B14F-4D97-AF65-F5344CB8AC3E}">
        <p14:creationId xmlns:p14="http://schemas.microsoft.com/office/powerpoint/2010/main" val="3170477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A1F2F-759E-0904-5D3F-4346CF45D4B9}"/>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D3DEB799-7462-458B-0EFE-8215BD06CEF8}"/>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683ED4D9-C88E-2330-75B6-68C39A4F3189}"/>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4BE3843E-68B1-277E-7146-087B67C344C5}"/>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DC0D5A03-256E-6657-D3E3-495B10A0A383}"/>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B0634D30-C9C7-5487-FD27-6B772678C58A}"/>
              </a:ext>
            </a:extLst>
          </p:cNvPr>
          <p:cNvSpPr>
            <a:spLocks noGrp="1"/>
          </p:cNvSpPr>
          <p:nvPr>
            <p:ph type="title"/>
          </p:nvPr>
        </p:nvSpPr>
        <p:spPr>
          <a:xfrm>
            <a:off x="-2415" y="10956"/>
            <a:ext cx="7886700" cy="1325563"/>
          </a:xfrm>
        </p:spPr>
        <p:txBody>
          <a:bodyPr>
            <a:normAutofit/>
          </a:bodyPr>
          <a:lstStyle/>
          <a:p>
            <a:r>
              <a:rPr lang="vi-VN" sz="3200" dirty="0">
                <a:latin typeface="Times New Roman"/>
                <a:ea typeface="+mj-lt"/>
                <a:cs typeface="Times New Roman"/>
              </a:rPr>
              <a:t>Cấu trúc tập </a:t>
            </a:r>
            <a:r>
              <a:rPr lang="vi-VN" sz="3200" dirty="0" err="1">
                <a:latin typeface="Times New Roman"/>
                <a:ea typeface="+mj-lt"/>
                <a:cs typeface="Times New Roman"/>
              </a:rPr>
              <a:t>train</a:t>
            </a:r>
            <a:endParaRPr lang="vi-VN" dirty="0" err="1"/>
          </a:p>
        </p:txBody>
      </p:sp>
      <p:pic>
        <p:nvPicPr>
          <p:cNvPr id="3" name="Hình ảnh 2" descr="Ảnh có chứa văn bản, ảnh chụp màn hình, biểu đồ, số&#10;&#10;Nội dung do AI tạo ra có thể không chính xác.">
            <a:extLst>
              <a:ext uri="{FF2B5EF4-FFF2-40B4-BE49-F238E27FC236}">
                <a16:creationId xmlns:a16="http://schemas.microsoft.com/office/drawing/2014/main" id="{E4636FFB-8CD1-3F3C-10E7-70B673C2D7EF}"/>
              </a:ext>
            </a:extLst>
          </p:cNvPr>
          <p:cNvPicPr>
            <a:picLocks noChangeAspect="1"/>
          </p:cNvPicPr>
          <p:nvPr/>
        </p:nvPicPr>
        <p:blipFill>
          <a:blip r:embed="rId3"/>
          <a:stretch>
            <a:fillRect/>
          </a:stretch>
        </p:blipFill>
        <p:spPr>
          <a:xfrm>
            <a:off x="0" y="2371362"/>
            <a:ext cx="9086370" cy="3075782"/>
          </a:xfrm>
          <a:prstGeom prst="rect">
            <a:avLst/>
          </a:prstGeom>
        </p:spPr>
      </p:pic>
    </p:spTree>
    <p:extLst>
      <p:ext uri="{BB962C8B-B14F-4D97-AF65-F5344CB8AC3E}">
        <p14:creationId xmlns:p14="http://schemas.microsoft.com/office/powerpoint/2010/main" val="1585841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844B1-A6B6-A6A6-2A40-2FAFF9971F9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26F9B8F1-04C8-BC1B-D252-4B6839DD0229}"/>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E06AB37A-F16A-5044-01CA-394E65B74A84}"/>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25FA34AC-590B-15C7-FD2F-885C4901432E}"/>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2D40881E-A4C3-142B-EAF1-3B17C46EBAF5}"/>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5A347BB1-1E42-9052-403F-D265FE0BA5F4}"/>
              </a:ext>
            </a:extLst>
          </p:cNvPr>
          <p:cNvSpPr>
            <a:spLocks noGrp="1"/>
          </p:cNvSpPr>
          <p:nvPr>
            <p:ph type="title"/>
          </p:nvPr>
        </p:nvSpPr>
        <p:spPr>
          <a:xfrm>
            <a:off x="-2415" y="10956"/>
            <a:ext cx="7886700" cy="1325563"/>
          </a:xfrm>
        </p:spPr>
        <p:txBody>
          <a:bodyPr>
            <a:normAutofit/>
          </a:bodyPr>
          <a:lstStyle/>
          <a:p>
            <a:r>
              <a:rPr lang="vi-VN" sz="3200">
                <a:ea typeface="+mj-lt"/>
                <a:cs typeface="+mj-lt"/>
              </a:rPr>
              <a:t>Chiến lược tạo Dữ liệu Nhân tạo (Synthetic Data)</a:t>
            </a:r>
            <a:endParaRPr lang="vi-VN">
              <a:ea typeface="+mj-lt"/>
              <a:cs typeface="+mj-lt"/>
            </a:endParaRPr>
          </a:p>
        </p:txBody>
      </p:sp>
      <p:sp>
        <p:nvSpPr>
          <p:cNvPr id="9" name="Content Placeholder 2">
            <a:extLst>
              <a:ext uri="{FF2B5EF4-FFF2-40B4-BE49-F238E27FC236}">
                <a16:creationId xmlns:a16="http://schemas.microsoft.com/office/drawing/2014/main" id="{86923E23-0E60-BDE6-DE66-904424EB1684}"/>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b="1">
                <a:solidFill>
                  <a:srgbClr val="373A3C"/>
                </a:solidFill>
                <a:latin typeface="Times New Roman"/>
                <a:ea typeface="+mn-lt"/>
                <a:cs typeface="+mn-lt"/>
              </a:rPr>
              <a:t>Mục tiêu:</a:t>
            </a:r>
            <a:r>
              <a:rPr lang="en-US" sz="2400">
                <a:solidFill>
                  <a:srgbClr val="373A3C"/>
                </a:solidFill>
                <a:latin typeface="Times New Roman"/>
                <a:ea typeface="+mn-lt"/>
                <a:cs typeface="+mn-lt"/>
              </a:rPr>
              <a:t> </a:t>
            </a:r>
            <a:endParaRPr lang="vi-VN" sz="2400">
              <a:solidFill>
                <a:srgbClr val="000000"/>
              </a:solidFill>
              <a:latin typeface="Times New Roman"/>
              <a:ea typeface="+mn-lt"/>
              <a:cs typeface="Arial" panose="020B0604020202020204" pitchFamily="34" charset="0"/>
            </a:endParaRPr>
          </a:p>
          <a:p>
            <a:pPr lvl="1">
              <a:buFont typeface="Arial"/>
              <a:buChar char="•"/>
            </a:pPr>
            <a:r>
              <a:rPr lang="en-US">
                <a:solidFill>
                  <a:srgbClr val="373A3C"/>
                </a:solidFill>
                <a:latin typeface="Times New Roman"/>
                <a:ea typeface="+mn-lt"/>
                <a:cs typeface="+mn-lt"/>
              </a:rPr>
              <a:t>Mở rộng đa dạng văn phong và chủ đề (đặc biệt là công nghệ, thiết bị điện tử). </a:t>
            </a:r>
            <a:r>
              <a:rPr lang="en-US" b="1">
                <a:solidFill>
                  <a:srgbClr val="373A3C"/>
                </a:solidFill>
                <a:latin typeface="Times New Roman"/>
                <a:ea typeface="+mn-lt"/>
                <a:cs typeface="+mn-lt"/>
              </a:rPr>
              <a:t>Phương pháp:</a:t>
            </a:r>
            <a:r>
              <a:rPr lang="en-US">
                <a:solidFill>
                  <a:srgbClr val="373A3C"/>
                </a:solidFill>
                <a:latin typeface="Times New Roman"/>
                <a:ea typeface="+mn-lt"/>
                <a:cs typeface="+mn-lt"/>
              </a:rPr>
              <a:t> Sử dụng Gemini 2.5 Pro với Prompt kỹ thuật cao. </a:t>
            </a:r>
            <a:endParaRPr lang="vi-VN">
              <a:solidFill>
                <a:srgbClr val="000000"/>
              </a:solidFill>
              <a:latin typeface="Times New Roman"/>
              <a:ea typeface="+mn-lt"/>
              <a:cs typeface="Arial"/>
            </a:endParaRPr>
          </a:p>
          <a:p>
            <a:pPr>
              <a:buFont typeface="Arial"/>
              <a:buChar char="•"/>
            </a:pPr>
            <a:r>
              <a:rPr lang="en-US" sz="2400" b="1">
                <a:solidFill>
                  <a:srgbClr val="373A3C"/>
                </a:solidFill>
                <a:latin typeface="Times New Roman"/>
                <a:ea typeface="+mn-lt"/>
                <a:cs typeface="+mn-lt"/>
              </a:rPr>
              <a:t>Yêu cầu Prompt:</a:t>
            </a:r>
            <a:endParaRPr lang="vi-VN" sz="2400">
              <a:latin typeface="Times New Roman"/>
              <a:ea typeface="+mn-lt"/>
              <a:cs typeface="Arial"/>
            </a:endParaRPr>
          </a:p>
          <a:p>
            <a:pPr lvl="1">
              <a:buFont typeface="Arial"/>
              <a:buChar char="•"/>
            </a:pPr>
            <a:r>
              <a:rPr lang="en-US" b="1">
                <a:solidFill>
                  <a:srgbClr val="373A3C"/>
                </a:solidFill>
                <a:latin typeface="Times New Roman"/>
                <a:ea typeface="+mn-lt"/>
                <a:cs typeface="+mn-lt"/>
              </a:rPr>
              <a:t>Vai:</a:t>
            </a:r>
            <a:r>
              <a:rPr lang="en-US">
                <a:solidFill>
                  <a:srgbClr val="373A3C"/>
                </a:solidFill>
                <a:latin typeface="Times New Roman"/>
                <a:ea typeface="+mn-lt"/>
                <a:cs typeface="+mn-lt"/>
              </a:rPr>
              <a:t> Người dùng công nghệ (VOZ, Tinhte, Facebook group).</a:t>
            </a:r>
            <a:endParaRPr lang="en-US">
              <a:latin typeface="Times New Roman"/>
              <a:ea typeface="+mn-lt"/>
              <a:cs typeface="+mn-lt"/>
            </a:endParaRPr>
          </a:p>
          <a:p>
            <a:pPr lvl="1">
              <a:buFont typeface="Arial"/>
              <a:buChar char="•"/>
            </a:pPr>
            <a:r>
              <a:rPr lang="en-US" b="1">
                <a:solidFill>
                  <a:srgbClr val="373A3C"/>
                </a:solidFill>
                <a:latin typeface="Times New Roman"/>
                <a:ea typeface="+mn-lt"/>
                <a:cs typeface="+mn-lt"/>
              </a:rPr>
              <a:t>Chủ đề:</a:t>
            </a:r>
            <a:r>
              <a:rPr lang="en-US">
                <a:solidFill>
                  <a:srgbClr val="373A3C"/>
                </a:solidFill>
                <a:latin typeface="Times New Roman"/>
                <a:ea typeface="+mn-lt"/>
                <a:cs typeface="+mn-lt"/>
              </a:rPr>
              <a:t> iPhone, Samsung, PC, Laptop, App, Dịch vụ mạng...</a:t>
            </a:r>
            <a:endParaRPr lang="en-US">
              <a:latin typeface="Times New Roman"/>
              <a:ea typeface="Calibri"/>
              <a:cs typeface="Calibri"/>
            </a:endParaRPr>
          </a:p>
          <a:p>
            <a:pPr>
              <a:buFont typeface="Arial"/>
              <a:buChar char="•"/>
            </a:pPr>
            <a:r>
              <a:rPr lang="en-US" sz="2400" b="1">
                <a:solidFill>
                  <a:srgbClr val="373A3C"/>
                </a:solidFill>
                <a:latin typeface="Times New Roman"/>
                <a:ea typeface="+mn-lt"/>
                <a:cs typeface="+mn-lt"/>
              </a:rPr>
              <a:t>Cảm xúc:</a:t>
            </a:r>
            <a:endParaRPr lang="en-US" sz="2400" b="1">
              <a:latin typeface="Times New Roman"/>
              <a:ea typeface="+mn-lt"/>
              <a:cs typeface="+mn-lt"/>
            </a:endParaRPr>
          </a:p>
          <a:p>
            <a:pPr lvl="1">
              <a:buFont typeface="Arial"/>
              <a:buChar char="•"/>
            </a:pPr>
            <a:r>
              <a:rPr lang="en-US" i="1">
                <a:solidFill>
                  <a:srgbClr val="373A3C"/>
                </a:solidFill>
                <a:latin typeface="Times New Roman"/>
                <a:ea typeface="+mn-lt"/>
                <a:cs typeface="+mn-lt"/>
              </a:rPr>
              <a:t>Positive/Negative:</a:t>
            </a:r>
            <a:r>
              <a:rPr lang="en-US">
                <a:solidFill>
                  <a:srgbClr val="373A3C"/>
                </a:solidFill>
                <a:latin typeface="Times New Roman"/>
                <a:ea typeface="+mn-lt"/>
                <a:cs typeface="+mn-lt"/>
              </a:rPr>
              <a:t> Dùng tính từ mạnh (mê ly, ức chế, chán ghê...).</a:t>
            </a:r>
            <a:endParaRPr lang="en-US">
              <a:latin typeface="Times New Roman"/>
              <a:ea typeface="Calibri"/>
              <a:cs typeface="Calibri"/>
            </a:endParaRPr>
          </a:p>
          <a:p>
            <a:pPr lvl="1">
              <a:buFont typeface="Arial"/>
              <a:buChar char="•"/>
            </a:pPr>
            <a:r>
              <a:rPr lang="en-US" i="1">
                <a:solidFill>
                  <a:srgbClr val="373A3C"/>
                </a:solidFill>
                <a:latin typeface="Times New Roman"/>
                <a:ea typeface="+mn-lt"/>
                <a:cs typeface="+mn-lt"/>
              </a:rPr>
              <a:t>Neutral:</a:t>
            </a:r>
            <a:r>
              <a:rPr lang="en-US">
                <a:solidFill>
                  <a:srgbClr val="373A3C"/>
                </a:solidFill>
                <a:latin typeface="Times New Roman"/>
                <a:ea typeface="+mn-lt"/>
                <a:cs typeface="+mn-lt"/>
              </a:rPr>
              <a:t> Thể hiện sự tò mò, phân vân, hỏi thông số (tránh mô tả khô khan).</a:t>
            </a:r>
            <a:endParaRPr lang="en-US">
              <a:latin typeface="Times New Roman"/>
              <a:cs typeface="Times New Roman"/>
            </a:endParaRPr>
          </a:p>
          <a:p>
            <a:pPr>
              <a:buFont typeface="Arial"/>
              <a:buChar char="•"/>
            </a:pPr>
            <a:r>
              <a:rPr lang="en-US" sz="2400" b="1">
                <a:solidFill>
                  <a:srgbClr val="373A3C"/>
                </a:solidFill>
                <a:latin typeface="Times New Roman"/>
                <a:ea typeface="+mn-lt"/>
                <a:cs typeface="+mn-lt"/>
              </a:rPr>
              <a:t>Kết quả:</a:t>
            </a:r>
            <a:r>
              <a:rPr lang="en-US" sz="2400">
                <a:solidFill>
                  <a:srgbClr val="373A3C"/>
                </a:solidFill>
                <a:latin typeface="Times New Roman"/>
                <a:ea typeface="+mn-lt"/>
                <a:cs typeface="+mn-lt"/>
              </a:rPr>
              <a:t> Tạo ra 1.500 mẫu chất lượng cao, cân bằng 3 nhãn</a:t>
            </a:r>
          </a:p>
          <a:p>
            <a:pPr>
              <a:buFont typeface="Arial"/>
              <a:buChar char="•"/>
            </a:pPr>
            <a:endParaRPr lang="en-US" sz="2400">
              <a:solidFill>
                <a:srgbClr val="373A3C"/>
              </a:solidFill>
              <a:latin typeface="Times New Roman"/>
              <a:ea typeface="Calibri"/>
              <a:cs typeface="Calibri"/>
            </a:endParaRPr>
          </a:p>
          <a:p>
            <a:pPr>
              <a:buFont typeface="Arial"/>
              <a:buChar char="•"/>
            </a:pPr>
            <a:endParaRPr lang="en-US" sz="2400" b="1">
              <a:solidFill>
                <a:srgbClr val="373A3C"/>
              </a:solidFill>
              <a:latin typeface="Times New Roman"/>
              <a:ea typeface="Calibri"/>
              <a:cs typeface="Calibri"/>
            </a:endParaRPr>
          </a:p>
        </p:txBody>
      </p:sp>
    </p:spTree>
    <p:extLst>
      <p:ext uri="{BB962C8B-B14F-4D97-AF65-F5344CB8AC3E}">
        <p14:creationId xmlns:p14="http://schemas.microsoft.com/office/powerpoint/2010/main" val="4168961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6A571-E57C-7E46-53CF-BEAD90009143}"/>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543F56C9-1C6C-6020-10A1-8D8A846A6C89}"/>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0599070C-68B4-1FE0-5354-81CE5C511F04}"/>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53A2637B-461A-28BE-386C-1B666FD6EFDB}"/>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6D40C51F-943F-EAAD-F9F2-A4C96049D4A2}"/>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94EF59A2-2153-F88A-939A-00309384C116}"/>
              </a:ext>
            </a:extLst>
          </p:cNvPr>
          <p:cNvSpPr>
            <a:spLocks noGrp="1"/>
          </p:cNvSpPr>
          <p:nvPr>
            <p:ph type="title"/>
          </p:nvPr>
        </p:nvSpPr>
        <p:spPr>
          <a:xfrm>
            <a:off x="-2415" y="10956"/>
            <a:ext cx="7886700" cy="1325563"/>
          </a:xfrm>
        </p:spPr>
        <p:txBody>
          <a:bodyPr>
            <a:normAutofit/>
          </a:bodyPr>
          <a:lstStyle/>
          <a:p>
            <a:r>
              <a:rPr lang="vi-VN" sz="3200">
                <a:ea typeface="+mj-lt"/>
                <a:cs typeface="+mj-lt"/>
              </a:rPr>
              <a:t>Phương pháp Huấn luyện (Training Strategy)</a:t>
            </a:r>
            <a:endParaRPr lang="vi-VN"/>
          </a:p>
        </p:txBody>
      </p:sp>
      <p:sp>
        <p:nvSpPr>
          <p:cNvPr id="9" name="Content Placeholder 2">
            <a:extLst>
              <a:ext uri="{FF2B5EF4-FFF2-40B4-BE49-F238E27FC236}">
                <a16:creationId xmlns:a16="http://schemas.microsoft.com/office/drawing/2014/main" id="{D0F2F4BB-0B7A-D8C8-C39A-EC57112973B2}"/>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b="1">
                <a:solidFill>
                  <a:srgbClr val="373A3C"/>
                </a:solidFill>
                <a:latin typeface="Times New Roman"/>
                <a:ea typeface="+mn-lt"/>
                <a:cs typeface="+mn-lt"/>
              </a:rPr>
              <a:t>Cấu hình:</a:t>
            </a:r>
            <a:endParaRPr lang="vi-VN" sz="2400">
              <a:solidFill>
                <a:srgbClr val="000000"/>
              </a:solidFill>
              <a:latin typeface="Times New Roman"/>
              <a:ea typeface="+mn-lt"/>
              <a:cs typeface="Arial"/>
            </a:endParaRPr>
          </a:p>
          <a:p>
            <a:pPr lvl="1">
              <a:buFont typeface="Courier New"/>
              <a:buChar char="o"/>
            </a:pPr>
            <a:r>
              <a:rPr lang="en-US" b="1">
                <a:solidFill>
                  <a:srgbClr val="373A3C"/>
                </a:solidFill>
                <a:latin typeface="Times New Roman"/>
                <a:ea typeface="+mn-lt"/>
                <a:cs typeface="+mn-lt"/>
              </a:rPr>
              <a:t>Trainer:</a:t>
            </a:r>
            <a:r>
              <a:rPr lang="en-US">
                <a:solidFill>
                  <a:srgbClr val="373A3C"/>
                </a:solidFill>
                <a:latin typeface="Times New Roman"/>
                <a:ea typeface="+mn-lt"/>
                <a:cs typeface="+mn-lt"/>
              </a:rPr>
              <a:t> Seq2SeqTrainer (HuggingFace).</a:t>
            </a:r>
            <a:endParaRPr lang="en-US">
              <a:latin typeface="Times New Roman"/>
              <a:ea typeface="+mn-lt"/>
              <a:cs typeface="+mn-lt"/>
            </a:endParaRPr>
          </a:p>
          <a:p>
            <a:pPr lvl="1">
              <a:buFont typeface="Courier New"/>
              <a:buChar char="o"/>
            </a:pPr>
            <a:r>
              <a:rPr lang="en-US" b="1">
                <a:solidFill>
                  <a:srgbClr val="373A3C"/>
                </a:solidFill>
                <a:latin typeface="Times New Roman"/>
                <a:ea typeface="+mn-lt"/>
                <a:cs typeface="+mn-lt"/>
              </a:rPr>
              <a:t>Epochs:</a:t>
            </a:r>
            <a:r>
              <a:rPr lang="en-US">
                <a:solidFill>
                  <a:srgbClr val="373A3C"/>
                </a:solidFill>
                <a:latin typeface="Times New Roman"/>
                <a:ea typeface="+mn-lt"/>
                <a:cs typeface="+mn-lt"/>
              </a:rPr>
              <a:t> 10 (Đủ để hội tụ, tránh overfitting).</a:t>
            </a:r>
            <a:endParaRPr lang="en-US">
              <a:latin typeface="Times New Roman"/>
              <a:ea typeface="Calibri"/>
              <a:cs typeface="Calibri"/>
            </a:endParaRPr>
          </a:p>
          <a:p>
            <a:pPr lvl="1">
              <a:buFont typeface="Courier New"/>
              <a:buChar char="o"/>
            </a:pPr>
            <a:r>
              <a:rPr lang="en-US" b="1">
                <a:solidFill>
                  <a:srgbClr val="373A3C"/>
                </a:solidFill>
                <a:latin typeface="Times New Roman"/>
                <a:ea typeface="+mn-lt"/>
                <a:cs typeface="+mn-lt"/>
              </a:rPr>
              <a:t>Batch size:</a:t>
            </a:r>
            <a:r>
              <a:rPr lang="en-US">
                <a:solidFill>
                  <a:srgbClr val="373A3C"/>
                </a:solidFill>
                <a:latin typeface="Times New Roman"/>
                <a:ea typeface="+mn-lt"/>
                <a:cs typeface="+mn-lt"/>
              </a:rPr>
              <a:t> Train 8 / Eval 16.</a:t>
            </a:r>
            <a:endParaRPr lang="en-US">
              <a:latin typeface="Times New Roman"/>
              <a:ea typeface="Calibri"/>
              <a:cs typeface="Calibri"/>
            </a:endParaRPr>
          </a:p>
          <a:p>
            <a:pPr lvl="1">
              <a:buFont typeface="Courier New"/>
              <a:buChar char="o"/>
            </a:pPr>
            <a:r>
              <a:rPr lang="en-US" b="1">
                <a:solidFill>
                  <a:srgbClr val="373A3C"/>
                </a:solidFill>
                <a:latin typeface="Times New Roman"/>
                <a:ea typeface="+mn-lt"/>
                <a:cs typeface="+mn-lt"/>
              </a:rPr>
              <a:t>Learning rate:</a:t>
            </a:r>
            <a:r>
              <a:rPr lang="en-US">
                <a:solidFill>
                  <a:srgbClr val="373A3C"/>
                </a:solidFill>
                <a:latin typeface="Times New Roman"/>
                <a:ea typeface="+mn-lt"/>
                <a:cs typeface="+mn-lt"/>
              </a:rPr>
              <a:t> 5e-5 (Mức tiêu chuẩn cho fine-tuning).</a:t>
            </a:r>
            <a:endParaRPr lang="en-US">
              <a:latin typeface="Times New Roman"/>
              <a:ea typeface="+mn-lt"/>
              <a:cs typeface="+mn-lt"/>
            </a:endParaRPr>
          </a:p>
          <a:p>
            <a:pPr lvl="1">
              <a:buFont typeface="Courier New"/>
              <a:buChar char="o"/>
            </a:pPr>
            <a:r>
              <a:rPr lang="en-US" b="1">
                <a:solidFill>
                  <a:srgbClr val="373A3C"/>
                </a:solidFill>
                <a:latin typeface="Times New Roman"/>
                <a:ea typeface="+mn-lt"/>
                <a:cs typeface="+mn-lt"/>
              </a:rPr>
              <a:t>Decoding:</a:t>
            </a:r>
            <a:r>
              <a:rPr lang="en-US">
                <a:solidFill>
                  <a:srgbClr val="373A3C"/>
                </a:solidFill>
                <a:latin typeface="Times New Roman"/>
                <a:ea typeface="+mn-lt"/>
                <a:cs typeface="+mn-lt"/>
              </a:rPr>
              <a:t> Greedy Search (Beam size = 1) do output ngắn.</a:t>
            </a:r>
            <a:endParaRPr lang="en-US">
              <a:latin typeface="Times New Roman"/>
              <a:ea typeface="Calibri"/>
              <a:cs typeface="Calibri"/>
            </a:endParaRPr>
          </a:p>
          <a:p>
            <a:pPr>
              <a:buFont typeface="Arial"/>
              <a:buChar char="•"/>
            </a:pPr>
            <a:r>
              <a:rPr lang="en-US" sz="2400" b="1">
                <a:solidFill>
                  <a:srgbClr val="373A3C"/>
                </a:solidFill>
                <a:latin typeface="Times New Roman"/>
                <a:ea typeface="+mn-lt"/>
                <a:cs typeface="+mn-lt"/>
              </a:rPr>
              <a:t>Chiến lược tối ưu:</a:t>
            </a:r>
            <a:endParaRPr lang="en-US" sz="2400">
              <a:latin typeface="Times New Roman"/>
              <a:ea typeface="+mn-lt"/>
              <a:cs typeface="+mn-lt"/>
            </a:endParaRPr>
          </a:p>
          <a:p>
            <a:pPr lvl="1">
              <a:buFont typeface="Courier New"/>
              <a:buChar char="o"/>
            </a:pPr>
            <a:r>
              <a:rPr lang="en-US">
                <a:solidFill>
                  <a:srgbClr val="373A3C"/>
                </a:solidFill>
                <a:latin typeface="Times New Roman"/>
                <a:ea typeface="+mn-lt"/>
                <a:cs typeface="+mn-lt"/>
              </a:rPr>
              <a:t>Đánh giá trên tập Validation sau mỗi epoch.</a:t>
            </a:r>
            <a:endParaRPr lang="en-US">
              <a:latin typeface="Times New Roman"/>
              <a:ea typeface="+mn-lt"/>
              <a:cs typeface="+mn-lt"/>
            </a:endParaRPr>
          </a:p>
          <a:p>
            <a:pPr lvl="1">
              <a:buFont typeface="Courier New"/>
              <a:buChar char="o"/>
            </a:pPr>
            <a:r>
              <a:rPr lang="en-US" b="1">
                <a:solidFill>
                  <a:srgbClr val="373A3C"/>
                </a:solidFill>
                <a:latin typeface="Times New Roman"/>
                <a:ea typeface="+mn-lt"/>
                <a:cs typeface="+mn-lt"/>
              </a:rPr>
              <a:t>Load Best Model at End:</a:t>
            </a:r>
            <a:r>
              <a:rPr lang="en-US">
                <a:solidFill>
                  <a:srgbClr val="373A3C"/>
                </a:solidFill>
                <a:latin typeface="Times New Roman"/>
                <a:ea typeface="+mn-lt"/>
                <a:cs typeface="+mn-lt"/>
              </a:rPr>
              <a:t> Chọn checkpoint có eval_loss thấp nhất (tránh lấy model ở epoch cuối nếu đã bị overfit).</a:t>
            </a:r>
            <a:endParaRPr lang="en-US">
              <a:latin typeface="Times New Roman"/>
              <a:ea typeface="Calibri"/>
              <a:cs typeface="Calibri"/>
            </a:endParaRPr>
          </a:p>
          <a:p>
            <a:pPr lvl="1">
              <a:buFont typeface="Courier New"/>
              <a:buChar char="o"/>
            </a:pPr>
            <a:r>
              <a:rPr lang="en-US">
                <a:solidFill>
                  <a:srgbClr val="373A3C"/>
                </a:solidFill>
                <a:latin typeface="Times New Roman"/>
                <a:ea typeface="+mn-lt"/>
                <a:cs typeface="+mn-lt"/>
              </a:rPr>
              <a:t>Sử dụng Mixed Precision (FP16) để tăng tốc và giảm bộ nhớ GPU.</a:t>
            </a:r>
            <a:endParaRPr lang="en-US">
              <a:latin typeface="Times New Roman"/>
              <a:ea typeface="Calibri"/>
              <a:cs typeface="Calibri"/>
            </a:endParaRPr>
          </a:p>
          <a:p>
            <a:pPr>
              <a:buFont typeface="Arial"/>
              <a:buChar char="•"/>
            </a:pPr>
            <a:endParaRPr lang="en-US" sz="2400" b="1">
              <a:solidFill>
                <a:srgbClr val="373A3C"/>
              </a:solidFill>
              <a:latin typeface="Times New Roman"/>
              <a:ea typeface="Calibri"/>
              <a:cs typeface="Calibri"/>
            </a:endParaRPr>
          </a:p>
        </p:txBody>
      </p:sp>
    </p:spTree>
    <p:extLst>
      <p:ext uri="{BB962C8B-B14F-4D97-AF65-F5344CB8AC3E}">
        <p14:creationId xmlns:p14="http://schemas.microsoft.com/office/powerpoint/2010/main" val="1542330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3EB50-8CA1-E5B6-3423-944C82F34530}"/>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1742D2C7-2ADC-1251-19A7-4B438EAADCE0}"/>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F4B29EED-5B5B-459F-1ACB-F2A29BBEF66E}"/>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2796AFA8-C292-2C46-A75C-3C47A546299D}"/>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2C5C429B-A812-5003-0246-CAD25DE60CF4}"/>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5143FF7A-1E38-FA43-6DDB-632EAB11D983}"/>
              </a:ext>
            </a:extLst>
          </p:cNvPr>
          <p:cNvSpPr>
            <a:spLocks noGrp="1"/>
          </p:cNvSpPr>
          <p:nvPr>
            <p:ph type="title"/>
          </p:nvPr>
        </p:nvSpPr>
        <p:spPr>
          <a:xfrm>
            <a:off x="-2415" y="10956"/>
            <a:ext cx="7886700" cy="1325563"/>
          </a:xfrm>
        </p:spPr>
        <p:txBody>
          <a:bodyPr>
            <a:normAutofit/>
          </a:bodyPr>
          <a:lstStyle/>
          <a:p>
            <a:r>
              <a:rPr lang="vi-VN" sz="3200">
                <a:ea typeface="+mj-lt"/>
                <a:cs typeface="+mj-lt"/>
              </a:rPr>
              <a:t>Kết quả Định lượng (Metric Evaluation)</a:t>
            </a:r>
            <a:endParaRPr lang="vi-VN">
              <a:ea typeface="+mj-lt"/>
              <a:cs typeface="+mj-lt"/>
            </a:endParaRPr>
          </a:p>
        </p:txBody>
      </p:sp>
      <p:sp>
        <p:nvSpPr>
          <p:cNvPr id="9" name="Content Placeholder 2">
            <a:extLst>
              <a:ext uri="{FF2B5EF4-FFF2-40B4-BE49-F238E27FC236}">
                <a16:creationId xmlns:a16="http://schemas.microsoft.com/office/drawing/2014/main" id="{FDD36302-57D3-6065-C9F3-F2FB618D7DE2}"/>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dirty="0">
                <a:solidFill>
                  <a:srgbClr val="373A3C"/>
                </a:solidFill>
                <a:latin typeface="Times New Roman"/>
                <a:ea typeface="+mn-lt"/>
                <a:cs typeface="+mn-lt"/>
              </a:rPr>
              <a:t>So </a:t>
            </a:r>
            <a:r>
              <a:rPr lang="en-US" sz="2400" dirty="0" err="1">
                <a:solidFill>
                  <a:srgbClr val="373A3C"/>
                </a:solidFill>
                <a:latin typeface="Times New Roman"/>
                <a:ea typeface="+mn-lt"/>
                <a:cs typeface="+mn-lt"/>
              </a:rPr>
              <a:t>sánh</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mô</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hình</a:t>
            </a:r>
            <a:r>
              <a:rPr lang="en-US" sz="2400" dirty="0">
                <a:solidFill>
                  <a:srgbClr val="373A3C"/>
                </a:solidFill>
                <a:latin typeface="Times New Roman"/>
                <a:ea typeface="+mn-lt"/>
                <a:cs typeface="+mn-lt"/>
              </a:rPr>
              <a:t> </a:t>
            </a:r>
            <a:r>
              <a:rPr lang="en-US" sz="2400" b="1" dirty="0">
                <a:solidFill>
                  <a:srgbClr val="373A3C"/>
                </a:solidFill>
                <a:latin typeface="Times New Roman"/>
                <a:ea typeface="+mn-lt"/>
                <a:cs typeface="+mn-lt"/>
              </a:rPr>
              <a:t>Baseline</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chỉ</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dùng</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dữ</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liệu</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gốc</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và</a:t>
            </a:r>
            <a:r>
              <a:rPr lang="en-US" sz="2400" dirty="0">
                <a:solidFill>
                  <a:srgbClr val="373A3C"/>
                </a:solidFill>
                <a:latin typeface="Times New Roman"/>
                <a:ea typeface="+mn-lt"/>
                <a:cs typeface="+mn-lt"/>
              </a:rPr>
              <a:t> </a:t>
            </a:r>
            <a:r>
              <a:rPr lang="en-US" sz="2400" b="1" dirty="0">
                <a:solidFill>
                  <a:srgbClr val="373A3C"/>
                </a:solidFill>
                <a:latin typeface="Times New Roman"/>
                <a:ea typeface="+mn-lt"/>
                <a:cs typeface="+mn-lt"/>
              </a:rPr>
              <a:t>Augmented</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có</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thêm</a:t>
            </a:r>
            <a:r>
              <a:rPr lang="en-US" sz="2400" dirty="0">
                <a:solidFill>
                  <a:srgbClr val="373A3C"/>
                </a:solidFill>
                <a:latin typeface="Times New Roman"/>
                <a:ea typeface="+mn-lt"/>
                <a:cs typeface="+mn-lt"/>
              </a:rPr>
              <a:t> synthetic data) </a:t>
            </a:r>
            <a:r>
              <a:rPr lang="en-US" sz="2400" dirty="0" err="1">
                <a:solidFill>
                  <a:srgbClr val="373A3C"/>
                </a:solidFill>
                <a:latin typeface="Times New Roman"/>
                <a:ea typeface="+mn-lt"/>
                <a:cs typeface="+mn-lt"/>
              </a:rPr>
              <a:t>trên</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tập</a:t>
            </a:r>
            <a:r>
              <a:rPr lang="en-US" sz="2400" dirty="0">
                <a:solidFill>
                  <a:srgbClr val="373A3C"/>
                </a:solidFill>
                <a:latin typeface="Times New Roman"/>
                <a:ea typeface="+mn-lt"/>
                <a:cs typeface="+mn-lt"/>
              </a:rPr>
              <a:t> Test.</a:t>
            </a:r>
            <a:endParaRPr lang="vi-VN" sz="2400" dirty="0">
              <a:solidFill>
                <a:srgbClr val="000000"/>
              </a:solidFill>
              <a:latin typeface="Times New Roman"/>
              <a:ea typeface="+mn-lt"/>
              <a:cs typeface="+mn-lt"/>
            </a:endParaRPr>
          </a:p>
        </p:txBody>
      </p:sp>
      <p:pic>
        <p:nvPicPr>
          <p:cNvPr id="2" name="Hình ảnh 1" descr="Ảnh có chứa văn bản, ảnh chụp màn hình, Phông chữ, số&#10;&#10;Nội dung do AI tạo ra có thể không chính xác.">
            <a:extLst>
              <a:ext uri="{FF2B5EF4-FFF2-40B4-BE49-F238E27FC236}">
                <a16:creationId xmlns:a16="http://schemas.microsoft.com/office/drawing/2014/main" id="{5AB58929-E441-CD5D-9F3A-8B418C2D7483}"/>
              </a:ext>
            </a:extLst>
          </p:cNvPr>
          <p:cNvPicPr>
            <a:picLocks noChangeAspect="1"/>
          </p:cNvPicPr>
          <p:nvPr/>
        </p:nvPicPr>
        <p:blipFill>
          <a:blip r:embed="rId3"/>
          <a:stretch>
            <a:fillRect/>
          </a:stretch>
        </p:blipFill>
        <p:spPr>
          <a:xfrm>
            <a:off x="338578" y="2779818"/>
            <a:ext cx="8457239" cy="2374126"/>
          </a:xfrm>
          <a:prstGeom prst="rect">
            <a:avLst/>
          </a:prstGeom>
        </p:spPr>
      </p:pic>
    </p:spTree>
    <p:extLst>
      <p:ext uri="{BB962C8B-B14F-4D97-AF65-F5344CB8AC3E}">
        <p14:creationId xmlns:p14="http://schemas.microsoft.com/office/powerpoint/2010/main" val="38936251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41FB-B512-13D8-D570-A409954F184E}"/>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1FEB6B54-9A18-859C-0923-E91433AD99D7}"/>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5C269B5E-73A6-9083-F369-74397404980B}"/>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96800030-80CE-0C99-2819-5BD1D4365DE8}"/>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DDF9F047-80A6-5737-16B0-22AF48874CB3}"/>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2DE9939B-6292-17CC-36E3-EF1CCD752C80}"/>
              </a:ext>
            </a:extLst>
          </p:cNvPr>
          <p:cNvSpPr>
            <a:spLocks noGrp="1"/>
          </p:cNvSpPr>
          <p:nvPr>
            <p:ph type="title"/>
          </p:nvPr>
        </p:nvSpPr>
        <p:spPr>
          <a:xfrm>
            <a:off x="-2415" y="10956"/>
            <a:ext cx="7886700" cy="1325563"/>
          </a:xfrm>
        </p:spPr>
        <p:txBody>
          <a:bodyPr>
            <a:normAutofit/>
          </a:bodyPr>
          <a:lstStyle/>
          <a:p>
            <a:r>
              <a:rPr lang="vi-VN" sz="3200">
                <a:ea typeface="+mj-lt"/>
                <a:cs typeface="+mj-lt"/>
              </a:rPr>
              <a:t>Kết quả Định lượng (Metric Evaluation)</a:t>
            </a:r>
            <a:endParaRPr lang="vi-VN">
              <a:ea typeface="+mj-lt"/>
              <a:cs typeface="+mj-lt"/>
            </a:endParaRPr>
          </a:p>
        </p:txBody>
      </p:sp>
      <p:sp>
        <p:nvSpPr>
          <p:cNvPr id="9" name="Content Placeholder 2">
            <a:extLst>
              <a:ext uri="{FF2B5EF4-FFF2-40B4-BE49-F238E27FC236}">
                <a16:creationId xmlns:a16="http://schemas.microsoft.com/office/drawing/2014/main" id="{77F5C984-E6A3-E9B9-8A89-3CB0AE00ECA7}"/>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dirty="0">
                <a:solidFill>
                  <a:srgbClr val="373A3C"/>
                </a:solidFill>
                <a:latin typeface="Times New Roman"/>
                <a:ea typeface="+mn-lt"/>
                <a:cs typeface="+mn-lt"/>
              </a:rPr>
              <a:t>So </a:t>
            </a:r>
            <a:r>
              <a:rPr lang="en-US" sz="2400" dirty="0" err="1">
                <a:solidFill>
                  <a:srgbClr val="373A3C"/>
                </a:solidFill>
                <a:latin typeface="Times New Roman"/>
                <a:ea typeface="+mn-lt"/>
                <a:cs typeface="+mn-lt"/>
              </a:rPr>
              <a:t>sánh</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mô</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hình</a:t>
            </a:r>
            <a:r>
              <a:rPr lang="en-US" sz="2400" dirty="0">
                <a:solidFill>
                  <a:srgbClr val="373A3C"/>
                </a:solidFill>
                <a:latin typeface="Times New Roman"/>
                <a:ea typeface="+mn-lt"/>
                <a:cs typeface="+mn-lt"/>
              </a:rPr>
              <a:t> </a:t>
            </a:r>
            <a:r>
              <a:rPr lang="en-US" sz="2400" b="1" dirty="0">
                <a:solidFill>
                  <a:srgbClr val="373A3C"/>
                </a:solidFill>
                <a:latin typeface="Times New Roman"/>
                <a:ea typeface="+mn-lt"/>
                <a:cs typeface="+mn-lt"/>
              </a:rPr>
              <a:t>Baseline</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chỉ</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dùng</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dữ</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liệu</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gốc</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và</a:t>
            </a:r>
            <a:r>
              <a:rPr lang="en-US" sz="2400" dirty="0">
                <a:solidFill>
                  <a:srgbClr val="373A3C"/>
                </a:solidFill>
                <a:latin typeface="Times New Roman"/>
                <a:ea typeface="+mn-lt"/>
                <a:cs typeface="+mn-lt"/>
              </a:rPr>
              <a:t> </a:t>
            </a:r>
            <a:r>
              <a:rPr lang="en-US" sz="2400" b="1" dirty="0">
                <a:solidFill>
                  <a:srgbClr val="373A3C"/>
                </a:solidFill>
                <a:latin typeface="Times New Roman"/>
                <a:ea typeface="+mn-lt"/>
                <a:cs typeface="+mn-lt"/>
              </a:rPr>
              <a:t>Augmented</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có</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thêm</a:t>
            </a:r>
            <a:r>
              <a:rPr lang="en-US" sz="2400" dirty="0">
                <a:solidFill>
                  <a:srgbClr val="373A3C"/>
                </a:solidFill>
                <a:latin typeface="Times New Roman"/>
                <a:ea typeface="+mn-lt"/>
                <a:cs typeface="+mn-lt"/>
              </a:rPr>
              <a:t> synthetic data) </a:t>
            </a:r>
            <a:r>
              <a:rPr lang="en-US" sz="2400" dirty="0" err="1">
                <a:solidFill>
                  <a:srgbClr val="373A3C"/>
                </a:solidFill>
                <a:latin typeface="Times New Roman"/>
                <a:ea typeface="+mn-lt"/>
                <a:cs typeface="+mn-lt"/>
              </a:rPr>
              <a:t>trên</a:t>
            </a:r>
            <a:r>
              <a:rPr lang="en-US" sz="2400" dirty="0">
                <a:solidFill>
                  <a:srgbClr val="373A3C"/>
                </a:solidFill>
                <a:latin typeface="Times New Roman"/>
                <a:ea typeface="+mn-lt"/>
                <a:cs typeface="+mn-lt"/>
              </a:rPr>
              <a:t> </a:t>
            </a:r>
            <a:r>
              <a:rPr lang="en-US" sz="2400" dirty="0" err="1">
                <a:solidFill>
                  <a:srgbClr val="373A3C"/>
                </a:solidFill>
                <a:latin typeface="Times New Roman"/>
                <a:ea typeface="+mn-lt"/>
                <a:cs typeface="+mn-lt"/>
              </a:rPr>
              <a:t>tập</a:t>
            </a:r>
            <a:r>
              <a:rPr lang="en-US" sz="2400" dirty="0">
                <a:solidFill>
                  <a:srgbClr val="373A3C"/>
                </a:solidFill>
                <a:latin typeface="Times New Roman"/>
                <a:ea typeface="+mn-lt"/>
                <a:cs typeface="+mn-lt"/>
              </a:rPr>
              <a:t> Test.</a:t>
            </a:r>
            <a:endParaRPr lang="vi-VN" sz="2400" dirty="0">
              <a:solidFill>
                <a:srgbClr val="000000"/>
              </a:solidFill>
              <a:latin typeface="Times New Roman"/>
              <a:ea typeface="+mn-lt"/>
              <a:cs typeface="+mn-lt"/>
            </a:endParaRPr>
          </a:p>
        </p:txBody>
      </p:sp>
      <p:pic>
        <p:nvPicPr>
          <p:cNvPr id="3" name="Hình ảnh 2" descr="Ảnh có chứa văn bản, ảnh chụp màn hình, biểu đồ, số&#10;&#10;Nội dung do AI tạo ra có thể không chính xác.">
            <a:extLst>
              <a:ext uri="{FF2B5EF4-FFF2-40B4-BE49-F238E27FC236}">
                <a16:creationId xmlns:a16="http://schemas.microsoft.com/office/drawing/2014/main" id="{7FE54FA8-34CB-72C1-3884-5BD0E249E5C0}"/>
              </a:ext>
            </a:extLst>
          </p:cNvPr>
          <p:cNvPicPr>
            <a:picLocks noChangeAspect="1"/>
          </p:cNvPicPr>
          <p:nvPr/>
        </p:nvPicPr>
        <p:blipFill>
          <a:blip r:embed="rId3"/>
          <a:stretch>
            <a:fillRect/>
          </a:stretch>
        </p:blipFill>
        <p:spPr>
          <a:xfrm>
            <a:off x="765448" y="2325798"/>
            <a:ext cx="7613105" cy="4368278"/>
          </a:xfrm>
          <a:prstGeom prst="rect">
            <a:avLst/>
          </a:prstGeom>
        </p:spPr>
      </p:pic>
    </p:spTree>
    <p:extLst>
      <p:ext uri="{BB962C8B-B14F-4D97-AF65-F5344CB8AC3E}">
        <p14:creationId xmlns:p14="http://schemas.microsoft.com/office/powerpoint/2010/main" val="1026799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134F5-3B62-EC1D-88C0-2E7A8C20FD93}"/>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8999DC2E-4DA9-57DB-7FA0-8F982DF22CEA}"/>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1ADD0DE7-694E-5797-4C21-46186B6C4129}"/>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8FA631C1-2205-7B8E-77B9-EC4AB36B0842}"/>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D81D2C7E-163D-526A-BDB9-F785D279B840}"/>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E1F1228E-B76B-EC5C-A0FA-446C4004ED9A}"/>
              </a:ext>
            </a:extLst>
          </p:cNvPr>
          <p:cNvSpPr>
            <a:spLocks noGrp="1"/>
          </p:cNvSpPr>
          <p:nvPr>
            <p:ph type="title"/>
          </p:nvPr>
        </p:nvSpPr>
        <p:spPr>
          <a:xfrm>
            <a:off x="-2415" y="10956"/>
            <a:ext cx="7886700" cy="1325563"/>
          </a:xfrm>
        </p:spPr>
        <p:txBody>
          <a:bodyPr>
            <a:normAutofit/>
          </a:bodyPr>
          <a:lstStyle/>
          <a:p>
            <a:r>
              <a:rPr lang="vi-VN" sz="3200">
                <a:ea typeface="+mj-lt"/>
                <a:cs typeface="+mj-lt"/>
              </a:rPr>
              <a:t>Đánh giá bằng LLM (LLM-as-a-Judge)</a:t>
            </a:r>
            <a:endParaRPr lang="vi-VN">
              <a:ea typeface="+mj-lt"/>
              <a:cs typeface="+mj-lt"/>
            </a:endParaRPr>
          </a:p>
        </p:txBody>
      </p:sp>
      <p:sp>
        <p:nvSpPr>
          <p:cNvPr id="9" name="Content Placeholder 2">
            <a:extLst>
              <a:ext uri="{FF2B5EF4-FFF2-40B4-BE49-F238E27FC236}">
                <a16:creationId xmlns:a16="http://schemas.microsoft.com/office/drawing/2014/main" id="{8328072F-CD9B-D41E-86D8-8C3AC6E10A7E}"/>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b="1">
                <a:solidFill>
                  <a:srgbClr val="373A3C"/>
                </a:solidFill>
                <a:latin typeface="Times New Roman"/>
                <a:ea typeface="+mn-lt"/>
                <a:cs typeface="+mn-lt"/>
              </a:rPr>
              <a:t>Phương pháp:</a:t>
            </a:r>
            <a:endParaRPr lang="en-US" sz="2400">
              <a:solidFill>
                <a:srgbClr val="373A3C"/>
              </a:solidFill>
              <a:latin typeface="Times New Roman"/>
              <a:ea typeface="Calibri"/>
              <a:cs typeface="Calibri"/>
            </a:endParaRPr>
          </a:p>
          <a:p>
            <a:pPr lvl="1">
              <a:buFont typeface="Courier New"/>
              <a:buChar char="o"/>
            </a:pPr>
            <a:r>
              <a:rPr lang="en-US">
                <a:solidFill>
                  <a:srgbClr val="373A3C"/>
                </a:solidFill>
                <a:latin typeface="Times New Roman"/>
                <a:ea typeface="+mn-lt"/>
                <a:cs typeface="+mn-lt"/>
              </a:rPr>
              <a:t>Sử dụng </a:t>
            </a:r>
            <a:r>
              <a:rPr lang="en-US" b="1">
                <a:solidFill>
                  <a:srgbClr val="373A3C"/>
                </a:solidFill>
                <a:latin typeface="Times New Roman"/>
                <a:ea typeface="+mn-lt"/>
                <a:cs typeface="+mn-lt"/>
              </a:rPr>
              <a:t>Gemini 2.5 Pro</a:t>
            </a:r>
            <a:r>
              <a:rPr lang="en-US">
                <a:solidFill>
                  <a:srgbClr val="373A3C"/>
                </a:solidFill>
                <a:latin typeface="Times New Roman"/>
                <a:ea typeface="+mn-lt"/>
                <a:cs typeface="+mn-lt"/>
              </a:rPr>
              <a:t> làm giám khảo.</a:t>
            </a:r>
            <a:endParaRPr lang="en-US">
              <a:latin typeface="Times New Roman"/>
              <a:cs typeface="Times New Roman"/>
            </a:endParaRPr>
          </a:p>
          <a:p>
            <a:pPr lvl="1">
              <a:buFont typeface="Courier New"/>
              <a:buChar char="o"/>
            </a:pPr>
            <a:r>
              <a:rPr lang="en-US">
                <a:solidFill>
                  <a:srgbClr val="373A3C"/>
                </a:solidFill>
                <a:latin typeface="Times New Roman"/>
                <a:ea typeface="+mn-lt"/>
                <a:cs typeface="+mn-lt"/>
              </a:rPr>
              <a:t>Cung cấp: Input câu gốc + Nhãn thực + Output Baseline + Output Augmented.</a:t>
            </a:r>
            <a:endParaRPr lang="en-US">
              <a:latin typeface="Times New Roman"/>
              <a:cs typeface="Times New Roman"/>
            </a:endParaRPr>
          </a:p>
          <a:p>
            <a:pPr lvl="1">
              <a:buFont typeface="Courier New"/>
              <a:buChar char="o"/>
            </a:pPr>
            <a:r>
              <a:rPr lang="en-US">
                <a:solidFill>
                  <a:srgbClr val="373A3C"/>
                </a:solidFill>
                <a:latin typeface="Times New Roman"/>
                <a:ea typeface="+mn-lt"/>
                <a:cs typeface="+mn-lt"/>
              </a:rPr>
              <a:t>Yêu cầu LLM phân tích nguyên nhân lỗi và so sánh tư duy của 2 mô hình.</a:t>
            </a:r>
            <a:endParaRPr lang="en-US">
              <a:latin typeface="Times New Roman"/>
              <a:cs typeface="Times New Roman"/>
            </a:endParaRPr>
          </a:p>
          <a:p>
            <a:pPr>
              <a:buFont typeface="Arial"/>
              <a:buChar char="•"/>
            </a:pPr>
            <a:r>
              <a:rPr lang="en-US" sz="2400" b="1">
                <a:solidFill>
                  <a:srgbClr val="373A3C"/>
                </a:solidFill>
                <a:latin typeface="Times New Roman"/>
                <a:ea typeface="+mn-lt"/>
                <a:cs typeface="+mn-lt"/>
              </a:rPr>
              <a:t>Phân loại trường hợp:</a:t>
            </a:r>
            <a:endParaRPr lang="en-US" sz="2400">
              <a:latin typeface="Times New Roman"/>
              <a:cs typeface="Times New Roman"/>
            </a:endParaRPr>
          </a:p>
          <a:p>
            <a:pPr lvl="1">
              <a:buFont typeface="Courier New"/>
              <a:buChar char="o"/>
            </a:pPr>
            <a:r>
              <a:rPr lang="en-US">
                <a:solidFill>
                  <a:srgbClr val="373A3C"/>
                </a:solidFill>
                <a:latin typeface="Times New Roman"/>
                <a:ea typeface="+mn-lt"/>
                <a:cs typeface="+mn-lt"/>
              </a:rPr>
              <a:t>Synthetic giúp sửa lỗi (Baseline sai $\to$ Augmented đúng).</a:t>
            </a:r>
            <a:endParaRPr lang="en-US">
              <a:latin typeface="Times New Roman"/>
              <a:cs typeface="Times New Roman"/>
            </a:endParaRPr>
          </a:p>
          <a:p>
            <a:pPr lvl="1">
              <a:buFont typeface="Courier New"/>
              <a:buChar char="o"/>
            </a:pPr>
            <a:r>
              <a:rPr lang="en-US">
                <a:solidFill>
                  <a:srgbClr val="373A3C"/>
                </a:solidFill>
                <a:latin typeface="Times New Roman"/>
                <a:ea typeface="+mn-lt"/>
                <a:cs typeface="+mn-lt"/>
              </a:rPr>
              <a:t>Synthetic gây nhiễu (Baseline đúng $\to$ Augmented sai).</a:t>
            </a:r>
            <a:endParaRPr lang="en-US">
              <a:latin typeface="Times New Roman"/>
              <a:cs typeface="Times New Roman"/>
            </a:endParaRPr>
          </a:p>
          <a:p>
            <a:pPr lvl="1">
              <a:buFont typeface="Courier New"/>
              <a:buChar char="o"/>
            </a:pPr>
            <a:r>
              <a:rPr lang="en-US">
                <a:solidFill>
                  <a:srgbClr val="373A3C"/>
                </a:solidFill>
                <a:latin typeface="Times New Roman"/>
                <a:ea typeface="+mn-lt"/>
                <a:cs typeface="+mn-lt"/>
              </a:rPr>
              <a:t>Ca khó (Cả hai đều sai).</a:t>
            </a:r>
            <a:endParaRPr lang="en-US">
              <a:latin typeface="Times New Roman"/>
              <a:cs typeface="Times New Roman"/>
            </a:endParaRPr>
          </a:p>
          <a:p>
            <a:pPr>
              <a:buFont typeface="Arial"/>
              <a:buChar char="•"/>
            </a:pPr>
            <a:endParaRPr lang="en-US" sz="2400">
              <a:solidFill>
                <a:srgbClr val="373A3C"/>
              </a:solidFill>
              <a:latin typeface="Times New Roman"/>
              <a:ea typeface="Calibri"/>
              <a:cs typeface="Calibri"/>
            </a:endParaRPr>
          </a:p>
        </p:txBody>
      </p:sp>
    </p:spTree>
    <p:extLst>
      <p:ext uri="{BB962C8B-B14F-4D97-AF65-F5344CB8AC3E}">
        <p14:creationId xmlns:p14="http://schemas.microsoft.com/office/powerpoint/2010/main" val="15554081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911C6-31D1-80DA-5032-A307B389A2A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0BF24999-EE10-9F61-07B9-07807F8CF65A}"/>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5AA36274-ABD2-D9F9-EE8B-DED00E99B21E}"/>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8636BF6C-D5BD-BF6A-A173-22CEC95CC7D9}"/>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3B45C4BE-8173-5678-8F3E-791AFFA4147D}"/>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A3F33145-D4A9-B85D-7BAF-865737FF0CD3}"/>
              </a:ext>
            </a:extLst>
          </p:cNvPr>
          <p:cNvSpPr>
            <a:spLocks noGrp="1"/>
          </p:cNvSpPr>
          <p:nvPr>
            <p:ph type="title"/>
          </p:nvPr>
        </p:nvSpPr>
        <p:spPr>
          <a:xfrm>
            <a:off x="-2415" y="10956"/>
            <a:ext cx="7886700" cy="1325563"/>
          </a:xfrm>
        </p:spPr>
        <p:txBody>
          <a:bodyPr>
            <a:normAutofit/>
          </a:bodyPr>
          <a:lstStyle/>
          <a:p>
            <a:r>
              <a:rPr lang="vi-VN" sz="3200">
                <a:ea typeface="+mj-lt"/>
                <a:cs typeface="+mj-lt"/>
              </a:rPr>
              <a:t>Phân tích sâu từ LLM</a:t>
            </a:r>
            <a:endParaRPr lang="vi-VN">
              <a:ea typeface="+mj-lt"/>
              <a:cs typeface="+mj-lt"/>
            </a:endParaRPr>
          </a:p>
        </p:txBody>
      </p:sp>
      <p:sp>
        <p:nvSpPr>
          <p:cNvPr id="9" name="Content Placeholder 2">
            <a:extLst>
              <a:ext uri="{FF2B5EF4-FFF2-40B4-BE49-F238E27FC236}">
                <a16:creationId xmlns:a16="http://schemas.microsoft.com/office/drawing/2014/main" id="{4FBCCE7C-D995-DDCE-1E02-5305BF3F66FA}"/>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000" b="1">
                <a:solidFill>
                  <a:srgbClr val="373A3C"/>
                </a:solidFill>
                <a:latin typeface="Times New Roman"/>
                <a:ea typeface="+mn-lt"/>
                <a:cs typeface="+mn-lt"/>
              </a:rPr>
              <a:t>Synthetic Data giúp sửa lỗi ở đâu?</a:t>
            </a:r>
            <a:endParaRPr lang="en-US" sz="2000">
              <a:solidFill>
                <a:srgbClr val="373A3C"/>
              </a:solidFill>
              <a:latin typeface="Times New Roman"/>
              <a:ea typeface="+mn-lt"/>
              <a:cs typeface="+mn-lt"/>
            </a:endParaRPr>
          </a:p>
          <a:p>
            <a:pPr lvl="1">
              <a:buFont typeface="Courier New"/>
              <a:buChar char="o"/>
            </a:pPr>
            <a:r>
              <a:rPr lang="en-US" sz="2000" b="1">
                <a:solidFill>
                  <a:srgbClr val="373A3C"/>
                </a:solidFill>
                <a:latin typeface="Times New Roman"/>
                <a:ea typeface="+mn-lt"/>
                <a:cs typeface="+mn-lt"/>
              </a:rPr>
              <a:t>Câu mỉa mai:</a:t>
            </a:r>
            <a:r>
              <a:rPr lang="en-US" sz="2000">
                <a:solidFill>
                  <a:srgbClr val="373A3C"/>
                </a:solidFill>
                <a:latin typeface="Times New Roman"/>
                <a:ea typeface="+mn-lt"/>
                <a:cs typeface="+mn-lt"/>
              </a:rPr>
              <a:t> Hiểu được các câu như "Cố lên Samsung" (thực chất là chê) - Negative.</a:t>
            </a:r>
            <a:endParaRPr lang="en-US" sz="2000">
              <a:solidFill>
                <a:srgbClr val="000000"/>
              </a:solidFill>
              <a:latin typeface="Times New Roman"/>
              <a:ea typeface="+mn-lt"/>
              <a:cs typeface="+mn-lt"/>
            </a:endParaRPr>
          </a:p>
          <a:p>
            <a:pPr lvl="1">
              <a:buFont typeface="Courier New"/>
              <a:buChar char="o"/>
            </a:pPr>
            <a:r>
              <a:rPr lang="en-US" sz="2000" b="1">
                <a:solidFill>
                  <a:srgbClr val="373A3C"/>
                </a:solidFill>
                <a:latin typeface="Times New Roman"/>
                <a:ea typeface="+mn-lt"/>
                <a:cs typeface="+mn-lt"/>
              </a:rPr>
              <a:t>Câu tương phản:</a:t>
            </a:r>
            <a:r>
              <a:rPr lang="en-US" sz="2000">
                <a:solidFill>
                  <a:srgbClr val="373A3C"/>
                </a:solidFill>
                <a:latin typeface="Times New Roman"/>
                <a:ea typeface="+mn-lt"/>
                <a:cs typeface="+mn-lt"/>
              </a:rPr>
              <a:t> Xử lý tốt cấu trúc "Ngon nhưng..." -  Negative/Neutral tùy ngữ cảnh sau.</a:t>
            </a:r>
            <a:endParaRPr lang="en-US" sz="2000">
              <a:solidFill>
                <a:srgbClr val="000000"/>
              </a:solidFill>
              <a:latin typeface="Times New Roman"/>
              <a:ea typeface="+mn-lt"/>
              <a:cs typeface="+mn-lt"/>
            </a:endParaRPr>
          </a:p>
          <a:p>
            <a:pPr lvl="1">
              <a:buFont typeface="Courier New"/>
              <a:buChar char="o"/>
            </a:pPr>
            <a:r>
              <a:rPr lang="en-US" sz="2000" b="1">
                <a:solidFill>
                  <a:srgbClr val="373A3C"/>
                </a:solidFill>
                <a:latin typeface="Times New Roman"/>
                <a:ea typeface="+mn-lt"/>
                <a:cs typeface="+mn-lt"/>
              </a:rPr>
              <a:t>Từ lóng:</a:t>
            </a:r>
            <a:r>
              <a:rPr lang="en-US" sz="2000">
                <a:solidFill>
                  <a:srgbClr val="373A3C"/>
                </a:solidFill>
                <a:latin typeface="Times New Roman"/>
                <a:ea typeface="+mn-lt"/>
                <a:cs typeface="+mn-lt"/>
              </a:rPr>
              <a:t> Nhận diện được từ "rẻ tiền", "cùi bắp" tốt hơn.</a:t>
            </a:r>
            <a:endParaRPr lang="en-US" sz="2000">
              <a:solidFill>
                <a:srgbClr val="000000"/>
              </a:solidFill>
              <a:latin typeface="Times New Roman"/>
              <a:ea typeface="+mn-lt"/>
              <a:cs typeface="+mn-lt"/>
            </a:endParaRPr>
          </a:p>
          <a:p>
            <a:pPr lvl="1">
              <a:buFont typeface="Courier New"/>
              <a:buChar char="o"/>
            </a:pPr>
            <a:r>
              <a:rPr lang="en-US" sz="2000" b="1">
                <a:solidFill>
                  <a:srgbClr val="373A3C"/>
                </a:solidFill>
                <a:latin typeface="Times New Roman"/>
                <a:ea typeface="+mn-lt"/>
                <a:cs typeface="+mn-lt"/>
              </a:rPr>
              <a:t>Câu trung tính dài:</a:t>
            </a:r>
            <a:r>
              <a:rPr lang="en-US" sz="2000">
                <a:solidFill>
                  <a:srgbClr val="373A3C"/>
                </a:solidFill>
                <a:latin typeface="Times New Roman"/>
                <a:ea typeface="+mn-lt"/>
                <a:cs typeface="+mn-lt"/>
              </a:rPr>
              <a:t> Phân biệt được các đánh giá kỹ thuật, liệt kê ưu nhược điểm là Neutral thay vì Positive/Negative.</a:t>
            </a:r>
            <a:endParaRPr lang="en-US" sz="2000">
              <a:solidFill>
                <a:srgbClr val="000000"/>
              </a:solidFill>
              <a:latin typeface="Times New Roman"/>
              <a:ea typeface="+mn-lt"/>
              <a:cs typeface="+mn-lt"/>
            </a:endParaRPr>
          </a:p>
          <a:p>
            <a:pPr>
              <a:buFont typeface="Arial"/>
              <a:buChar char="•"/>
            </a:pPr>
            <a:r>
              <a:rPr lang="en-US" sz="2000" b="1">
                <a:solidFill>
                  <a:srgbClr val="373A3C"/>
                </a:solidFill>
                <a:latin typeface="Times New Roman"/>
                <a:ea typeface="+mn-lt"/>
                <a:cs typeface="+mn-lt"/>
              </a:rPr>
              <a:t>Synthetic Data gây nhiễu ở đâu?</a:t>
            </a:r>
          </a:p>
          <a:p>
            <a:pPr lvl="1">
              <a:buFont typeface="Courier New"/>
              <a:buChar char="o"/>
            </a:pPr>
            <a:r>
              <a:rPr lang="en-US" sz="2000" b="1">
                <a:solidFill>
                  <a:srgbClr val="373A3C"/>
                </a:solidFill>
                <a:latin typeface="Times New Roman"/>
                <a:ea typeface="+mn-lt"/>
                <a:cs typeface="+mn-lt"/>
              </a:rPr>
              <a:t>Bias từ khóa:</a:t>
            </a:r>
            <a:r>
              <a:rPr lang="en-US" sz="2000">
                <a:solidFill>
                  <a:srgbClr val="373A3C"/>
                </a:solidFill>
                <a:latin typeface="Times New Roman"/>
                <a:ea typeface="+mn-lt"/>
                <a:cs typeface="+mn-lt"/>
              </a:rPr>
              <a:t> Mô hình Augmented đôi khi quá nhạy cảm với từ khóa (ví dụ: thấy từ "giá" là đoán Negative, thấy tên thương hiệu lớn là đoán Positive).</a:t>
            </a:r>
            <a:endParaRPr lang="en-US" sz="2000">
              <a:latin typeface="Times New Roman"/>
              <a:ea typeface="Calibri"/>
              <a:cs typeface="Calibri"/>
            </a:endParaRPr>
          </a:p>
          <a:p>
            <a:pPr lvl="1">
              <a:buFont typeface="Courier New"/>
              <a:buChar char="o"/>
            </a:pPr>
            <a:r>
              <a:rPr lang="en-US" sz="2000" b="1">
                <a:solidFill>
                  <a:srgbClr val="373A3C"/>
                </a:solidFill>
                <a:latin typeface="Times New Roman"/>
                <a:ea typeface="+mn-lt"/>
                <a:cs typeface="+mn-lt"/>
              </a:rPr>
              <a:t>Lệch chủ đề:</a:t>
            </a:r>
            <a:r>
              <a:rPr lang="en-US" sz="2000">
                <a:solidFill>
                  <a:srgbClr val="373A3C"/>
                </a:solidFill>
                <a:latin typeface="Times New Roman"/>
                <a:ea typeface="+mn-lt"/>
                <a:cs typeface="+mn-lt"/>
              </a:rPr>
              <a:t> Do dữ liệu synthetic tập trung nhiều vào công nghệ, mô hình có thể áp đặt tư duy "review sản phẩm" vào các câu bình luận đời sống xã hội.</a:t>
            </a:r>
            <a:endParaRPr lang="en-US" sz="2000">
              <a:latin typeface="Times New Roman"/>
              <a:ea typeface="Calibri"/>
              <a:cs typeface="Calibri"/>
            </a:endParaRPr>
          </a:p>
          <a:p>
            <a:pPr>
              <a:buFont typeface="Arial"/>
              <a:buChar char="•"/>
            </a:pPr>
            <a:r>
              <a:rPr lang="en-US" sz="2000" b="1">
                <a:solidFill>
                  <a:srgbClr val="373A3C"/>
                </a:solidFill>
                <a:latin typeface="Times New Roman"/>
                <a:ea typeface="+mn-lt"/>
                <a:cs typeface="+mn-lt"/>
              </a:rPr>
              <a:t>Các ca khó:</a:t>
            </a:r>
            <a:r>
              <a:rPr lang="en-US" sz="2000">
                <a:solidFill>
                  <a:srgbClr val="373A3C"/>
                </a:solidFill>
                <a:latin typeface="Times New Roman"/>
                <a:ea typeface="+mn-lt"/>
                <a:cs typeface="+mn-lt"/>
              </a:rPr>
              <a:t> Sarcasm nhiều tầng nghĩa, ẩn dụ văn hóa sâu mà cả 2 mô hình đều chưa xử lý được.</a:t>
            </a:r>
            <a:endParaRPr lang="en-US" sz="2000">
              <a:latin typeface="Times New Roman"/>
              <a:cs typeface="Times New Roman"/>
            </a:endParaRPr>
          </a:p>
          <a:p>
            <a:pPr>
              <a:buFont typeface="Arial"/>
              <a:buChar char="•"/>
            </a:pPr>
            <a:endParaRPr lang="en-US" sz="2000" b="1">
              <a:solidFill>
                <a:srgbClr val="373A3C"/>
              </a:solidFill>
              <a:latin typeface="Times New Roman"/>
              <a:ea typeface="+mn-lt"/>
              <a:cs typeface="+mn-lt"/>
            </a:endParaRPr>
          </a:p>
        </p:txBody>
      </p:sp>
    </p:spTree>
    <p:extLst>
      <p:ext uri="{BB962C8B-B14F-4D97-AF65-F5344CB8AC3E}">
        <p14:creationId xmlns:p14="http://schemas.microsoft.com/office/powerpoint/2010/main" val="28036133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812DB-99E9-55E8-3E21-CF051CA52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99D96C-B6EA-1691-3675-FE59664D52EE}"/>
              </a:ext>
            </a:extLst>
          </p:cNvPr>
          <p:cNvSpPr>
            <a:spLocks noGrp="1"/>
          </p:cNvSpPr>
          <p:nvPr>
            <p:ph type="title"/>
          </p:nvPr>
        </p:nvSpPr>
        <p:spPr>
          <a:xfrm>
            <a:off x="0" y="1510665"/>
            <a:ext cx="9143365" cy="5177155"/>
          </a:xfrm>
        </p:spPr>
        <p:txBody>
          <a:bodyPr anchor="ctr" anchorCtr="0">
            <a:normAutofit/>
          </a:bodyPr>
          <a:lstStyle/>
          <a:p>
            <a:pPr algn="ctr"/>
            <a:r>
              <a:rPr lang="en-US" err="1">
                <a:solidFill>
                  <a:srgbClr val="373A3C"/>
                </a:solidFill>
                <a:latin typeface="Times New Roman"/>
                <a:ea typeface="+mj-lt"/>
                <a:cs typeface="+mj-lt"/>
              </a:rPr>
              <a:t>Phân</a:t>
            </a:r>
            <a:r>
              <a:rPr lang="en-US">
                <a:solidFill>
                  <a:srgbClr val="373A3C"/>
                </a:solidFill>
                <a:latin typeface="Times New Roman"/>
                <a:ea typeface="+mj-lt"/>
                <a:cs typeface="+mj-lt"/>
              </a:rPr>
              <a:t> </a:t>
            </a:r>
            <a:r>
              <a:rPr lang="en-US" err="1">
                <a:solidFill>
                  <a:srgbClr val="373A3C"/>
                </a:solidFill>
                <a:latin typeface="Times New Roman"/>
                <a:ea typeface="+mj-lt"/>
                <a:cs typeface="+mj-lt"/>
              </a:rPr>
              <a:t>tích</a:t>
            </a:r>
            <a:r>
              <a:rPr lang="en-US">
                <a:solidFill>
                  <a:srgbClr val="373A3C"/>
                </a:solidFill>
                <a:latin typeface="Times New Roman"/>
                <a:ea typeface="+mj-lt"/>
                <a:cs typeface="+mj-lt"/>
              </a:rPr>
              <a:t> thực </a:t>
            </a:r>
            <a:r>
              <a:rPr lang="en-US" err="1">
                <a:solidFill>
                  <a:srgbClr val="373A3C"/>
                </a:solidFill>
                <a:latin typeface="Times New Roman"/>
                <a:ea typeface="+mj-lt"/>
                <a:cs typeface="+mj-lt"/>
              </a:rPr>
              <a:t>nghiệm</a:t>
            </a:r>
            <a:r>
              <a:rPr lang="en-US">
                <a:solidFill>
                  <a:srgbClr val="373A3C"/>
                </a:solidFill>
                <a:latin typeface="Times New Roman"/>
                <a:ea typeface="+mj-lt"/>
                <a:cs typeface="+mj-lt"/>
              </a:rPr>
              <a:t> </a:t>
            </a:r>
            <a:r>
              <a:rPr lang="en-US" err="1">
                <a:solidFill>
                  <a:srgbClr val="373A3C"/>
                </a:solidFill>
                <a:latin typeface="Times New Roman"/>
                <a:ea typeface="+mj-lt"/>
                <a:cs typeface="+mj-lt"/>
              </a:rPr>
              <a:t>và</a:t>
            </a:r>
            <a:r>
              <a:rPr lang="en-US">
                <a:solidFill>
                  <a:srgbClr val="373A3C"/>
                </a:solidFill>
                <a:latin typeface="Times New Roman"/>
                <a:ea typeface="+mj-lt"/>
                <a:cs typeface="+mj-lt"/>
              </a:rPr>
              <a:t> </a:t>
            </a:r>
            <a:r>
              <a:rPr lang="en-US" err="1">
                <a:solidFill>
                  <a:srgbClr val="373A3C"/>
                </a:solidFill>
                <a:latin typeface="Times New Roman"/>
                <a:ea typeface="+mj-lt"/>
                <a:cs typeface="+mj-lt"/>
              </a:rPr>
              <a:t>kết</a:t>
            </a:r>
            <a:r>
              <a:rPr lang="en-US">
                <a:solidFill>
                  <a:srgbClr val="373A3C"/>
                </a:solidFill>
                <a:latin typeface="Times New Roman"/>
                <a:ea typeface="+mj-lt"/>
                <a:cs typeface="+mj-lt"/>
              </a:rPr>
              <a:t> </a:t>
            </a:r>
            <a:r>
              <a:rPr lang="en-US" err="1">
                <a:solidFill>
                  <a:srgbClr val="373A3C"/>
                </a:solidFill>
                <a:latin typeface="Times New Roman"/>
                <a:ea typeface="+mj-lt"/>
                <a:cs typeface="+mj-lt"/>
              </a:rPr>
              <a:t>luận</a:t>
            </a:r>
            <a:endParaRPr lang="en-US">
              <a:solidFill>
                <a:srgbClr val="373A3C"/>
              </a:solidFill>
              <a:latin typeface="Times New Roman"/>
              <a:ea typeface="Calibri Light"/>
              <a:cs typeface="Calibri Light"/>
            </a:endParaRPr>
          </a:p>
        </p:txBody>
      </p:sp>
      <p:pic>
        <p:nvPicPr>
          <p:cNvPr id="100" name="Picture 99">
            <a:extLst>
              <a:ext uri="{FF2B5EF4-FFF2-40B4-BE49-F238E27FC236}">
                <a16:creationId xmlns:a16="http://schemas.microsoft.com/office/drawing/2014/main" id="{F65E4203-1701-4FC9-AAF5-E3A975475EE4}"/>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AE10BAC3-2662-A96D-F517-4B0FF47E4EF6}"/>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2E4E3018-04CE-F396-68C7-1F10422FB975}"/>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1A81664F-48D4-1C96-0FC9-49BB7F41A794}"/>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079133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FBF83-2501-BF4D-B07F-3633720D4DAB}"/>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88E88C84-F768-5B5B-2906-AF04D9A88235}"/>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37951627-73D5-6A7E-D2D5-8FAEAB259F64}"/>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781BA3FA-B1C1-FF26-9A2C-F30AEEA6865C}"/>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A5921A09-EC4C-3247-B188-4D2D9840BE89}"/>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52B02C80-678B-6886-8CE2-815F5DEB095E}"/>
              </a:ext>
            </a:extLst>
          </p:cNvPr>
          <p:cNvSpPr>
            <a:spLocks noGrp="1"/>
          </p:cNvSpPr>
          <p:nvPr>
            <p:ph type="title"/>
          </p:nvPr>
        </p:nvSpPr>
        <p:spPr>
          <a:xfrm>
            <a:off x="-2415" y="10956"/>
            <a:ext cx="7886700" cy="1325563"/>
          </a:xfrm>
        </p:spPr>
        <p:txBody>
          <a:bodyPr>
            <a:normAutofit/>
          </a:bodyPr>
          <a:lstStyle/>
          <a:p>
            <a:r>
              <a:rPr lang="vi-VN" sz="3200">
                <a:latin typeface="Times New Roman"/>
                <a:ea typeface="+mj-lt"/>
                <a:cs typeface="Times New Roman"/>
              </a:rPr>
              <a:t>So sánh Hiệu năng 3 Kiến trúc (Tổng quan)</a:t>
            </a:r>
            <a:endParaRPr lang="vi-VN">
              <a:latin typeface="Times New Roman"/>
              <a:cs typeface="Times New Roman"/>
            </a:endParaRPr>
          </a:p>
        </p:txBody>
      </p:sp>
      <p:sp>
        <p:nvSpPr>
          <p:cNvPr id="9" name="Content Placeholder 2">
            <a:extLst>
              <a:ext uri="{FF2B5EF4-FFF2-40B4-BE49-F238E27FC236}">
                <a16:creationId xmlns:a16="http://schemas.microsoft.com/office/drawing/2014/main" id="{A194AB2A-38F1-7C16-2B66-AF66F577F266}"/>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b="1" err="1">
                <a:solidFill>
                  <a:srgbClr val="373A3C"/>
                </a:solidFill>
                <a:latin typeface="Times New Roman"/>
                <a:ea typeface="+mn-lt"/>
                <a:cs typeface="+mn-lt"/>
              </a:rPr>
              <a:t>Mục</a:t>
            </a:r>
            <a:r>
              <a:rPr lang="en-US" sz="2400" b="1">
                <a:solidFill>
                  <a:srgbClr val="373A3C"/>
                </a:solidFill>
                <a:latin typeface="Times New Roman"/>
                <a:ea typeface="+mn-lt"/>
                <a:cs typeface="+mn-lt"/>
              </a:rPr>
              <a:t> </a:t>
            </a:r>
            <a:r>
              <a:rPr lang="en-US" sz="2400" b="1" err="1">
                <a:solidFill>
                  <a:srgbClr val="373A3C"/>
                </a:solidFill>
                <a:latin typeface="Times New Roman"/>
                <a:ea typeface="+mn-lt"/>
                <a:cs typeface="+mn-lt"/>
              </a:rPr>
              <a:t>tiêu</a:t>
            </a:r>
            <a:r>
              <a:rPr lang="en-US" sz="2400" b="1">
                <a:solidFill>
                  <a:srgbClr val="373A3C"/>
                </a:solidFill>
                <a:latin typeface="Times New Roman"/>
                <a:ea typeface="+mn-lt"/>
                <a:cs typeface="+mn-lt"/>
              </a:rPr>
              <a:t>:</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Xác</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định</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thế</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mạnh</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của</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từng</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kiến</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trúc</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trên</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tác</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vụ</a:t>
            </a:r>
            <a:r>
              <a:rPr lang="en-US" sz="2400">
                <a:solidFill>
                  <a:srgbClr val="373A3C"/>
                </a:solidFill>
                <a:latin typeface="Times New Roman"/>
                <a:ea typeface="+mn-lt"/>
                <a:cs typeface="+mn-lt"/>
              </a:rPr>
              <a:t> </a:t>
            </a:r>
            <a:r>
              <a:rPr lang="en-US" sz="2400" err="1">
                <a:solidFill>
                  <a:srgbClr val="373A3C"/>
                </a:solidFill>
                <a:latin typeface="Times New Roman"/>
                <a:ea typeface="+mn-lt"/>
                <a:cs typeface="+mn-lt"/>
              </a:rPr>
              <a:t>tiếng</a:t>
            </a:r>
            <a:r>
              <a:rPr lang="en-US" sz="2400">
                <a:solidFill>
                  <a:srgbClr val="373A3C"/>
                </a:solidFill>
                <a:latin typeface="Times New Roman"/>
                <a:ea typeface="+mn-lt"/>
                <a:cs typeface="+mn-lt"/>
              </a:rPr>
              <a:t> Việt.</a:t>
            </a:r>
            <a:endParaRPr lang="en-US" sz="2400" b="1">
              <a:solidFill>
                <a:srgbClr val="373A3C"/>
              </a:solidFill>
              <a:latin typeface="Times New Roman"/>
              <a:ea typeface="+mn-lt"/>
              <a:cs typeface="+mn-lt"/>
            </a:endParaRPr>
          </a:p>
          <a:p>
            <a:pPr>
              <a:buFont typeface="Arial"/>
              <a:buChar char="•"/>
            </a:pPr>
            <a:endParaRPr lang="en-US" sz="2400" b="1">
              <a:solidFill>
                <a:srgbClr val="373A3C"/>
              </a:solidFill>
              <a:latin typeface="Times New Roman"/>
              <a:ea typeface="+mn-lt"/>
              <a:cs typeface="+mn-lt"/>
            </a:endParaRPr>
          </a:p>
        </p:txBody>
      </p:sp>
      <p:pic>
        <p:nvPicPr>
          <p:cNvPr id="2" name="Hình ảnh 1" descr="Ảnh có chứa văn bản, ảnh chụp màn hình, Phông chữ, số&#10;&#10;Nội dung do AI tạo ra có thể không chính xác.">
            <a:extLst>
              <a:ext uri="{FF2B5EF4-FFF2-40B4-BE49-F238E27FC236}">
                <a16:creationId xmlns:a16="http://schemas.microsoft.com/office/drawing/2014/main" id="{5B3FA09B-C843-640F-7E89-994DC18B3631}"/>
              </a:ext>
            </a:extLst>
          </p:cNvPr>
          <p:cNvPicPr>
            <a:picLocks noChangeAspect="1"/>
          </p:cNvPicPr>
          <p:nvPr/>
        </p:nvPicPr>
        <p:blipFill>
          <a:blip r:embed="rId3"/>
          <a:stretch>
            <a:fillRect/>
          </a:stretch>
        </p:blipFill>
        <p:spPr>
          <a:xfrm>
            <a:off x="476290" y="2460812"/>
            <a:ext cx="8316285" cy="3261872"/>
          </a:xfrm>
          <a:prstGeom prst="rect">
            <a:avLst/>
          </a:prstGeom>
        </p:spPr>
      </p:pic>
    </p:spTree>
    <p:extLst>
      <p:ext uri="{BB962C8B-B14F-4D97-AF65-F5344CB8AC3E}">
        <p14:creationId xmlns:p14="http://schemas.microsoft.com/office/powerpoint/2010/main" val="890022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4046A-A7D2-7B48-776D-A8808F3EAFB8}"/>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6BD267A1-133F-1871-5885-3EE59EE380A3}"/>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88470517-9372-2E6B-366E-A6969F44C546}"/>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5A11729B-45F5-E829-97B3-0F72D5FA8096}"/>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E9D75E57-1CAB-72E1-4A8A-B9E2C92BE3FA}"/>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C6C16F07-2E8D-ACB4-64AF-744CEAF15F90}"/>
              </a:ext>
            </a:extLst>
          </p:cNvPr>
          <p:cNvSpPr>
            <a:spLocks noGrp="1"/>
          </p:cNvSpPr>
          <p:nvPr>
            <p:ph type="title"/>
          </p:nvPr>
        </p:nvSpPr>
        <p:spPr>
          <a:xfrm>
            <a:off x="-2415" y="10956"/>
            <a:ext cx="7886700" cy="1325563"/>
          </a:xfrm>
        </p:spPr>
        <p:txBody>
          <a:bodyPr>
            <a:normAutofit/>
          </a:bodyPr>
          <a:lstStyle/>
          <a:p>
            <a:r>
              <a:rPr lang="vi-VN" sz="3200">
                <a:ea typeface="+mj-lt"/>
                <a:cs typeface="+mj-lt"/>
              </a:rPr>
              <a:t>Kết luận Dự án</a:t>
            </a:r>
            <a:endParaRPr lang="vi-VN"/>
          </a:p>
        </p:txBody>
      </p:sp>
      <p:sp>
        <p:nvSpPr>
          <p:cNvPr id="9" name="Content Placeholder 2">
            <a:extLst>
              <a:ext uri="{FF2B5EF4-FFF2-40B4-BE49-F238E27FC236}">
                <a16:creationId xmlns:a16="http://schemas.microsoft.com/office/drawing/2014/main" id="{6FAAA5B3-C1C1-7908-2A23-9D43465FE6FB}"/>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b="1" err="1">
                <a:solidFill>
                  <a:srgbClr val="373A3C"/>
                </a:solidFill>
                <a:latin typeface="Times New Roman"/>
                <a:ea typeface="Calibri"/>
                <a:cs typeface="Calibri"/>
              </a:rPr>
              <a:t>Về</a:t>
            </a:r>
            <a:r>
              <a:rPr lang="en-US" sz="2400" b="1">
                <a:solidFill>
                  <a:srgbClr val="373A3C"/>
                </a:solidFill>
                <a:latin typeface="Times New Roman"/>
                <a:ea typeface="Calibri"/>
                <a:cs typeface="Calibri"/>
              </a:rPr>
              <a:t> </a:t>
            </a:r>
            <a:r>
              <a:rPr lang="en-US" sz="2400" b="1" err="1">
                <a:solidFill>
                  <a:srgbClr val="373A3C"/>
                </a:solidFill>
                <a:latin typeface="Times New Roman"/>
                <a:ea typeface="Calibri"/>
                <a:cs typeface="Calibri"/>
              </a:rPr>
              <a:t>Kiến</a:t>
            </a:r>
            <a:r>
              <a:rPr lang="en-US" sz="2400" b="1">
                <a:solidFill>
                  <a:srgbClr val="373A3C"/>
                </a:solidFill>
                <a:latin typeface="Times New Roman"/>
                <a:ea typeface="Calibri"/>
                <a:cs typeface="Calibri"/>
              </a:rPr>
              <a:t> Trúc:</a:t>
            </a:r>
          </a:p>
          <a:p>
            <a:pPr lvl="1">
              <a:buFont typeface="Arial"/>
              <a:buChar char="•"/>
            </a:pPr>
            <a:r>
              <a:rPr lang="en-US" b="1">
                <a:solidFill>
                  <a:srgbClr val="373A3C"/>
                </a:solidFill>
                <a:latin typeface="Times New Roman"/>
                <a:ea typeface="Calibri"/>
                <a:cs typeface="Calibri"/>
              </a:rPr>
              <a:t>Encoder-only:</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Vẫn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là</a:t>
            </a:r>
            <a:r>
              <a:rPr lang="en-US">
                <a:solidFill>
                  <a:srgbClr val="373A3C"/>
                </a:solidFill>
                <a:latin typeface="Times New Roman"/>
                <a:ea typeface="Calibri"/>
                <a:cs typeface="Calibri"/>
              </a:rPr>
              <a:t> "Vua" </a:t>
            </a:r>
            <a:r>
              <a:rPr lang="en-US" err="1">
                <a:solidFill>
                  <a:srgbClr val="373A3C"/>
                </a:solidFill>
                <a:latin typeface="Times New Roman"/>
                <a:ea typeface="Calibri"/>
                <a:cs typeface="Calibri"/>
              </a:rPr>
              <a:t>của</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bài</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toán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phân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loại</a:t>
            </a:r>
            <a:r>
              <a:rPr lang="en-US">
                <a:solidFill>
                  <a:srgbClr val="373A3C"/>
                </a:solidFill>
                <a:latin typeface="Times New Roman"/>
                <a:ea typeface="Calibri"/>
                <a:cs typeface="Calibri"/>
              </a:rPr>
              <a:t>/NLU </a:t>
            </a:r>
            <a:r>
              <a:rPr lang="en-US" err="1">
                <a:solidFill>
                  <a:srgbClr val="373A3C"/>
                </a:solidFill>
                <a:latin typeface="Times New Roman"/>
                <a:ea typeface="Calibri"/>
                <a:cs typeface="Calibri"/>
              </a:rPr>
              <a:t>tại</a:t>
            </a:r>
            <a:r>
              <a:rPr lang="en-US">
                <a:solidFill>
                  <a:srgbClr val="373A3C"/>
                </a:solidFill>
                <a:latin typeface="Times New Roman"/>
                <a:ea typeface="Calibri"/>
                <a:cs typeface="Calibri"/>
              </a:rPr>
              <a:t> Việt Nam.</a:t>
            </a:r>
            <a:endParaRPr lang="en-US">
              <a:solidFill>
                <a:srgbClr val="000000"/>
              </a:solidFill>
              <a:latin typeface="Times New Roman"/>
              <a:ea typeface="Calibri"/>
              <a:cs typeface="Calibri"/>
            </a:endParaRPr>
          </a:p>
          <a:p>
            <a:pPr lvl="1">
              <a:buFont typeface="Arial"/>
              <a:buChar char="•"/>
            </a:pPr>
            <a:r>
              <a:rPr lang="en-US" b="1">
                <a:solidFill>
                  <a:srgbClr val="373A3C"/>
                </a:solidFill>
                <a:latin typeface="Times New Roman"/>
                <a:ea typeface="Calibri"/>
                <a:cs typeface="Calibri"/>
              </a:rPr>
              <a:t>Encoder-Decoder:</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Sự</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lựa</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chọn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an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toàn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ổn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định</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cho</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bài</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toán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chuyển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đổi</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văn</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bản</a:t>
            </a:r>
            <a:r>
              <a:rPr lang="en-US">
                <a:solidFill>
                  <a:srgbClr val="373A3C"/>
                </a:solidFill>
                <a:latin typeface="Times New Roman"/>
                <a:ea typeface="Calibri"/>
                <a:cs typeface="Calibri"/>
              </a:rPr>
              <a:t>.</a:t>
            </a:r>
            <a:endParaRPr lang="en-US">
              <a:solidFill>
                <a:srgbClr val="000000"/>
              </a:solidFill>
              <a:latin typeface="Times New Roman"/>
              <a:ea typeface="Calibri"/>
              <a:cs typeface="Calibri"/>
            </a:endParaRPr>
          </a:p>
          <a:p>
            <a:pPr lvl="1">
              <a:buFont typeface="Arial"/>
              <a:buChar char="•"/>
            </a:pPr>
            <a:r>
              <a:rPr lang="en-US" b="1">
                <a:solidFill>
                  <a:srgbClr val="373A3C"/>
                </a:solidFill>
                <a:latin typeface="Times New Roman"/>
                <a:ea typeface="Calibri"/>
                <a:cs typeface="Calibri"/>
              </a:rPr>
              <a:t>Decoder-only:</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Tiềm</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năng</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cho</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sinh</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tạo</a:t>
            </a:r>
            <a:r>
              <a:rPr lang="en-US">
                <a:solidFill>
                  <a:srgbClr val="373A3C"/>
                </a:solidFill>
                <a:latin typeface="Times New Roman"/>
                <a:ea typeface="Calibri"/>
                <a:cs typeface="Calibri"/>
              </a:rPr>
              <a:t> (Generative), </a:t>
            </a:r>
            <a:r>
              <a:rPr lang="en-US" err="1">
                <a:solidFill>
                  <a:srgbClr val="373A3C"/>
                </a:solidFill>
                <a:latin typeface="Times New Roman"/>
                <a:ea typeface="Calibri"/>
                <a:cs typeface="Calibri"/>
              </a:rPr>
              <a:t>nhưng</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khó</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kiểm</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soát</a:t>
            </a:r>
            <a:r>
              <a:rPr lang="en-US">
                <a:solidFill>
                  <a:srgbClr val="373A3C"/>
                </a:solidFill>
                <a:latin typeface="Times New Roman"/>
                <a:ea typeface="Calibri"/>
                <a:cs typeface="Calibri"/>
              </a:rPr>
              <a:t> (unstable) </a:t>
            </a:r>
            <a:r>
              <a:rPr lang="en-US" err="1">
                <a:solidFill>
                  <a:srgbClr val="373A3C"/>
                </a:solidFill>
                <a:latin typeface="Times New Roman"/>
                <a:ea typeface="Calibri"/>
                <a:cs typeface="Calibri"/>
              </a:rPr>
              <a:t>nếu</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chỉ</a:t>
            </a:r>
            <a:r>
              <a:rPr lang="en-US">
                <a:solidFill>
                  <a:srgbClr val="373A3C"/>
                </a:solidFill>
                <a:latin typeface="Times New Roman"/>
                <a:ea typeface="Calibri"/>
                <a:cs typeface="Calibri"/>
              </a:rPr>
              <a:t> Fine-tune </a:t>
            </a:r>
            <a:r>
              <a:rPr lang="en-US" err="1">
                <a:solidFill>
                  <a:srgbClr val="373A3C"/>
                </a:solidFill>
                <a:latin typeface="Times New Roman"/>
                <a:ea typeface="Calibri"/>
                <a:cs typeface="Calibri"/>
              </a:rPr>
              <a:t>cơ</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bản</a:t>
            </a:r>
            <a:r>
              <a:rPr lang="en-US">
                <a:solidFill>
                  <a:srgbClr val="373A3C"/>
                </a:solidFill>
                <a:latin typeface="Times New Roman"/>
                <a:ea typeface="Calibri"/>
                <a:cs typeface="Calibri"/>
              </a:rPr>
              <a:t>.</a:t>
            </a:r>
            <a:endParaRPr lang="en-US">
              <a:solidFill>
                <a:srgbClr val="000000"/>
              </a:solidFill>
              <a:latin typeface="Times New Roman"/>
              <a:ea typeface="Calibri"/>
              <a:cs typeface="Calibri"/>
            </a:endParaRPr>
          </a:p>
          <a:p>
            <a:pPr>
              <a:buFont typeface="Arial"/>
              <a:buChar char="•"/>
            </a:pPr>
            <a:r>
              <a:rPr lang="en-US" sz="2400" b="1" err="1">
                <a:solidFill>
                  <a:srgbClr val="373A3C"/>
                </a:solidFill>
                <a:latin typeface="Times New Roman"/>
                <a:ea typeface="Calibri"/>
                <a:cs typeface="Calibri"/>
              </a:rPr>
              <a:t>Về</a:t>
            </a:r>
            <a:r>
              <a:rPr lang="en-US" sz="2400" b="1">
                <a:solidFill>
                  <a:srgbClr val="373A3C"/>
                </a:solidFill>
                <a:latin typeface="Times New Roman"/>
                <a:ea typeface="Calibri"/>
                <a:cs typeface="Calibri"/>
              </a:rPr>
              <a:t> </a:t>
            </a:r>
            <a:r>
              <a:rPr lang="en-US" sz="2400" b="1" err="1">
                <a:solidFill>
                  <a:srgbClr val="373A3C"/>
                </a:solidFill>
                <a:latin typeface="Times New Roman"/>
                <a:ea typeface="Calibri"/>
                <a:cs typeface="Calibri"/>
              </a:rPr>
              <a:t>Dữ</a:t>
            </a:r>
            <a:r>
              <a:rPr lang="en-US" sz="2400" b="1">
                <a:solidFill>
                  <a:srgbClr val="373A3C"/>
                </a:solidFill>
                <a:latin typeface="Times New Roman"/>
                <a:ea typeface="Calibri"/>
                <a:cs typeface="Calibri"/>
              </a:rPr>
              <a:t> </a:t>
            </a:r>
            <a:r>
              <a:rPr lang="en-US" sz="2400" b="1" err="1">
                <a:solidFill>
                  <a:srgbClr val="373A3C"/>
                </a:solidFill>
                <a:latin typeface="Times New Roman"/>
                <a:ea typeface="Calibri"/>
                <a:cs typeface="Calibri"/>
              </a:rPr>
              <a:t>liệu</a:t>
            </a:r>
            <a:r>
              <a:rPr lang="en-US" sz="2400" b="1">
                <a:solidFill>
                  <a:srgbClr val="373A3C"/>
                </a:solidFill>
                <a:latin typeface="Times New Roman"/>
                <a:ea typeface="Calibri"/>
                <a:cs typeface="Calibri"/>
              </a:rPr>
              <a:t> </a:t>
            </a:r>
            <a:r>
              <a:rPr lang="en-US" sz="2400" b="1" err="1">
                <a:solidFill>
                  <a:srgbClr val="373A3C"/>
                </a:solidFill>
                <a:latin typeface="Times New Roman"/>
                <a:ea typeface="Calibri"/>
                <a:cs typeface="Calibri"/>
              </a:rPr>
              <a:t>nhân</a:t>
            </a:r>
            <a:r>
              <a:rPr lang="en-US" sz="2400" b="1">
                <a:solidFill>
                  <a:srgbClr val="373A3C"/>
                </a:solidFill>
                <a:latin typeface="Times New Roman"/>
                <a:ea typeface="Calibri"/>
                <a:cs typeface="Calibri"/>
              </a:rPr>
              <a:t> </a:t>
            </a:r>
            <a:r>
              <a:rPr lang="en-US" sz="2400" b="1" err="1">
                <a:solidFill>
                  <a:srgbClr val="373A3C"/>
                </a:solidFill>
                <a:latin typeface="Times New Roman"/>
                <a:ea typeface="Calibri"/>
                <a:cs typeface="Calibri"/>
              </a:rPr>
              <a:t>tạo</a:t>
            </a:r>
            <a:r>
              <a:rPr lang="en-US" sz="2400" b="1">
                <a:solidFill>
                  <a:srgbClr val="373A3C"/>
                </a:solidFill>
                <a:latin typeface="Times New Roman"/>
                <a:ea typeface="Calibri"/>
                <a:cs typeface="Calibri"/>
              </a:rPr>
              <a:t> (Synthetic Data):</a:t>
            </a:r>
            <a:endParaRPr lang="en-US" sz="2400">
              <a:solidFill>
                <a:srgbClr val="000000"/>
              </a:solidFill>
              <a:latin typeface="Times New Roman"/>
              <a:ea typeface="Calibri"/>
              <a:cs typeface="Times New Roman"/>
            </a:endParaRPr>
          </a:p>
          <a:p>
            <a:pPr lvl="1">
              <a:buFont typeface="Arial"/>
              <a:buChar char="•"/>
            </a:pPr>
            <a:r>
              <a:rPr lang="en-US" b="1" err="1">
                <a:solidFill>
                  <a:srgbClr val="373A3C"/>
                </a:solidFill>
                <a:latin typeface="Times New Roman"/>
                <a:ea typeface="Calibri"/>
                <a:cs typeface="Calibri"/>
              </a:rPr>
              <a:t>Số</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lượng</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không</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bằng</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Chất</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lượng</a:t>
            </a:r>
            <a:r>
              <a:rPr lang="en-US" b="1">
                <a:solidFill>
                  <a:srgbClr val="373A3C"/>
                </a:solidFill>
                <a:latin typeface="Times New Roman"/>
                <a:ea typeface="Calibri"/>
                <a:cs typeface="Calibri"/>
              </a:rPr>
              <a:t>:</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Thêm</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dữ</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liệu</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không</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đảm</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bảo</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tăng</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hiệu</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suất</a:t>
            </a:r>
            <a:r>
              <a:rPr lang="en-US">
                <a:solidFill>
                  <a:srgbClr val="373A3C"/>
                </a:solidFill>
                <a:latin typeface="Times New Roman"/>
                <a:ea typeface="Calibri"/>
                <a:cs typeface="Calibri"/>
              </a:rPr>
              <a:t>.</a:t>
            </a:r>
            <a:endParaRPr lang="en-US">
              <a:solidFill>
                <a:srgbClr val="000000"/>
              </a:solidFill>
              <a:latin typeface="Times New Roman"/>
              <a:ea typeface="Calibri"/>
              <a:cs typeface="Calibri"/>
            </a:endParaRPr>
          </a:p>
          <a:p>
            <a:pPr lvl="1">
              <a:buFont typeface="Arial"/>
              <a:buChar char="•"/>
            </a:pPr>
            <a:r>
              <a:rPr lang="en-US" b="1" err="1">
                <a:solidFill>
                  <a:srgbClr val="373A3C"/>
                </a:solidFill>
                <a:latin typeface="Times New Roman"/>
                <a:ea typeface="Calibri"/>
                <a:cs typeface="Calibri"/>
              </a:rPr>
              <a:t>Độ</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tương</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đồng</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là</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chìa</a:t>
            </a:r>
            <a:r>
              <a:rPr lang="en-US" b="1">
                <a:solidFill>
                  <a:srgbClr val="373A3C"/>
                </a:solidFill>
                <a:latin typeface="Times New Roman"/>
                <a:ea typeface="Calibri"/>
                <a:cs typeface="Calibri"/>
              </a:rPr>
              <a:t> </a:t>
            </a:r>
            <a:r>
              <a:rPr lang="en-US" b="1" err="1">
                <a:solidFill>
                  <a:srgbClr val="373A3C"/>
                </a:solidFill>
                <a:latin typeface="Times New Roman"/>
                <a:ea typeface="Calibri"/>
                <a:cs typeface="Calibri"/>
              </a:rPr>
              <a:t>khóa</a:t>
            </a:r>
            <a:r>
              <a:rPr lang="en-US" b="1">
                <a:solidFill>
                  <a:srgbClr val="373A3C"/>
                </a:solidFill>
                <a:latin typeface="Times New Roman"/>
                <a:ea typeface="Calibri"/>
                <a:cs typeface="Calibri"/>
              </a:rPr>
              <a:t>:</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Dữ</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liệu</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sinh</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phải</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mô</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phỏng</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được</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cả</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các</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lỗi</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nhiễu</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của</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dữ</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liệu</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thực</a:t>
            </a:r>
            <a:r>
              <a:rPr lang="en-US">
                <a:solidFill>
                  <a:srgbClr val="373A3C"/>
                </a:solidFill>
                <a:latin typeface="Times New Roman"/>
                <a:ea typeface="Calibri"/>
                <a:cs typeface="Calibri"/>
              </a:rPr>
              <a:t> </a:t>
            </a:r>
            <a:r>
              <a:rPr lang="en-US" err="1">
                <a:solidFill>
                  <a:srgbClr val="373A3C"/>
                </a:solidFill>
                <a:latin typeface="Times New Roman"/>
                <a:ea typeface="Calibri"/>
                <a:cs typeface="Calibri"/>
              </a:rPr>
              <a:t>tế</a:t>
            </a:r>
            <a:r>
              <a:rPr lang="en-US">
                <a:solidFill>
                  <a:srgbClr val="373A3C"/>
                </a:solidFill>
                <a:latin typeface="Times New Roman"/>
                <a:ea typeface="Calibri"/>
                <a:cs typeface="Calibri"/>
              </a:rPr>
              <a:t>.</a:t>
            </a:r>
            <a:endParaRPr lang="en-US">
              <a:solidFill>
                <a:srgbClr val="000000"/>
              </a:solidFill>
              <a:latin typeface="Times New Roman"/>
              <a:ea typeface="Calibri"/>
              <a:cs typeface="Calibri"/>
            </a:endParaRPr>
          </a:p>
          <a:p>
            <a:pPr lvl="1">
              <a:buFont typeface="Arial"/>
              <a:buChar char="•"/>
            </a:pPr>
            <a:endParaRPr lang="en-US">
              <a:solidFill>
                <a:srgbClr val="373A3C"/>
              </a:solidFill>
              <a:latin typeface="Times New Roman"/>
              <a:ea typeface="+mn-lt"/>
              <a:cs typeface="+mn-lt"/>
            </a:endParaRPr>
          </a:p>
        </p:txBody>
      </p:sp>
    </p:spTree>
    <p:extLst>
      <p:ext uri="{BB962C8B-B14F-4D97-AF65-F5344CB8AC3E}">
        <p14:creationId xmlns:p14="http://schemas.microsoft.com/office/powerpoint/2010/main" val="27822330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0DB44-2185-C868-F7D2-B5158B9CEDA3}"/>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B8CD8AE9-1660-8788-8303-4748598863D5}"/>
              </a:ext>
            </a:extLst>
          </p:cNvPr>
          <p:cNvPicPr/>
          <p:nvPr/>
        </p:nvPicPr>
        <p:blipFill>
          <a:blip r:embed="rId2"/>
          <a:stretch>
            <a:fillRect/>
          </a:stretch>
        </p:blipFill>
        <p:spPr>
          <a:xfrm>
            <a:off x="7622540" y="88900"/>
            <a:ext cx="1440180" cy="935355"/>
          </a:xfrm>
          <a:prstGeom prst="rect">
            <a:avLst/>
          </a:prstGeom>
          <a:noFill/>
          <a:ln w="9525">
            <a:noFill/>
          </a:ln>
        </p:spPr>
      </p:pic>
      <p:sp>
        <p:nvSpPr>
          <p:cNvPr id="4" name="Text Box 3">
            <a:extLst>
              <a:ext uri="{FF2B5EF4-FFF2-40B4-BE49-F238E27FC236}">
                <a16:creationId xmlns:a16="http://schemas.microsoft.com/office/drawing/2014/main" id="{1852306F-E182-29BE-40AC-DD676E630C7B}"/>
              </a:ext>
            </a:extLst>
          </p:cNvPr>
          <p:cNvSpPr txBox="1"/>
          <p:nvPr/>
        </p:nvSpPr>
        <p:spPr>
          <a:xfrm>
            <a:off x="4629785" y="4984115"/>
            <a:ext cx="3048000" cy="368300"/>
          </a:xfrm>
          <a:prstGeom prst="rect">
            <a:avLst/>
          </a:prstGeom>
          <a:noFill/>
        </p:spPr>
        <p:txBody>
          <a:bodyPr wrap="square" rtlCol="0">
            <a:spAutoFit/>
          </a:bodyPr>
          <a:lstStyle/>
          <a:p>
            <a:endParaRPr lang="en-US"/>
          </a:p>
        </p:txBody>
      </p:sp>
      <p:sp>
        <p:nvSpPr>
          <p:cNvPr id="7" name="Rectangles 6">
            <a:extLst>
              <a:ext uri="{FF2B5EF4-FFF2-40B4-BE49-F238E27FC236}">
                <a16:creationId xmlns:a16="http://schemas.microsoft.com/office/drawing/2014/main" id="{7F3EF25E-29A7-0707-4B72-92FF2255F533}"/>
              </a:ext>
            </a:extLst>
          </p:cNvPr>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8" name="Rectangles 7">
            <a:extLst>
              <a:ext uri="{FF2B5EF4-FFF2-40B4-BE49-F238E27FC236}">
                <a16:creationId xmlns:a16="http://schemas.microsoft.com/office/drawing/2014/main" id="{5B4D4E0C-DDA0-DD8C-C415-9BBC6D0AF8F7}"/>
              </a:ext>
            </a:extLst>
          </p:cNvPr>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5" name="Tiêu đề 4">
            <a:extLst>
              <a:ext uri="{FF2B5EF4-FFF2-40B4-BE49-F238E27FC236}">
                <a16:creationId xmlns:a16="http://schemas.microsoft.com/office/drawing/2014/main" id="{C52A15DC-D0BB-4E30-7FA3-0FF911893397}"/>
              </a:ext>
            </a:extLst>
          </p:cNvPr>
          <p:cNvSpPr>
            <a:spLocks noGrp="1"/>
          </p:cNvSpPr>
          <p:nvPr>
            <p:ph type="title"/>
          </p:nvPr>
        </p:nvSpPr>
        <p:spPr>
          <a:xfrm>
            <a:off x="-2415" y="10956"/>
            <a:ext cx="7886700" cy="1325563"/>
          </a:xfrm>
        </p:spPr>
        <p:txBody>
          <a:bodyPr>
            <a:normAutofit/>
          </a:bodyPr>
          <a:lstStyle/>
          <a:p>
            <a:r>
              <a:rPr lang="vi-VN" sz="3200">
                <a:latin typeface="Times New Roman"/>
                <a:ea typeface="+mj-lt"/>
                <a:cs typeface="Times New Roman"/>
              </a:rPr>
              <a:t>Hướng phát triển</a:t>
            </a:r>
            <a:endParaRPr lang="vi-VN">
              <a:latin typeface="Times New Roman"/>
              <a:cs typeface="Times New Roman"/>
            </a:endParaRPr>
          </a:p>
        </p:txBody>
      </p:sp>
      <p:sp>
        <p:nvSpPr>
          <p:cNvPr id="9" name="Content Placeholder 2">
            <a:extLst>
              <a:ext uri="{FF2B5EF4-FFF2-40B4-BE49-F238E27FC236}">
                <a16:creationId xmlns:a16="http://schemas.microsoft.com/office/drawing/2014/main" id="{9F1F370D-C2B5-1170-395B-BAF3E81DB983}"/>
              </a:ext>
            </a:extLst>
          </p:cNvPr>
          <p:cNvSpPr>
            <a:spLocks noGrp="1"/>
          </p:cNvSpPr>
          <p:nvPr>
            <p:ph idx="1"/>
          </p:nvPr>
        </p:nvSpPr>
        <p:spPr>
          <a:xfrm>
            <a:off x="-2415" y="1503653"/>
            <a:ext cx="9148829" cy="5188464"/>
          </a:xfrm>
        </p:spPr>
        <p:txBody>
          <a:bodyPr vert="horz" lIns="91440" tIns="45720" rIns="91440" bIns="45720" rtlCol="0" anchor="t">
            <a:normAutofit/>
          </a:bodyPr>
          <a:lstStyle/>
          <a:p>
            <a:pPr>
              <a:buFont typeface="Arial"/>
              <a:buChar char="•"/>
            </a:pPr>
            <a:r>
              <a:rPr lang="en-US" sz="2400" b="1" err="1">
                <a:solidFill>
                  <a:srgbClr val="373A3C"/>
                </a:solidFill>
                <a:latin typeface="Times New Roman"/>
                <a:ea typeface="+mn-lt"/>
                <a:cs typeface="+mn-lt"/>
              </a:rPr>
              <a:t>Tối</a:t>
            </a:r>
            <a:r>
              <a:rPr lang="en-US" sz="2400" b="1">
                <a:solidFill>
                  <a:srgbClr val="373A3C"/>
                </a:solidFill>
                <a:latin typeface="Times New Roman"/>
                <a:ea typeface="+mn-lt"/>
                <a:cs typeface="+mn-lt"/>
              </a:rPr>
              <a:t> </a:t>
            </a:r>
            <a:r>
              <a:rPr lang="en-US" sz="2400" b="1" err="1">
                <a:solidFill>
                  <a:srgbClr val="373A3C"/>
                </a:solidFill>
                <a:latin typeface="Times New Roman"/>
                <a:ea typeface="+mn-lt"/>
                <a:cs typeface="+mn-lt"/>
              </a:rPr>
              <a:t>ưu</a:t>
            </a:r>
            <a:r>
              <a:rPr lang="en-US" sz="2400" b="1">
                <a:solidFill>
                  <a:srgbClr val="373A3C"/>
                </a:solidFill>
                <a:latin typeface="Times New Roman"/>
                <a:ea typeface="+mn-lt"/>
                <a:cs typeface="+mn-lt"/>
              </a:rPr>
              <a:t> </a:t>
            </a:r>
            <a:r>
              <a:rPr lang="en-US" sz="2400" b="1" err="1">
                <a:solidFill>
                  <a:srgbClr val="373A3C"/>
                </a:solidFill>
                <a:latin typeface="Times New Roman"/>
                <a:ea typeface="+mn-lt"/>
                <a:cs typeface="+mn-lt"/>
              </a:rPr>
              <a:t>hóa</a:t>
            </a:r>
            <a:r>
              <a:rPr lang="en-US" sz="2400" b="1">
                <a:solidFill>
                  <a:srgbClr val="373A3C"/>
                </a:solidFill>
                <a:latin typeface="Times New Roman"/>
                <a:ea typeface="+mn-lt"/>
                <a:cs typeface="+mn-lt"/>
              </a:rPr>
              <a:t> Data Augmentation:</a:t>
            </a:r>
            <a:endParaRPr lang="vi-VN" sz="2400">
              <a:latin typeface="Times New Roman"/>
              <a:ea typeface="+mn-lt"/>
              <a:cs typeface="Arial"/>
            </a:endParaRPr>
          </a:p>
          <a:p>
            <a:pPr lvl="1">
              <a:buFont typeface="Arial"/>
              <a:buChar char="•"/>
            </a:pPr>
            <a:r>
              <a:rPr lang="en-US" err="1">
                <a:solidFill>
                  <a:srgbClr val="373A3C"/>
                </a:solidFill>
                <a:latin typeface="Times New Roman"/>
                <a:ea typeface="+mn-lt"/>
                <a:cs typeface="+mn-lt"/>
              </a:rPr>
              <a:t>Áp</a:t>
            </a:r>
            <a:r>
              <a:rPr lang="en-US">
                <a:solidFill>
                  <a:srgbClr val="373A3C"/>
                </a:solidFill>
                <a:latin typeface="Times New Roman"/>
                <a:ea typeface="+mn-lt"/>
                <a:cs typeface="+mn-lt"/>
              </a:rPr>
              <a:t> </a:t>
            </a:r>
            <a:r>
              <a:rPr lang="en-US" err="1">
                <a:solidFill>
                  <a:srgbClr val="373A3C"/>
                </a:solidFill>
                <a:latin typeface="Times New Roman"/>
                <a:ea typeface="+mn-lt"/>
                <a:cs typeface="+mn-lt"/>
              </a:rPr>
              <a:t>dụng</a:t>
            </a:r>
            <a:r>
              <a:rPr lang="en-US">
                <a:solidFill>
                  <a:srgbClr val="373A3C"/>
                </a:solidFill>
                <a:latin typeface="Times New Roman"/>
                <a:ea typeface="+mn-lt"/>
                <a:cs typeface="+mn-lt"/>
              </a:rPr>
              <a:t> </a:t>
            </a:r>
            <a:r>
              <a:rPr lang="en-US" b="1">
                <a:solidFill>
                  <a:srgbClr val="373A3C"/>
                </a:solidFill>
                <a:latin typeface="Times New Roman"/>
                <a:ea typeface="+mn-lt"/>
                <a:cs typeface="+mn-lt"/>
              </a:rPr>
              <a:t>Filter by Quality</a:t>
            </a:r>
            <a:r>
              <a:rPr lang="en-US">
                <a:solidFill>
                  <a:srgbClr val="373A3C"/>
                </a:solidFill>
                <a:latin typeface="Times New Roman"/>
                <a:ea typeface="+mn-lt"/>
                <a:cs typeface="+mn-lt"/>
              </a:rPr>
              <a:t> </a:t>
            </a:r>
            <a:r>
              <a:rPr lang="en-US" err="1">
                <a:solidFill>
                  <a:srgbClr val="373A3C"/>
                </a:solidFill>
                <a:latin typeface="Times New Roman"/>
                <a:ea typeface="+mn-lt"/>
                <a:cs typeface="+mn-lt"/>
              </a:rPr>
              <a:t>để</a:t>
            </a:r>
            <a:r>
              <a:rPr lang="en-US">
                <a:solidFill>
                  <a:srgbClr val="373A3C"/>
                </a:solidFill>
                <a:latin typeface="Times New Roman"/>
                <a:ea typeface="+mn-lt"/>
                <a:cs typeface="+mn-lt"/>
              </a:rPr>
              <a:t> </a:t>
            </a:r>
            <a:r>
              <a:rPr lang="en-US" err="1">
                <a:solidFill>
                  <a:srgbClr val="373A3C"/>
                </a:solidFill>
                <a:latin typeface="Times New Roman"/>
                <a:ea typeface="+mn-lt"/>
                <a:cs typeface="+mn-lt"/>
              </a:rPr>
              <a:t>loại</a:t>
            </a:r>
            <a:r>
              <a:rPr lang="en-US">
                <a:solidFill>
                  <a:srgbClr val="373A3C"/>
                </a:solidFill>
                <a:latin typeface="Times New Roman"/>
                <a:ea typeface="+mn-lt"/>
                <a:cs typeface="+mn-lt"/>
              </a:rPr>
              <a:t> </a:t>
            </a:r>
            <a:r>
              <a:rPr lang="en-US" err="1">
                <a:solidFill>
                  <a:srgbClr val="373A3C"/>
                </a:solidFill>
                <a:latin typeface="Times New Roman"/>
                <a:ea typeface="+mn-lt"/>
                <a:cs typeface="+mn-lt"/>
              </a:rPr>
              <a:t>bỏ</a:t>
            </a:r>
            <a:r>
              <a:rPr lang="en-US">
                <a:solidFill>
                  <a:srgbClr val="373A3C"/>
                </a:solidFill>
                <a:latin typeface="Times New Roman"/>
                <a:ea typeface="+mn-lt"/>
                <a:cs typeface="+mn-lt"/>
              </a:rPr>
              <a:t> </a:t>
            </a:r>
            <a:r>
              <a:rPr lang="en-US" err="1">
                <a:solidFill>
                  <a:srgbClr val="373A3C"/>
                </a:solidFill>
                <a:latin typeface="Times New Roman"/>
                <a:ea typeface="+mn-lt"/>
                <a:cs typeface="+mn-lt"/>
              </a:rPr>
              <a:t>mẫu</a:t>
            </a:r>
            <a:r>
              <a:rPr lang="en-US">
                <a:solidFill>
                  <a:srgbClr val="373A3C"/>
                </a:solidFill>
                <a:latin typeface="Times New Roman"/>
                <a:ea typeface="+mn-lt"/>
                <a:cs typeface="+mn-lt"/>
              </a:rPr>
              <a:t> </a:t>
            </a:r>
            <a:r>
              <a:rPr lang="en-US" err="1">
                <a:solidFill>
                  <a:srgbClr val="373A3C"/>
                </a:solidFill>
                <a:latin typeface="Times New Roman"/>
                <a:ea typeface="+mn-lt"/>
                <a:cs typeface="+mn-lt"/>
              </a:rPr>
              <a:t>nhiễu</a:t>
            </a:r>
            <a:r>
              <a:rPr lang="en-US">
                <a:solidFill>
                  <a:srgbClr val="373A3C"/>
                </a:solidFill>
                <a:latin typeface="Times New Roman"/>
                <a:ea typeface="+mn-lt"/>
                <a:cs typeface="+mn-lt"/>
              </a:rPr>
              <a:t> </a:t>
            </a:r>
            <a:r>
              <a:rPr lang="en-US" err="1">
                <a:solidFill>
                  <a:srgbClr val="373A3C"/>
                </a:solidFill>
                <a:latin typeface="Times New Roman"/>
                <a:ea typeface="+mn-lt"/>
                <a:cs typeface="+mn-lt"/>
              </a:rPr>
              <a:t>trước</a:t>
            </a:r>
            <a:r>
              <a:rPr lang="en-US">
                <a:solidFill>
                  <a:srgbClr val="373A3C"/>
                </a:solidFill>
                <a:latin typeface="Times New Roman"/>
                <a:ea typeface="+mn-lt"/>
                <a:cs typeface="+mn-lt"/>
              </a:rPr>
              <a:t> </a:t>
            </a:r>
            <a:r>
              <a:rPr lang="en-US" err="1">
                <a:solidFill>
                  <a:srgbClr val="373A3C"/>
                </a:solidFill>
                <a:latin typeface="Times New Roman"/>
                <a:ea typeface="+mn-lt"/>
                <a:cs typeface="+mn-lt"/>
              </a:rPr>
              <a:t>khi</a:t>
            </a:r>
            <a:r>
              <a:rPr lang="en-US">
                <a:solidFill>
                  <a:srgbClr val="373A3C"/>
                </a:solidFill>
                <a:latin typeface="Times New Roman"/>
                <a:ea typeface="+mn-lt"/>
                <a:cs typeface="+mn-lt"/>
              </a:rPr>
              <a:t> </a:t>
            </a:r>
            <a:r>
              <a:rPr lang="en-US" err="1">
                <a:solidFill>
                  <a:srgbClr val="373A3C"/>
                </a:solidFill>
                <a:latin typeface="Times New Roman"/>
                <a:ea typeface="+mn-lt"/>
                <a:cs typeface="+mn-lt"/>
              </a:rPr>
              <a:t>đưa</a:t>
            </a:r>
            <a:r>
              <a:rPr lang="en-US">
                <a:solidFill>
                  <a:srgbClr val="373A3C"/>
                </a:solidFill>
                <a:latin typeface="Times New Roman"/>
                <a:ea typeface="+mn-lt"/>
                <a:cs typeface="+mn-lt"/>
              </a:rPr>
              <a:t> </a:t>
            </a:r>
            <a:r>
              <a:rPr lang="en-US" err="1">
                <a:solidFill>
                  <a:srgbClr val="373A3C"/>
                </a:solidFill>
                <a:latin typeface="Times New Roman"/>
                <a:ea typeface="+mn-lt"/>
                <a:cs typeface="+mn-lt"/>
              </a:rPr>
              <a:t>vào</a:t>
            </a:r>
            <a:r>
              <a:rPr lang="en-US">
                <a:solidFill>
                  <a:srgbClr val="373A3C"/>
                </a:solidFill>
                <a:latin typeface="Times New Roman"/>
                <a:ea typeface="+mn-lt"/>
                <a:cs typeface="+mn-lt"/>
              </a:rPr>
              <a:t> </a:t>
            </a:r>
            <a:r>
              <a:rPr lang="en-US" err="1">
                <a:solidFill>
                  <a:srgbClr val="373A3C"/>
                </a:solidFill>
                <a:latin typeface="Times New Roman"/>
                <a:ea typeface="+mn-lt"/>
                <a:cs typeface="+mn-lt"/>
              </a:rPr>
              <a:t>huấn</a:t>
            </a:r>
            <a:r>
              <a:rPr lang="en-US">
                <a:solidFill>
                  <a:srgbClr val="373A3C"/>
                </a:solidFill>
                <a:latin typeface="Times New Roman"/>
                <a:ea typeface="+mn-lt"/>
                <a:cs typeface="+mn-lt"/>
              </a:rPr>
              <a:t> </a:t>
            </a:r>
            <a:r>
              <a:rPr lang="en-US" err="1">
                <a:solidFill>
                  <a:srgbClr val="373A3C"/>
                </a:solidFill>
                <a:latin typeface="Times New Roman"/>
                <a:ea typeface="+mn-lt"/>
                <a:cs typeface="+mn-lt"/>
              </a:rPr>
              <a:t>luyện</a:t>
            </a:r>
            <a:r>
              <a:rPr lang="en-US">
                <a:solidFill>
                  <a:srgbClr val="373A3C"/>
                </a:solidFill>
                <a:latin typeface="Times New Roman"/>
                <a:ea typeface="+mn-lt"/>
                <a:cs typeface="+mn-lt"/>
              </a:rPr>
              <a:t>.</a:t>
            </a:r>
            <a:endParaRPr lang="en-US">
              <a:latin typeface="Times New Roman"/>
              <a:ea typeface="+mn-lt"/>
              <a:cs typeface="+mn-lt"/>
            </a:endParaRPr>
          </a:p>
          <a:p>
            <a:pPr lvl="1">
              <a:buFont typeface="Arial"/>
              <a:buChar char="•"/>
            </a:pPr>
            <a:r>
              <a:rPr lang="en-US" err="1">
                <a:solidFill>
                  <a:srgbClr val="373A3C"/>
                </a:solidFill>
                <a:latin typeface="Times New Roman"/>
                <a:ea typeface="+mn-lt"/>
                <a:cs typeface="+mn-lt"/>
              </a:rPr>
              <a:t>Sử</a:t>
            </a:r>
            <a:r>
              <a:rPr lang="en-US">
                <a:solidFill>
                  <a:srgbClr val="373A3C"/>
                </a:solidFill>
                <a:latin typeface="Times New Roman"/>
                <a:ea typeface="+mn-lt"/>
                <a:cs typeface="+mn-lt"/>
              </a:rPr>
              <a:t> </a:t>
            </a:r>
            <a:r>
              <a:rPr lang="en-US" err="1">
                <a:solidFill>
                  <a:srgbClr val="373A3C"/>
                </a:solidFill>
                <a:latin typeface="Times New Roman"/>
                <a:ea typeface="+mn-lt"/>
                <a:cs typeface="+mn-lt"/>
              </a:rPr>
              <a:t>dụng</a:t>
            </a:r>
            <a:r>
              <a:rPr lang="en-US">
                <a:solidFill>
                  <a:srgbClr val="373A3C"/>
                </a:solidFill>
                <a:latin typeface="Times New Roman"/>
                <a:ea typeface="+mn-lt"/>
                <a:cs typeface="+mn-lt"/>
              </a:rPr>
              <a:t> LLM </a:t>
            </a:r>
            <a:r>
              <a:rPr lang="en-US" err="1">
                <a:solidFill>
                  <a:srgbClr val="373A3C"/>
                </a:solidFill>
                <a:latin typeface="Times New Roman"/>
                <a:ea typeface="+mn-lt"/>
                <a:cs typeface="+mn-lt"/>
              </a:rPr>
              <a:t>mạnh</a:t>
            </a:r>
            <a:r>
              <a:rPr lang="en-US">
                <a:solidFill>
                  <a:srgbClr val="373A3C"/>
                </a:solidFill>
                <a:latin typeface="Times New Roman"/>
                <a:ea typeface="+mn-lt"/>
                <a:cs typeface="+mn-lt"/>
              </a:rPr>
              <a:t> </a:t>
            </a:r>
            <a:r>
              <a:rPr lang="en-US" err="1">
                <a:solidFill>
                  <a:srgbClr val="373A3C"/>
                </a:solidFill>
                <a:latin typeface="Times New Roman"/>
                <a:ea typeface="+mn-lt"/>
                <a:cs typeface="+mn-lt"/>
              </a:rPr>
              <a:t>hơn</a:t>
            </a:r>
            <a:r>
              <a:rPr lang="en-US">
                <a:solidFill>
                  <a:srgbClr val="373A3C"/>
                </a:solidFill>
                <a:latin typeface="Times New Roman"/>
                <a:ea typeface="+mn-lt"/>
                <a:cs typeface="+mn-lt"/>
              </a:rPr>
              <a:t> (GPT-4) </a:t>
            </a:r>
            <a:r>
              <a:rPr lang="en-US" err="1">
                <a:solidFill>
                  <a:srgbClr val="373A3C"/>
                </a:solidFill>
                <a:latin typeface="Times New Roman"/>
                <a:ea typeface="+mn-lt"/>
                <a:cs typeface="+mn-lt"/>
              </a:rPr>
              <a:t>để</a:t>
            </a:r>
            <a:r>
              <a:rPr lang="en-US">
                <a:solidFill>
                  <a:srgbClr val="373A3C"/>
                </a:solidFill>
                <a:latin typeface="Times New Roman"/>
                <a:ea typeface="+mn-lt"/>
                <a:cs typeface="+mn-lt"/>
              </a:rPr>
              <a:t> </a:t>
            </a:r>
            <a:r>
              <a:rPr lang="en-US" err="1">
                <a:solidFill>
                  <a:srgbClr val="373A3C"/>
                </a:solidFill>
                <a:latin typeface="Times New Roman"/>
                <a:ea typeface="+mn-lt"/>
                <a:cs typeface="+mn-lt"/>
              </a:rPr>
              <a:t>sinh</a:t>
            </a:r>
            <a:r>
              <a:rPr lang="en-US">
                <a:solidFill>
                  <a:srgbClr val="373A3C"/>
                </a:solidFill>
                <a:latin typeface="Times New Roman"/>
                <a:ea typeface="+mn-lt"/>
                <a:cs typeface="+mn-lt"/>
              </a:rPr>
              <a:t> </a:t>
            </a:r>
            <a:r>
              <a:rPr lang="en-US" err="1">
                <a:solidFill>
                  <a:srgbClr val="373A3C"/>
                </a:solidFill>
                <a:latin typeface="Times New Roman"/>
                <a:ea typeface="+mn-lt"/>
                <a:cs typeface="+mn-lt"/>
              </a:rPr>
              <a:t>dữ</a:t>
            </a:r>
            <a:r>
              <a:rPr lang="en-US">
                <a:solidFill>
                  <a:srgbClr val="373A3C"/>
                </a:solidFill>
                <a:latin typeface="Times New Roman"/>
                <a:ea typeface="+mn-lt"/>
                <a:cs typeface="+mn-lt"/>
              </a:rPr>
              <a:t> </a:t>
            </a:r>
            <a:r>
              <a:rPr lang="en-US" err="1">
                <a:solidFill>
                  <a:srgbClr val="373A3C"/>
                </a:solidFill>
                <a:latin typeface="Times New Roman"/>
                <a:ea typeface="+mn-lt"/>
                <a:cs typeface="+mn-lt"/>
              </a:rPr>
              <a:t>liệu</a:t>
            </a:r>
            <a:r>
              <a:rPr lang="en-US">
                <a:solidFill>
                  <a:srgbClr val="373A3C"/>
                </a:solidFill>
                <a:latin typeface="Times New Roman"/>
                <a:ea typeface="+mn-lt"/>
                <a:cs typeface="+mn-lt"/>
              </a:rPr>
              <a:t> </a:t>
            </a:r>
            <a:r>
              <a:rPr lang="en-US" err="1">
                <a:solidFill>
                  <a:srgbClr val="373A3C"/>
                </a:solidFill>
                <a:latin typeface="Times New Roman"/>
                <a:ea typeface="+mn-lt"/>
                <a:cs typeface="+mn-lt"/>
              </a:rPr>
              <a:t>mô</a:t>
            </a:r>
            <a:r>
              <a:rPr lang="en-US">
                <a:solidFill>
                  <a:srgbClr val="373A3C"/>
                </a:solidFill>
                <a:latin typeface="Times New Roman"/>
                <a:ea typeface="+mn-lt"/>
                <a:cs typeface="+mn-lt"/>
              </a:rPr>
              <a:t> </a:t>
            </a:r>
            <a:r>
              <a:rPr lang="en-US" err="1">
                <a:solidFill>
                  <a:srgbClr val="373A3C"/>
                </a:solidFill>
                <a:latin typeface="Times New Roman"/>
                <a:ea typeface="+mn-lt"/>
                <a:cs typeface="+mn-lt"/>
              </a:rPr>
              <a:t>phỏng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văn</a:t>
            </a:r>
            <a:r>
              <a:rPr lang="en-US">
                <a:solidFill>
                  <a:srgbClr val="373A3C"/>
                </a:solidFill>
                <a:latin typeface="Times New Roman"/>
                <a:ea typeface="+mn-lt"/>
                <a:cs typeface="+mn-lt"/>
              </a:rPr>
              <a:t> </a:t>
            </a:r>
            <a:r>
              <a:rPr lang="en-US" err="1">
                <a:solidFill>
                  <a:srgbClr val="373A3C"/>
                </a:solidFill>
                <a:latin typeface="Times New Roman"/>
                <a:ea typeface="+mn-lt"/>
                <a:cs typeface="+mn-lt"/>
              </a:rPr>
              <a:t>phong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thực</a:t>
            </a:r>
            <a:r>
              <a:rPr lang="en-US">
                <a:solidFill>
                  <a:srgbClr val="373A3C"/>
                </a:solidFill>
                <a:latin typeface="Times New Roman"/>
                <a:ea typeface="+mn-lt"/>
                <a:cs typeface="+mn-lt"/>
              </a:rPr>
              <a:t> </a:t>
            </a:r>
            <a:r>
              <a:rPr lang="en-US" err="1">
                <a:solidFill>
                  <a:srgbClr val="373A3C"/>
                </a:solidFill>
                <a:latin typeface="Times New Roman"/>
                <a:ea typeface="+mn-lt"/>
                <a:cs typeface="+mn-lt"/>
              </a:rPr>
              <a:t>tế</a:t>
            </a:r>
            <a:r>
              <a:rPr lang="en-US">
                <a:solidFill>
                  <a:srgbClr val="373A3C"/>
                </a:solidFill>
                <a:latin typeface="Times New Roman"/>
                <a:ea typeface="+mn-lt"/>
                <a:cs typeface="+mn-lt"/>
              </a:rPr>
              <a:t> </a:t>
            </a:r>
            <a:r>
              <a:rPr lang="en-US" err="1">
                <a:solidFill>
                  <a:srgbClr val="373A3C"/>
                </a:solidFill>
                <a:latin typeface="Times New Roman"/>
                <a:ea typeface="+mn-lt"/>
                <a:cs typeface="+mn-lt"/>
              </a:rPr>
              <a:t>tốt</a:t>
            </a:r>
            <a:r>
              <a:rPr lang="en-US">
                <a:solidFill>
                  <a:srgbClr val="373A3C"/>
                </a:solidFill>
                <a:latin typeface="Times New Roman"/>
                <a:ea typeface="+mn-lt"/>
                <a:cs typeface="+mn-lt"/>
              </a:rPr>
              <a:t> </a:t>
            </a:r>
            <a:r>
              <a:rPr lang="en-US" err="1">
                <a:solidFill>
                  <a:srgbClr val="373A3C"/>
                </a:solidFill>
                <a:latin typeface="Times New Roman"/>
                <a:ea typeface="+mn-lt"/>
                <a:cs typeface="+mn-lt"/>
              </a:rPr>
              <a:t>hơn</a:t>
            </a:r>
            <a:r>
              <a:rPr lang="en-US">
                <a:solidFill>
                  <a:srgbClr val="373A3C"/>
                </a:solidFill>
                <a:latin typeface="Times New Roman"/>
                <a:ea typeface="+mn-lt"/>
                <a:cs typeface="+mn-lt"/>
              </a:rPr>
              <a:t>.</a:t>
            </a:r>
            <a:endParaRPr lang="en-US">
              <a:latin typeface="Times New Roman"/>
              <a:ea typeface="+mn-lt"/>
              <a:cs typeface="+mn-lt"/>
            </a:endParaRPr>
          </a:p>
          <a:p>
            <a:pPr>
              <a:buFont typeface="Arial"/>
              <a:buChar char="•"/>
            </a:pPr>
            <a:r>
              <a:rPr lang="en-US" sz="2400" b="1">
                <a:solidFill>
                  <a:srgbClr val="373A3C"/>
                </a:solidFill>
                <a:latin typeface="Times New Roman"/>
                <a:ea typeface="+mn-lt"/>
                <a:cs typeface="+mn-lt"/>
              </a:rPr>
              <a:t>Alignment </a:t>
            </a:r>
            <a:r>
              <a:rPr lang="en-US" sz="2400" b="1" err="1">
                <a:solidFill>
                  <a:srgbClr val="373A3C"/>
                </a:solidFill>
                <a:latin typeface="Times New Roman"/>
                <a:ea typeface="+mn-lt"/>
                <a:cs typeface="+mn-lt"/>
              </a:rPr>
              <a:t>cho</a:t>
            </a:r>
            <a:r>
              <a:rPr lang="en-US" sz="2400" b="1">
                <a:solidFill>
                  <a:srgbClr val="373A3C"/>
                </a:solidFill>
                <a:latin typeface="Times New Roman"/>
                <a:ea typeface="+mn-lt"/>
                <a:cs typeface="+mn-lt"/>
              </a:rPr>
              <a:t> Decoder-only:</a:t>
            </a:r>
            <a:endParaRPr lang="en-US" sz="2400">
              <a:latin typeface="Times New Roman"/>
              <a:ea typeface="+mn-lt"/>
              <a:cs typeface="+mn-lt"/>
            </a:endParaRPr>
          </a:p>
          <a:p>
            <a:pPr lvl="1">
              <a:buFont typeface="Arial"/>
              <a:buChar char="•"/>
            </a:pPr>
            <a:r>
              <a:rPr lang="en-US" err="1">
                <a:solidFill>
                  <a:srgbClr val="373A3C"/>
                </a:solidFill>
                <a:latin typeface="Times New Roman"/>
                <a:ea typeface="+mn-lt"/>
                <a:cs typeface="+mn-lt"/>
              </a:rPr>
              <a:t>Sử</a:t>
            </a:r>
            <a:r>
              <a:rPr lang="en-US">
                <a:solidFill>
                  <a:srgbClr val="373A3C"/>
                </a:solidFill>
                <a:latin typeface="Times New Roman"/>
                <a:ea typeface="+mn-lt"/>
                <a:cs typeface="+mn-lt"/>
              </a:rPr>
              <a:t> </a:t>
            </a:r>
            <a:r>
              <a:rPr lang="en-US" err="1">
                <a:solidFill>
                  <a:srgbClr val="373A3C"/>
                </a:solidFill>
                <a:latin typeface="Times New Roman"/>
                <a:ea typeface="+mn-lt"/>
                <a:cs typeface="+mn-lt"/>
              </a:rPr>
              <a:t>dụng</a:t>
            </a:r>
            <a:r>
              <a:rPr lang="en-US">
                <a:solidFill>
                  <a:srgbClr val="373A3C"/>
                </a:solidFill>
                <a:latin typeface="Times New Roman"/>
                <a:ea typeface="+mn-lt"/>
                <a:cs typeface="+mn-lt"/>
              </a:rPr>
              <a:t> </a:t>
            </a:r>
            <a:r>
              <a:rPr lang="en-US" b="1">
                <a:solidFill>
                  <a:srgbClr val="373A3C"/>
                </a:solidFill>
                <a:latin typeface="Times New Roman"/>
                <a:ea typeface="+mn-lt"/>
                <a:cs typeface="+mn-lt"/>
              </a:rPr>
              <a:t>RLHF</a:t>
            </a:r>
            <a:r>
              <a:rPr lang="en-US">
                <a:solidFill>
                  <a:srgbClr val="373A3C"/>
                </a:solidFill>
                <a:latin typeface="Times New Roman"/>
                <a:ea typeface="+mn-lt"/>
                <a:cs typeface="+mn-lt"/>
              </a:rPr>
              <a:t> </a:t>
            </a:r>
            <a:r>
              <a:rPr lang="en-US" sz="2400">
                <a:solidFill>
                  <a:srgbClr val="373A3C"/>
                </a:solidFill>
                <a:latin typeface="Times New Roman"/>
                <a:ea typeface="+mn-lt"/>
                <a:cs typeface="+mn-lt"/>
              </a:rPr>
              <a:t>(</a:t>
            </a:r>
            <a:r>
              <a:rPr lang="en-US">
                <a:solidFill>
                  <a:srgbClr val="373A3C"/>
                </a:solidFill>
                <a:latin typeface="Times New Roman"/>
                <a:ea typeface="+mn-lt"/>
                <a:cs typeface="+mn-lt"/>
              </a:rPr>
              <a:t>Học </a:t>
            </a:r>
            <a:r>
              <a:rPr lang="en-US" err="1">
                <a:solidFill>
                  <a:srgbClr val="373A3C"/>
                </a:solidFill>
                <a:latin typeface="Times New Roman"/>
                <a:ea typeface="+mn-lt"/>
                <a:cs typeface="+mn-lt"/>
              </a:rPr>
              <a:t>tăng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cường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từ</a:t>
            </a:r>
            <a:r>
              <a:rPr lang="en-US">
                <a:solidFill>
                  <a:srgbClr val="373A3C"/>
                </a:solidFill>
                <a:latin typeface="Times New Roman"/>
                <a:ea typeface="+mn-lt"/>
                <a:cs typeface="+mn-lt"/>
              </a:rPr>
              <a:t> </a:t>
            </a:r>
            <a:r>
              <a:rPr lang="en-US" err="1">
                <a:solidFill>
                  <a:srgbClr val="373A3C"/>
                </a:solidFill>
                <a:latin typeface="Times New Roman"/>
                <a:ea typeface="+mn-lt"/>
                <a:cs typeface="+mn-lt"/>
              </a:rPr>
              <a:t>phản</a:t>
            </a:r>
            <a:r>
              <a:rPr lang="en-US">
                <a:solidFill>
                  <a:srgbClr val="373A3C"/>
                </a:solidFill>
                <a:latin typeface="Times New Roman"/>
                <a:ea typeface="+mn-lt"/>
                <a:cs typeface="+mn-lt"/>
              </a:rPr>
              <a:t> </a:t>
            </a:r>
            <a:r>
              <a:rPr lang="en-US" err="1">
                <a:solidFill>
                  <a:srgbClr val="373A3C"/>
                </a:solidFill>
                <a:latin typeface="Times New Roman"/>
                <a:ea typeface="+mn-lt"/>
                <a:cs typeface="+mn-lt"/>
              </a:rPr>
              <a:t>hồi</a:t>
            </a:r>
            <a:r>
              <a:rPr lang="en-US">
                <a:solidFill>
                  <a:srgbClr val="373A3C"/>
                </a:solidFill>
                <a:latin typeface="Times New Roman"/>
                <a:ea typeface="+mn-lt"/>
                <a:cs typeface="+mn-lt"/>
              </a:rPr>
              <a:t> </a:t>
            </a:r>
            <a:r>
              <a:rPr lang="en-US" err="1">
                <a:solidFill>
                  <a:srgbClr val="373A3C"/>
                </a:solidFill>
                <a:latin typeface="Times New Roman"/>
                <a:ea typeface="+mn-lt"/>
                <a:cs typeface="+mn-lt"/>
              </a:rPr>
              <a:t>người</a:t>
            </a:r>
            <a:r>
              <a:rPr lang="en-US">
                <a:solidFill>
                  <a:srgbClr val="373A3C"/>
                </a:solidFill>
                <a:latin typeface="Times New Roman"/>
                <a:ea typeface="+mn-lt"/>
                <a:cs typeface="+mn-lt"/>
              </a:rPr>
              <a:t> </a:t>
            </a:r>
            <a:r>
              <a:rPr lang="en-US" err="1">
                <a:solidFill>
                  <a:srgbClr val="373A3C"/>
                </a:solidFill>
                <a:latin typeface="Times New Roman"/>
                <a:ea typeface="+mn-lt"/>
                <a:cs typeface="+mn-lt"/>
              </a:rPr>
              <a:t>dùng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hoặc</a:t>
            </a:r>
            <a:r>
              <a:rPr lang="en-US">
                <a:solidFill>
                  <a:srgbClr val="373A3C"/>
                </a:solidFill>
                <a:latin typeface="Times New Roman"/>
                <a:ea typeface="+mn-lt"/>
                <a:cs typeface="+mn-lt"/>
              </a:rPr>
              <a:t> </a:t>
            </a:r>
            <a:r>
              <a:rPr lang="en-US" b="1">
                <a:solidFill>
                  <a:srgbClr val="373A3C"/>
                </a:solidFill>
                <a:latin typeface="Times New Roman"/>
                <a:ea typeface="+mn-lt"/>
                <a:cs typeface="+mn-lt"/>
              </a:rPr>
              <a:t>DPO</a:t>
            </a:r>
            <a:r>
              <a:rPr lang="en-US">
                <a:solidFill>
                  <a:srgbClr val="373A3C"/>
                </a:solidFill>
                <a:latin typeface="Times New Roman"/>
                <a:ea typeface="+mn-lt"/>
                <a:cs typeface="+mn-lt"/>
              </a:rPr>
              <a:t> </a:t>
            </a:r>
            <a:r>
              <a:rPr lang="en-US" err="1">
                <a:solidFill>
                  <a:srgbClr val="373A3C"/>
                </a:solidFill>
                <a:latin typeface="Times New Roman"/>
                <a:ea typeface="+mn-lt"/>
                <a:cs typeface="+mn-lt"/>
              </a:rPr>
              <a:t>để</a:t>
            </a:r>
            <a:r>
              <a:rPr lang="en-US">
                <a:solidFill>
                  <a:srgbClr val="373A3C"/>
                </a:solidFill>
                <a:latin typeface="Times New Roman"/>
                <a:ea typeface="+mn-lt"/>
                <a:cs typeface="+mn-lt"/>
              </a:rPr>
              <a:t> </a:t>
            </a:r>
            <a:r>
              <a:rPr lang="en-US" err="1">
                <a:solidFill>
                  <a:srgbClr val="373A3C"/>
                </a:solidFill>
                <a:latin typeface="Times New Roman"/>
                <a:ea typeface="+mn-lt"/>
                <a:cs typeface="+mn-lt"/>
              </a:rPr>
              <a:t>ép</a:t>
            </a:r>
            <a:r>
              <a:rPr lang="en-US">
                <a:solidFill>
                  <a:srgbClr val="373A3C"/>
                </a:solidFill>
                <a:latin typeface="Times New Roman"/>
                <a:ea typeface="+mn-lt"/>
                <a:cs typeface="+mn-lt"/>
              </a:rPr>
              <a:t> </a:t>
            </a:r>
            <a:r>
              <a:rPr lang="en-US" err="1">
                <a:solidFill>
                  <a:srgbClr val="373A3C"/>
                </a:solidFill>
                <a:latin typeface="Times New Roman"/>
                <a:ea typeface="+mn-lt"/>
                <a:cs typeface="+mn-lt"/>
              </a:rPr>
              <a:t>mô</a:t>
            </a:r>
            <a:r>
              <a:rPr lang="en-US">
                <a:solidFill>
                  <a:srgbClr val="373A3C"/>
                </a:solidFill>
                <a:latin typeface="Times New Roman"/>
                <a:ea typeface="+mn-lt"/>
                <a:cs typeface="+mn-lt"/>
              </a:rPr>
              <a:t> </a:t>
            </a:r>
            <a:r>
              <a:rPr lang="en-US" err="1">
                <a:solidFill>
                  <a:srgbClr val="373A3C"/>
                </a:solidFill>
                <a:latin typeface="Times New Roman"/>
                <a:ea typeface="+mn-lt"/>
                <a:cs typeface="+mn-lt"/>
              </a:rPr>
              <a:t>hình</a:t>
            </a:r>
            <a:r>
              <a:rPr lang="en-US">
                <a:solidFill>
                  <a:srgbClr val="373A3C"/>
                </a:solidFill>
                <a:latin typeface="Times New Roman"/>
                <a:ea typeface="+mn-lt"/>
                <a:cs typeface="+mn-lt"/>
              </a:rPr>
              <a:t> </a:t>
            </a:r>
            <a:r>
              <a:rPr lang="en-US" err="1">
                <a:solidFill>
                  <a:srgbClr val="373A3C"/>
                </a:solidFill>
                <a:latin typeface="Times New Roman"/>
                <a:ea typeface="+mn-lt"/>
                <a:cs typeface="+mn-lt"/>
              </a:rPr>
              <a:t>tuân</a:t>
            </a:r>
            <a:r>
              <a:rPr lang="en-US">
                <a:solidFill>
                  <a:srgbClr val="373A3C"/>
                </a:solidFill>
                <a:latin typeface="Times New Roman"/>
                <a:ea typeface="+mn-lt"/>
                <a:cs typeface="+mn-lt"/>
              </a:rPr>
              <a:t> </a:t>
            </a:r>
            <a:r>
              <a:rPr lang="en-US" err="1">
                <a:solidFill>
                  <a:srgbClr val="373A3C"/>
                </a:solidFill>
                <a:latin typeface="Times New Roman"/>
                <a:ea typeface="+mn-lt"/>
                <a:cs typeface="+mn-lt"/>
              </a:rPr>
              <a:t>thủ</a:t>
            </a:r>
            <a:r>
              <a:rPr lang="en-US">
                <a:solidFill>
                  <a:srgbClr val="373A3C"/>
                </a:solidFill>
                <a:latin typeface="Times New Roman"/>
                <a:ea typeface="+mn-lt"/>
                <a:cs typeface="+mn-lt"/>
              </a:rPr>
              <a:t> format </a:t>
            </a:r>
            <a:r>
              <a:rPr lang="en-US" err="1">
                <a:solidFill>
                  <a:srgbClr val="373A3C"/>
                </a:solidFill>
                <a:latin typeface="Times New Roman"/>
                <a:ea typeface="+mn-lt"/>
                <a:cs typeface="+mn-lt"/>
              </a:rPr>
              <a:t>nghiêm</a:t>
            </a:r>
            <a:r>
              <a:rPr lang="en-US">
                <a:solidFill>
                  <a:srgbClr val="373A3C"/>
                </a:solidFill>
                <a:latin typeface="Times New Roman"/>
                <a:ea typeface="+mn-lt"/>
                <a:cs typeface="+mn-lt"/>
              </a:rPr>
              <a:t> </a:t>
            </a:r>
            <a:r>
              <a:rPr lang="en-US" err="1">
                <a:solidFill>
                  <a:srgbClr val="373A3C"/>
                </a:solidFill>
                <a:latin typeface="Times New Roman"/>
                <a:ea typeface="+mn-lt"/>
                <a:cs typeface="+mn-lt"/>
              </a:rPr>
              <a:t>ngặt</a:t>
            </a:r>
            <a:r>
              <a:rPr lang="en-US">
                <a:solidFill>
                  <a:srgbClr val="373A3C"/>
                </a:solidFill>
                <a:latin typeface="Times New Roman"/>
                <a:ea typeface="+mn-lt"/>
                <a:cs typeface="+mn-lt"/>
              </a:rPr>
              <a:t> </a:t>
            </a:r>
            <a:r>
              <a:rPr lang="en-US" err="1">
                <a:solidFill>
                  <a:srgbClr val="373A3C"/>
                </a:solidFill>
                <a:latin typeface="Times New Roman"/>
                <a:ea typeface="+mn-lt"/>
                <a:cs typeface="+mn-lt"/>
              </a:rPr>
              <a:t>hơn</a:t>
            </a:r>
            <a:r>
              <a:rPr lang="en-US">
                <a:solidFill>
                  <a:srgbClr val="373A3C"/>
                </a:solidFill>
                <a:latin typeface="Times New Roman"/>
                <a:ea typeface="+mn-lt"/>
                <a:cs typeface="+mn-lt"/>
              </a:rPr>
              <a:t>.</a:t>
            </a:r>
            <a:endParaRPr lang="en-US">
              <a:latin typeface="Times New Roman"/>
              <a:ea typeface="+mn-lt"/>
              <a:cs typeface="+mn-lt"/>
            </a:endParaRPr>
          </a:p>
          <a:p>
            <a:pPr>
              <a:buFont typeface="Arial"/>
              <a:buChar char="•"/>
            </a:pPr>
            <a:r>
              <a:rPr lang="en-US" sz="2400" b="1" err="1">
                <a:solidFill>
                  <a:srgbClr val="373A3C"/>
                </a:solidFill>
                <a:latin typeface="Times New Roman"/>
                <a:ea typeface="+mn-lt"/>
                <a:cs typeface="+mn-lt"/>
              </a:rPr>
              <a:t>Tích</a:t>
            </a:r>
            <a:r>
              <a:rPr lang="en-US" sz="2400" b="1">
                <a:solidFill>
                  <a:srgbClr val="373A3C"/>
                </a:solidFill>
                <a:latin typeface="Times New Roman"/>
                <a:ea typeface="+mn-lt"/>
                <a:cs typeface="+mn-lt"/>
              </a:rPr>
              <a:t> </a:t>
            </a:r>
            <a:r>
              <a:rPr lang="en-US" sz="2400" b="1" err="1">
                <a:solidFill>
                  <a:srgbClr val="373A3C"/>
                </a:solidFill>
                <a:latin typeface="Times New Roman"/>
                <a:ea typeface="+mn-lt"/>
                <a:cs typeface="+mn-lt"/>
              </a:rPr>
              <a:t>hợp</a:t>
            </a:r>
            <a:r>
              <a:rPr lang="en-US" sz="2400" b="1">
                <a:solidFill>
                  <a:srgbClr val="373A3C"/>
                </a:solidFill>
                <a:latin typeface="Times New Roman"/>
                <a:ea typeface="+mn-lt"/>
                <a:cs typeface="+mn-lt"/>
              </a:rPr>
              <a:t> RAG:</a:t>
            </a:r>
            <a:endParaRPr lang="en-US" sz="2400">
              <a:latin typeface="Times New Roman"/>
              <a:ea typeface="+mn-lt"/>
              <a:cs typeface="+mn-lt"/>
            </a:endParaRPr>
          </a:p>
          <a:p>
            <a:pPr lvl="1">
              <a:buFont typeface="Arial"/>
              <a:buChar char="•"/>
            </a:pPr>
            <a:r>
              <a:rPr lang="en-US" err="1">
                <a:solidFill>
                  <a:srgbClr val="373A3C"/>
                </a:solidFill>
                <a:latin typeface="Times New Roman"/>
                <a:ea typeface="+mn-lt"/>
                <a:cs typeface="+mn-lt"/>
              </a:rPr>
              <a:t>Kết</a:t>
            </a:r>
            <a:r>
              <a:rPr lang="en-US">
                <a:solidFill>
                  <a:srgbClr val="373A3C"/>
                </a:solidFill>
                <a:latin typeface="Times New Roman"/>
                <a:ea typeface="+mn-lt"/>
                <a:cs typeface="+mn-lt"/>
              </a:rPr>
              <a:t> </a:t>
            </a:r>
            <a:r>
              <a:rPr lang="en-US" err="1">
                <a:solidFill>
                  <a:srgbClr val="373A3C"/>
                </a:solidFill>
                <a:latin typeface="Times New Roman"/>
                <a:ea typeface="+mn-lt"/>
                <a:cs typeface="+mn-lt"/>
              </a:rPr>
              <a:t>hợp</a:t>
            </a:r>
            <a:r>
              <a:rPr lang="en-US">
                <a:solidFill>
                  <a:srgbClr val="373A3C"/>
                </a:solidFill>
                <a:latin typeface="Times New Roman"/>
                <a:ea typeface="+mn-lt"/>
                <a:cs typeface="+mn-lt"/>
              </a:rPr>
              <a:t> </a:t>
            </a:r>
            <a:r>
              <a:rPr lang="en-US" err="1">
                <a:solidFill>
                  <a:srgbClr val="373A3C"/>
                </a:solidFill>
                <a:latin typeface="Times New Roman"/>
                <a:ea typeface="+mn-lt"/>
                <a:cs typeface="+mn-lt"/>
              </a:rPr>
              <a:t>truy</a:t>
            </a:r>
            <a:r>
              <a:rPr lang="en-US">
                <a:solidFill>
                  <a:srgbClr val="373A3C"/>
                </a:solidFill>
                <a:latin typeface="Times New Roman"/>
                <a:ea typeface="+mn-lt"/>
                <a:cs typeface="+mn-lt"/>
              </a:rPr>
              <a:t> </a:t>
            </a:r>
            <a:r>
              <a:rPr lang="en-US" err="1">
                <a:solidFill>
                  <a:srgbClr val="373A3C"/>
                </a:solidFill>
                <a:latin typeface="Times New Roman"/>
                <a:ea typeface="+mn-lt"/>
                <a:cs typeface="+mn-lt"/>
              </a:rPr>
              <a:t>xuất</a:t>
            </a:r>
            <a:r>
              <a:rPr lang="en-US">
                <a:solidFill>
                  <a:srgbClr val="373A3C"/>
                </a:solidFill>
                <a:latin typeface="Times New Roman"/>
                <a:ea typeface="+mn-lt"/>
                <a:cs typeface="+mn-lt"/>
              </a:rPr>
              <a:t> </a:t>
            </a:r>
            <a:r>
              <a:rPr lang="en-US" err="1">
                <a:solidFill>
                  <a:srgbClr val="373A3C"/>
                </a:solidFill>
                <a:latin typeface="Times New Roman"/>
                <a:ea typeface="+mn-lt"/>
                <a:cs typeface="+mn-lt"/>
              </a:rPr>
              <a:t>thông</a:t>
            </a:r>
            <a:r>
              <a:rPr lang="en-US">
                <a:solidFill>
                  <a:srgbClr val="373A3C"/>
                </a:solidFill>
                <a:latin typeface="Times New Roman"/>
                <a:ea typeface="+mn-lt"/>
                <a:cs typeface="+mn-lt"/>
              </a:rPr>
              <a:t> tin (Retrieval-Augmented Generation) </a:t>
            </a:r>
            <a:r>
              <a:rPr lang="en-US" err="1">
                <a:solidFill>
                  <a:srgbClr val="373A3C"/>
                </a:solidFill>
                <a:latin typeface="Times New Roman"/>
                <a:ea typeface="+mn-lt"/>
                <a:cs typeface="+mn-lt"/>
              </a:rPr>
              <a:t>để</a:t>
            </a:r>
            <a:r>
              <a:rPr lang="en-US">
                <a:solidFill>
                  <a:srgbClr val="373A3C"/>
                </a:solidFill>
                <a:latin typeface="Times New Roman"/>
                <a:ea typeface="+mn-lt"/>
                <a:cs typeface="+mn-lt"/>
              </a:rPr>
              <a:t> </a:t>
            </a:r>
            <a:r>
              <a:rPr lang="en-US" err="1">
                <a:solidFill>
                  <a:srgbClr val="373A3C"/>
                </a:solidFill>
                <a:latin typeface="Times New Roman"/>
                <a:ea typeface="+mn-lt"/>
                <a:cs typeface="+mn-lt"/>
              </a:rPr>
              <a:t>giảm</a:t>
            </a:r>
            <a:r>
              <a:rPr lang="en-US">
                <a:solidFill>
                  <a:srgbClr val="373A3C"/>
                </a:solidFill>
                <a:latin typeface="Times New Roman"/>
                <a:ea typeface="+mn-lt"/>
                <a:cs typeface="+mn-lt"/>
              </a:rPr>
              <a:t> </a:t>
            </a:r>
            <a:r>
              <a:rPr lang="en-US" err="1">
                <a:solidFill>
                  <a:srgbClr val="373A3C"/>
                </a:solidFill>
                <a:latin typeface="Times New Roman"/>
                <a:ea typeface="+mn-lt"/>
                <a:cs typeface="+mn-lt"/>
              </a:rPr>
              <a:t>thiểu</a:t>
            </a:r>
            <a:r>
              <a:rPr lang="en-US">
                <a:solidFill>
                  <a:srgbClr val="373A3C"/>
                </a:solidFill>
                <a:latin typeface="Times New Roman"/>
                <a:ea typeface="+mn-lt"/>
                <a:cs typeface="+mn-lt"/>
              </a:rPr>
              <a:t> </a:t>
            </a:r>
            <a:r>
              <a:rPr lang="en-US" err="1">
                <a:solidFill>
                  <a:srgbClr val="373A3C"/>
                </a:solidFill>
                <a:latin typeface="Times New Roman"/>
                <a:ea typeface="+mn-lt"/>
                <a:cs typeface="+mn-lt"/>
              </a:rPr>
              <a:t>ảo</a:t>
            </a:r>
            <a:r>
              <a:rPr lang="en-US">
                <a:solidFill>
                  <a:srgbClr val="373A3C"/>
                </a:solidFill>
                <a:latin typeface="Times New Roman"/>
                <a:ea typeface="+mn-lt"/>
                <a:cs typeface="+mn-lt"/>
              </a:rPr>
              <a:t> </a:t>
            </a:r>
            <a:r>
              <a:rPr lang="en-US" err="1">
                <a:solidFill>
                  <a:srgbClr val="373A3C"/>
                </a:solidFill>
                <a:latin typeface="Times New Roman"/>
                <a:ea typeface="+mn-lt"/>
                <a:cs typeface="+mn-lt"/>
              </a:rPr>
              <a:t>giác</a:t>
            </a:r>
            <a:r>
              <a:rPr lang="en-US">
                <a:solidFill>
                  <a:srgbClr val="373A3C"/>
                </a:solidFill>
                <a:latin typeface="Times New Roman"/>
                <a:ea typeface="+mn-lt"/>
                <a:cs typeface="+mn-lt"/>
              </a:rPr>
              <a:t> (hallucination) </a:t>
            </a:r>
            <a:r>
              <a:rPr lang="en-US" err="1">
                <a:solidFill>
                  <a:srgbClr val="373A3C"/>
                </a:solidFill>
                <a:latin typeface="Times New Roman"/>
                <a:ea typeface="+mn-lt"/>
                <a:cs typeface="+mn-lt"/>
              </a:rPr>
              <a:t>trong</a:t>
            </a:r>
            <a:r>
              <a:rPr lang="en-US">
                <a:solidFill>
                  <a:srgbClr val="373A3C"/>
                </a:solidFill>
                <a:latin typeface="Times New Roman"/>
                <a:ea typeface="+mn-lt"/>
                <a:cs typeface="+mn-lt"/>
              </a:rPr>
              <a:t> </a:t>
            </a:r>
            <a:r>
              <a:rPr lang="en-US" err="1">
                <a:solidFill>
                  <a:srgbClr val="373A3C"/>
                </a:solidFill>
                <a:latin typeface="Times New Roman"/>
                <a:ea typeface="+mn-lt"/>
                <a:cs typeface="+mn-lt"/>
              </a:rPr>
              <a:t>bài</a:t>
            </a:r>
            <a:r>
              <a:rPr lang="en-US">
                <a:solidFill>
                  <a:srgbClr val="373A3C"/>
                </a:solidFill>
                <a:latin typeface="Times New Roman"/>
                <a:ea typeface="+mn-lt"/>
                <a:cs typeface="+mn-lt"/>
              </a:rPr>
              <a:t> </a:t>
            </a:r>
            <a:r>
              <a:rPr lang="en-US" err="1">
                <a:solidFill>
                  <a:srgbClr val="373A3C"/>
                </a:solidFill>
                <a:latin typeface="Times New Roman"/>
                <a:ea typeface="+mn-lt"/>
                <a:cs typeface="+mn-lt"/>
              </a:rPr>
              <a:t>toán</a:t>
            </a:r>
            <a:r>
              <a:rPr lang="en-US">
                <a:solidFill>
                  <a:srgbClr val="373A3C"/>
                </a:solidFill>
                <a:latin typeface="Times New Roman"/>
                <a:ea typeface="+mn-lt"/>
                <a:cs typeface="+mn-lt"/>
              </a:rPr>
              <a:t> </a:t>
            </a:r>
            <a:r>
              <a:rPr lang="en-US" err="1">
                <a:solidFill>
                  <a:srgbClr val="373A3C"/>
                </a:solidFill>
                <a:latin typeface="Times New Roman"/>
                <a:ea typeface="+mn-lt"/>
                <a:cs typeface="+mn-lt"/>
              </a:rPr>
              <a:t>Hỏi-Đáp</a:t>
            </a:r>
            <a:r>
              <a:rPr lang="en-US">
                <a:solidFill>
                  <a:srgbClr val="373A3C"/>
                </a:solidFill>
                <a:latin typeface="Times New Roman"/>
                <a:ea typeface="+mn-lt"/>
                <a:cs typeface="+mn-lt"/>
              </a:rPr>
              <a:t>.</a:t>
            </a:r>
            <a:endParaRPr lang="en-US">
              <a:latin typeface="Times New Roman"/>
              <a:ea typeface="+mn-lt"/>
              <a:cs typeface="+mn-lt"/>
            </a:endParaRPr>
          </a:p>
          <a:p>
            <a:pPr>
              <a:buFont typeface="Arial"/>
              <a:buChar char="•"/>
            </a:pPr>
            <a:endParaRPr lang="en-US" sz="2400" b="1">
              <a:solidFill>
                <a:srgbClr val="373A3C"/>
              </a:solidFill>
              <a:latin typeface="Times New Roman"/>
              <a:ea typeface="+mn-lt"/>
              <a:cs typeface="+mn-lt"/>
            </a:endParaRPr>
          </a:p>
        </p:txBody>
      </p:sp>
    </p:spTree>
    <p:extLst>
      <p:ext uri="{BB962C8B-B14F-4D97-AF65-F5344CB8AC3E}">
        <p14:creationId xmlns:p14="http://schemas.microsoft.com/office/powerpoint/2010/main" val="3229065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ctr" anchorCtr="0"/>
          <a:lstStyle/>
          <a:p>
            <a:pPr marL="0" indent="0" algn="ctr">
              <a:buNone/>
            </a:pPr>
            <a:r>
              <a:rPr lang="en-US" sz="6000">
                <a:solidFill>
                  <a:schemeClr val="tx1"/>
                </a:solidFill>
                <a:effectLst>
                  <a:outerShdw blurRad="38100" dist="19050" dir="2700000" algn="tl" rotWithShape="0">
                    <a:schemeClr val="dk1">
                      <a:alpha val="40000"/>
                    </a:schemeClr>
                  </a:outerShdw>
                </a:effectLst>
              </a:rPr>
              <a:t>THANKS FOR LISTENING!</a:t>
            </a:r>
          </a:p>
        </p:txBody>
      </p:sp>
      <p:pic>
        <p:nvPicPr>
          <p:cNvPr id="100" name="Picture 99"/>
          <p:cNvPicPr/>
          <p:nvPr/>
        </p:nvPicPr>
        <p:blipFill>
          <a:blip r:embed="rId2"/>
          <a:stretch>
            <a:fillRect/>
          </a:stretch>
        </p:blipFill>
        <p:spPr>
          <a:xfrm>
            <a:off x="7622540" y="88900"/>
            <a:ext cx="1440180" cy="935355"/>
          </a:xfrm>
          <a:prstGeom prst="rect">
            <a:avLst/>
          </a:prstGeom>
          <a:noFill/>
          <a:ln w="9525">
            <a:noFill/>
          </a:ln>
        </p:spPr>
      </p:pic>
      <p:sp>
        <p:nvSpPr>
          <p:cNvPr id="6" name="Rectangles 5"/>
          <p:cNvSpPr/>
          <p:nvPr/>
        </p:nvSpPr>
        <p:spPr>
          <a:xfrm>
            <a:off x="0" y="133921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4" name="Rectangles 3"/>
          <p:cNvSpPr/>
          <p:nvPr/>
        </p:nvSpPr>
        <p:spPr>
          <a:xfrm>
            <a:off x="0" y="6687185"/>
            <a:ext cx="9144000" cy="170815"/>
          </a:xfrm>
          <a:prstGeom prst="rect">
            <a:avLst/>
          </a:prstGeom>
          <a:solidFill>
            <a:schemeClr val="accent6">
              <a:lumMod val="60000"/>
              <a:lumOff val="40000"/>
            </a:schemeClr>
          </a:solidFill>
        </p:spPr>
        <p:style>
          <a:lnRef idx="2">
            <a:prstClr val="black"/>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TotalTime>
  <Words>3969</Words>
  <Application>Microsoft Office PowerPoint</Application>
  <PresentationFormat>On-screen Show (4:3)</PresentationFormat>
  <Paragraphs>314</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Calibri Light</vt:lpstr>
      <vt:lpstr>Consolas</vt:lpstr>
      <vt:lpstr>Courier New</vt:lpstr>
      <vt:lpstr>Times New Roman</vt:lpstr>
      <vt:lpstr>Office Theme</vt:lpstr>
      <vt:lpstr>BÁO CÁO  CUỐI KÌ</vt:lpstr>
      <vt:lpstr>Thành viên nhóm</vt:lpstr>
      <vt:lpstr>Giới thiệu nội dung</vt:lpstr>
      <vt:lpstr>Tổng quan về mô hình Transformer</vt:lpstr>
      <vt:lpstr>Giới thiệu mô hình Transformer</vt:lpstr>
      <vt:lpstr>Encoder-only</vt:lpstr>
      <vt:lpstr>Lý thuyết Kiến trúc Encoder-only</vt:lpstr>
      <vt:lpstr>Bài toán &amp; Xây dựng Dữ liệu</vt:lpstr>
      <vt:lpstr>Bài toán &amp; Xây dựng Dữ liệu</vt:lpstr>
      <vt:lpstr>Thiết lập huấn luyện</vt:lpstr>
      <vt:lpstr>Thiết lập huấn luyện</vt:lpstr>
      <vt:lpstr>Kết quả và phần đánh giá</vt:lpstr>
      <vt:lpstr>Kết quả và phần đánh giá</vt:lpstr>
      <vt:lpstr>Phân tích Nguyên nhân (Deep Dive: Distribution Shift)</vt:lpstr>
      <vt:lpstr>Phân tích Chi tiết Lỗi (Error Analysis)</vt:lpstr>
      <vt:lpstr>Điểm sáng &amp; Đánh giá Định tính (Qualitative Analysis)</vt:lpstr>
      <vt:lpstr>Điểm sáng &amp; Đánh giá Định tính (Qualitative Analysis)</vt:lpstr>
      <vt:lpstr>Kết luận</vt:lpstr>
      <vt:lpstr>Decoder-only</vt:lpstr>
      <vt:lpstr>Tổng quan về Decoder-only</vt:lpstr>
      <vt:lpstr>Bài toán</vt:lpstr>
      <vt:lpstr>Dữ liệu</vt:lpstr>
      <vt:lpstr>Dữ liệu LLM</vt:lpstr>
      <vt:lpstr>Dữ liệu</vt:lpstr>
      <vt:lpstr>Thiết lập huấn luyện</vt:lpstr>
      <vt:lpstr>Cấu hình tham số huấn luyện</vt:lpstr>
      <vt:lpstr>Kết quả và đánh giá</vt:lpstr>
      <vt:lpstr>Kết quả</vt:lpstr>
      <vt:lpstr>Kết quả</vt:lpstr>
      <vt:lpstr>Đánh giá bằng LLM</vt:lpstr>
      <vt:lpstr>Đánh giá bằng LLM</vt:lpstr>
      <vt:lpstr>Đánh giá bằng LLM</vt:lpstr>
      <vt:lpstr>Encoder-Decoder</vt:lpstr>
      <vt:lpstr>Tổng quan về Encoder-Decoder</vt:lpstr>
      <vt:lpstr>Dữ liệu Huấn luyện Gốc (Original Data)</vt:lpstr>
      <vt:lpstr>Cấu trúc tập train</vt:lpstr>
      <vt:lpstr>Cấu trúc tập train</vt:lpstr>
      <vt:lpstr>Chiến lược tạo Dữ liệu Nhân tạo (Synthetic Data)</vt:lpstr>
      <vt:lpstr>Phương pháp Huấn luyện (Training Strategy)</vt:lpstr>
      <vt:lpstr>Kết quả Định lượng (Metric Evaluation)</vt:lpstr>
      <vt:lpstr>Kết quả Định lượng (Metric Evaluation)</vt:lpstr>
      <vt:lpstr>Đánh giá bằng LLM (LLM-as-a-Judge)</vt:lpstr>
      <vt:lpstr>Phân tích sâu từ LLM</vt:lpstr>
      <vt:lpstr>Phân tích thực nghiệm và kết luận</vt:lpstr>
      <vt:lpstr>So sánh Hiệu năng 3 Kiến trúc (Tổng quan)</vt:lpstr>
      <vt:lpstr>Kết luận Dự án</vt:lpstr>
      <vt:lpstr>Hướng phát triển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QUÁ TRÌNH 2</dc:title>
  <dc:creator>lehuy</dc:creator>
  <cp:lastModifiedBy>Quý Lê Huỳnh</cp:lastModifiedBy>
  <cp:revision>28</cp:revision>
  <dcterms:created xsi:type="dcterms:W3CDTF">2024-04-22T17:24:00Z</dcterms:created>
  <dcterms:modified xsi:type="dcterms:W3CDTF">2025-11-30T11:43:32Z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AB178972F0C94CA49F5762A6D7760B43_11</vt:lpwstr>
  </property>
  <property fmtid="{D5CDD505-2E9C-101B-9397-08002B2CF9AE}" pid="3" name="KSOProductBuildVer">
    <vt:lpwstr>1033-12.2.0.22549</vt:lpwstr>
  </property>
</Properties>
</file>